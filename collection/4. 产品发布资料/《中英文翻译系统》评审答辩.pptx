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8.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27.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28.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notesMasterIdLst>
    <p:notesMasterId r:id="rId36"/>
  </p:notesMasterIdLst>
  <p:sldIdLst>
    <p:sldId id="256" r:id="rId3"/>
    <p:sldId id="258" r:id="rId4"/>
    <p:sldId id="259" r:id="rId5"/>
    <p:sldId id="411" r:id="rId6"/>
    <p:sldId id="327" r:id="rId7"/>
    <p:sldId id="329" r:id="rId8"/>
    <p:sldId id="260" r:id="rId9"/>
    <p:sldId id="281" r:id="rId10"/>
    <p:sldId id="404" r:id="rId11"/>
    <p:sldId id="406" r:id="rId12"/>
    <p:sldId id="407" r:id="rId13"/>
    <p:sldId id="408" r:id="rId14"/>
    <p:sldId id="409" r:id="rId15"/>
    <p:sldId id="410" r:id="rId16"/>
    <p:sldId id="261" r:id="rId17"/>
    <p:sldId id="333" r:id="rId18"/>
    <p:sldId id="334" r:id="rId19"/>
    <p:sldId id="332" r:id="rId20"/>
    <p:sldId id="262" r:id="rId21"/>
    <p:sldId id="330" r:id="rId22"/>
    <p:sldId id="370" r:id="rId23"/>
    <p:sldId id="403" r:id="rId24"/>
    <p:sldId id="331" r:id="rId25"/>
    <p:sldId id="265" r:id="rId26"/>
    <p:sldId id="266" r:id="rId27"/>
    <p:sldId id="267" r:id="rId28"/>
    <p:sldId id="268" r:id="rId29"/>
    <p:sldId id="412" r:id="rId30"/>
    <p:sldId id="272" r:id="rId31"/>
    <p:sldId id="273" r:id="rId32"/>
    <p:sldId id="274" r:id="rId33"/>
    <p:sldId id="405" r:id="rId34"/>
    <p:sldId id="311" r:id="rId35"/>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3" userDrawn="1">
          <p15:clr>
            <a:srgbClr val="A4A3A4"/>
          </p15:clr>
        </p15:guide>
        <p15:guide id="2" pos="381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6CD3"/>
    <a:srgbClr val="A4A4ED"/>
    <a:srgbClr val="F7B75D"/>
    <a:srgbClr val="B9B8F1"/>
    <a:srgbClr val="FFFFFF"/>
    <a:srgbClr val="64F1FA"/>
    <a:srgbClr val="83E1FF"/>
    <a:srgbClr val="FFD9A3"/>
    <a:srgbClr val="98EDB6"/>
    <a:srgbClr val="3470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3" autoAdjust="0"/>
    <p:restoredTop sz="96233" autoAdjust="0"/>
  </p:normalViewPr>
  <p:slideViewPr>
    <p:cSldViewPr snapToGrid="0" showGuides="1">
      <p:cViewPr varScale="1">
        <p:scale>
          <a:sx n="104" d="100"/>
          <a:sy n="104" d="100"/>
        </p:scale>
        <p:origin x="80" y="64"/>
      </p:cViewPr>
      <p:guideLst>
        <p:guide orient="horz" pos="2173"/>
        <p:guide pos="3818"/>
      </p:guideLst>
    </p:cSldViewPr>
  </p:slideViewPr>
  <p:notesTextViewPr>
    <p:cViewPr>
      <p:scale>
        <a:sx n="3" d="2"/>
        <a:sy n="3" d="2"/>
      </p:scale>
      <p:origin x="0" y="-28"/>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Normal" panose="020B0400000000000000" charset="-122"/>
                <a:ea typeface="思源黑体 Normal" panose="020B0400000000000000" charset="-122"/>
                <a:cs typeface="思源黑体 Normal" panose="020B04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Normal" panose="020B0400000000000000" charset="-122"/>
                <a:ea typeface="思源黑体 Normal" panose="020B0400000000000000" charset="-122"/>
                <a:cs typeface="思源黑体 Normal" panose="020B0400000000000000" charset="-122"/>
              </a:defRPr>
            </a:lvl1pPr>
          </a:lstStyle>
          <a:p>
            <a:fld id="{D2A48B96-639E-45A3-A0BA-2464DFDB1FAA}" type="datetimeFigureOut">
              <a:rPr lang="zh-CN" altLang="en-US"/>
              <a:t>2025/9/18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Normal" panose="020B0400000000000000" charset="-122"/>
                <a:ea typeface="思源黑体 Normal" panose="020B0400000000000000" charset="-122"/>
                <a:cs typeface="思源黑体 Normal" panose="020B04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Normal" panose="020B0400000000000000" charset="-122"/>
                <a:ea typeface="思源黑体 Normal" panose="020B0400000000000000" charset="-122"/>
                <a:cs typeface="思源黑体 Normal" panose="020B0400000000000000" charset="-122"/>
              </a:defRPr>
            </a:lvl1pPr>
          </a:lstStyle>
          <a:p>
            <a:fld id="{A6837353-30EB-4A48-80EB-173D804AEFBD}" type="slidenum">
              <a:r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Normal" panose="020B0400000000000000" charset="-122"/>
        <a:ea typeface="思源黑体 Normal" panose="020B0400000000000000" charset="-122"/>
        <a:cs typeface="思源黑体 Normal" panose="020B0400000000000000" charset="-122"/>
      </a:defRPr>
    </a:lvl1pPr>
    <a:lvl2pPr marL="457200" algn="l" defTabSz="914400" rtl="0" eaLnBrk="1" latinLnBrk="0" hangingPunct="1">
      <a:defRPr sz="1200" kern="1200">
        <a:solidFill>
          <a:schemeClr val="tx1"/>
        </a:solidFill>
        <a:latin typeface="思源黑体 Normal" panose="020B0400000000000000" charset="-122"/>
        <a:ea typeface="思源黑体 Normal" panose="020B0400000000000000" charset="-122"/>
        <a:cs typeface="思源黑体 Normal" panose="020B0400000000000000" charset="-122"/>
      </a:defRPr>
    </a:lvl2pPr>
    <a:lvl3pPr marL="914400" algn="l" defTabSz="914400" rtl="0" eaLnBrk="1" latinLnBrk="0" hangingPunct="1">
      <a:defRPr sz="1200" kern="1200">
        <a:solidFill>
          <a:schemeClr val="tx1"/>
        </a:solidFill>
        <a:latin typeface="思源黑体 Normal" panose="020B0400000000000000" charset="-122"/>
        <a:ea typeface="思源黑体 Normal" panose="020B0400000000000000" charset="-122"/>
        <a:cs typeface="思源黑体 Normal" panose="020B0400000000000000" charset="-122"/>
      </a:defRPr>
    </a:lvl3pPr>
    <a:lvl4pPr marL="1371600" algn="l" defTabSz="914400" rtl="0" eaLnBrk="1" latinLnBrk="0" hangingPunct="1">
      <a:defRPr sz="1200" kern="1200">
        <a:solidFill>
          <a:schemeClr val="tx1"/>
        </a:solidFill>
        <a:latin typeface="思源黑体 Normal" panose="020B0400000000000000" charset="-122"/>
        <a:ea typeface="思源黑体 Normal" panose="020B0400000000000000" charset="-122"/>
        <a:cs typeface="思源黑体 Normal" panose="020B0400000000000000" charset="-122"/>
      </a:defRPr>
    </a:lvl4pPr>
    <a:lvl5pPr marL="1828800" algn="l" defTabSz="914400" rtl="0" eaLnBrk="1" latinLnBrk="0" hangingPunct="1">
      <a:defRPr sz="1200" kern="1200">
        <a:solidFill>
          <a:schemeClr val="tx1"/>
        </a:solidFill>
        <a:latin typeface="思源黑体 Normal" panose="020B0400000000000000" charset="-122"/>
        <a:ea typeface="思源黑体 Normal" panose="020B0400000000000000" charset="-122"/>
        <a:cs typeface="思源黑体 Normal" panose="020B04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mp.weixin.qq.com/s?__biz=MzI2OTE2NTQzMw==&amp;mid=2650789409&amp;idx=1&amp;sn=572ad21d101fc87ac1962edef05f6e28&amp;chksm=f2ef0037c5988921b66c281848a7c57e88fb122c868acb069a769731dd6121c17abd1d1c7999&amp;scene=21#wechat_redirect"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
          <p:cNvSpPr>
            <a:spLocks noGrp="1" noRot="1" noChangeAspect="1"/>
          </p:cNvSpPr>
          <p:nvPr>
            <p:ph type="sldImg" idx="2"/>
          </p:nvPr>
        </p:nvSpPr>
        <p:spPr>
          <a:xfrm>
            <a:off x="685800" y="1143000"/>
            <a:ext cx="5486400" cy="3086100"/>
          </a:xfrm>
        </p:spPr>
        <p:txBody>
          <a:bodyPr/>
          <a:lstStyle/>
          <a:p>
            <a:endParaRPr/>
          </a:p>
        </p:txBody>
      </p:sp>
      <p:sp>
        <p:nvSpPr>
          <p:cNvPr id="18" name="文本占位符 2"/>
          <p:cNvSpPr>
            <a:spLocks noGrp="1"/>
          </p:cNvSpPr>
          <p:nvPr>
            <p:ph type="body" idx="3"/>
          </p:nvPr>
        </p:nvSpPr>
        <p:spPr/>
        <p:txBody>
          <a:bodyPr/>
          <a:lstStyle/>
          <a:p>
            <a:r>
              <a:rPr lang="zh-CN" altLang="en-US" dirty="0"/>
              <a:t>尊敬的各位评委老师，亲爱的同学们，大家上午好！我们 课比天大 小组进行展示汇报的项目是</a:t>
            </a:r>
            <a:r>
              <a:rPr lang="en-US" altLang="zh-CN" dirty="0"/>
              <a:t> —— </a:t>
            </a:r>
            <a:r>
              <a:rPr lang="zh-CN" altLang="en-US" dirty="0"/>
              <a:t>“文悟”，英文名是“</a:t>
            </a:r>
            <a:r>
              <a:rPr lang="en-US" altLang="zh-CN" dirty="0"/>
              <a:t>mind ink</a:t>
            </a:r>
            <a:r>
              <a:rPr lang="zh-CN" altLang="en-US" dirty="0"/>
              <a:t>”，这是一款基于大模型的智慧教学助手。我是本次的答辩人：李威豪。</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我的展示汇报将分为以下 </a:t>
            </a:r>
            <a:r>
              <a:rPr lang="en-US" altLang="zh-CN" dirty="0"/>
              <a:t>8 </a:t>
            </a:r>
            <a:r>
              <a:rPr lang="zh-CN" altLang="en-US" dirty="0"/>
              <a:t>个部分。</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幻灯片图像占位符 1"/>
          <p:cNvSpPr>
            <a:spLocks noGrp="1" noRot="1" noChangeAspect="1"/>
          </p:cNvSpPr>
          <p:nvPr>
            <p:ph type="sldImg"/>
          </p:nvPr>
        </p:nvSpPr>
        <p:spPr/>
        <p:txBody>
          <a:bodyPr/>
          <a:lstStyle/>
          <a:p>
            <a:endParaRPr/>
          </a:p>
        </p:txBody>
      </p:sp>
      <p:sp>
        <p:nvSpPr>
          <p:cNvPr id="24" name="备注占位符 2"/>
          <p:cNvSpPr>
            <a:spLocks noGrp="1"/>
          </p:cNvSpPr>
          <p:nvPr>
            <p:ph type="body" idx="1"/>
          </p:nvPr>
        </p:nvSpPr>
        <p:spPr/>
        <p:txBody>
          <a:bodyPr/>
          <a:lstStyle/>
          <a:p>
            <a:pPr marL="0" indent="0" algn="l" defTabSz="914400">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首先是项目背景。</a:t>
            </a:r>
            <a:endParaRPr lang="en-US" sz="1200" dirty="0">
              <a:latin typeface="微软雅黑" panose="020B0503020204020204" pitchFamily="34" charset="-122"/>
              <a:ea typeface="微软雅黑" panose="020B0503020204020204" pitchFamily="34" charset="-122"/>
            </a:endParaRPr>
          </a:p>
        </p:txBody>
      </p:sp>
      <p:sp>
        <p:nvSpPr>
          <p:cNvPr id="25" name="灯片编号占位符 3"/>
          <p:cNvSpPr>
            <a:spLocks noGrp="1"/>
          </p:cNvSpPr>
          <p:nvPr>
            <p:ph type="sldNum" sz="quarter" idx="10"/>
          </p:nvPr>
        </p:nvSpPr>
        <p:spPr/>
        <p:txBody>
          <a:bodyPr/>
          <a:lstStyle/>
          <a:p>
            <a:fld id="{A6837353-30EB-4A48-80EB-173D804AEFBD}" type="slidenum">
              <a:r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我们正处于一个前所未有的全球化时代。从企业出海到外资引入，再到个人之间的跨文化交流与合作，语言服务的需求正在迅速扩大。</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数据显示，</a:t>
            </a:r>
            <a:r>
              <a:rPr lang="en-US" altLang="zh-CN" dirty="0"/>
              <a:t>2022</a:t>
            </a:r>
            <a:r>
              <a:rPr lang="zh-CN" altLang="en-US" dirty="0"/>
              <a:t>年全球语言服务市场规模已突破</a:t>
            </a:r>
            <a:r>
              <a:rPr lang="en-US" altLang="zh-CN" dirty="0"/>
              <a:t>500</a:t>
            </a:r>
            <a:r>
              <a:rPr lang="zh-CN" altLang="en-US" dirty="0"/>
              <a:t>亿美元，其中翻译软件及相关技术服务占比超过</a:t>
            </a:r>
            <a:r>
              <a:rPr lang="en-US" altLang="zh-CN" dirty="0"/>
              <a:t>40%</a:t>
            </a:r>
            <a:r>
              <a:rPr lang="zh-CN" altLang="en-US" dirty="0"/>
              <a:t>。预计未来几年，市场规模将进一步深化，有望突破</a:t>
            </a:r>
            <a:r>
              <a:rPr lang="en-US" altLang="zh-CN" dirty="0"/>
              <a:t>1000</a:t>
            </a:r>
            <a:r>
              <a:rPr lang="zh-CN" altLang="en-US" dirty="0"/>
              <a:t>亿美元大关。这一趋势清晰地表明，翻译技术赛道具有巨大的发展潜力和商业价值。</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在这一背景下，</a:t>
            </a:r>
            <a:r>
              <a:rPr lang="zh-CN" altLang="en-US" b="0" i="0" dirty="0">
                <a:solidFill>
                  <a:srgbClr val="2C2C36"/>
                </a:solidFill>
                <a:effectLst/>
                <a:latin typeface="-apple-system"/>
              </a:rPr>
              <a:t>目前市面上已经有很多翻译平台提供翻译服务，但是各有一些局限性，如用户只能接受单一翻译结果，无法权衡速度与质量；有些平台会因过度意译，导致结果偏离原文意思；输入的模态受限，无法兼顾方便的文本、图片、文件输入模态。据此，我们的目标是开发一款更全面、更满足用户需求的翻译平台，它不仅能够解决现有产品的不足之处，还能够针对用户需求定制个性化选择，就这样，我们的“文枢”翻译平台诞生了！</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en-US" altLang="zh-CN"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幻灯片图像占位符 1"/>
          <p:cNvSpPr>
            <a:spLocks noGrp="1" noRot="1" noChangeAspect="1"/>
          </p:cNvSpPr>
          <p:nvPr>
            <p:ph type="sldImg"/>
          </p:nvPr>
        </p:nvSpPr>
        <p:spPr/>
        <p:txBody>
          <a:bodyPr/>
          <a:lstStyle/>
          <a:p>
            <a:endParaRPr/>
          </a:p>
        </p:txBody>
      </p:sp>
      <p:sp>
        <p:nvSpPr>
          <p:cNvPr id="28" name="备注占位符 2"/>
          <p:cNvSpPr>
            <a:spLocks noGrp="1"/>
          </p:cNvSpPr>
          <p:nvPr>
            <p:ph type="body" idx="1"/>
          </p:nvPr>
        </p:nvSpPr>
        <p:spPr/>
        <p:txBody>
          <a:bodyPr/>
          <a:lstStyle/>
          <a:p>
            <a:pPr marL="0" indent="0" algn="l" defTabSz="914400">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接下来是</a:t>
            </a:r>
            <a:r>
              <a:rPr lang="zh-CN" altLang="en-US" sz="1200">
                <a:latin typeface="微软雅黑" panose="020B0503020204020204" pitchFamily="34" charset="-122"/>
                <a:ea typeface="微软雅黑" panose="020B0503020204020204" pitchFamily="34" charset="-122"/>
              </a:rPr>
              <a:t>我们“文枢杻”</a:t>
            </a:r>
            <a:r>
              <a:rPr lang="zh-CN" altLang="en-US" sz="1200" dirty="0">
                <a:latin typeface="微软雅黑" panose="020B0503020204020204" pitchFamily="34" charset="-122"/>
                <a:ea typeface="微软雅黑" panose="020B0503020204020204" pitchFamily="34" charset="-122"/>
              </a:rPr>
              <a:t>项目的介绍。</a:t>
            </a:r>
            <a:endParaRPr lang="en-US" sz="1200" dirty="0">
              <a:latin typeface="微软雅黑" panose="020B0503020204020204" pitchFamily="34" charset="-122"/>
              <a:ea typeface="微软雅黑" panose="020B0503020204020204" pitchFamily="34" charset="-122"/>
            </a:endParaRPr>
          </a:p>
        </p:txBody>
      </p:sp>
      <p:sp>
        <p:nvSpPr>
          <p:cNvPr id="29" name="灯片编号占位符 3"/>
          <p:cNvSpPr>
            <a:spLocks noGrp="1"/>
          </p:cNvSpPr>
          <p:nvPr>
            <p:ph type="sldNum" sz="quarter" idx="10"/>
          </p:nvPr>
        </p:nvSpPr>
        <p:spPr/>
        <p:txBody>
          <a:bodyPr/>
          <a:lstStyle/>
          <a:p>
            <a:fld id="{A6837353-30EB-4A48-80EB-173D804AEFBD}" type="slidenum">
              <a:r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a:t>
            </a:r>
            <a:r>
              <a:rPr lang="zh-CN" altLang="en-US" dirty="0"/>
              <a:t>文枢</a:t>
            </a:r>
            <a:r>
              <a:rPr lang="en-US" altLang="zh-CN" dirty="0"/>
              <a:t>”</a:t>
            </a:r>
            <a:r>
              <a:rPr lang="zh-CN" altLang="en-US" dirty="0"/>
              <a:t>翻译平台主要有以下六大功能：</a:t>
            </a:r>
            <a:r>
              <a:rPr lang="zh-CN" altLang="en-US" b="1" dirty="0"/>
              <a:t>多模态输入翻译、模型自主选用、单句圈中、</a:t>
            </a:r>
            <a:r>
              <a:rPr lang="zh-CN" altLang="en-US" b="1"/>
              <a:t>历史记录查看、</a:t>
            </a:r>
            <a:endParaRPr lang="zh-CN" altLang="en-US" sz="1200" b="1" dirty="0">
              <a:solidFill>
                <a:schemeClr val="tx1">
                  <a:lumMod val="75000"/>
                  <a:lumOff val="2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endParaRPr>
          </a:p>
        </p:txBody>
      </p:sp>
      <p:sp>
        <p:nvSpPr>
          <p:cNvPr id="4" name="灯片编号占位符 3"/>
          <p:cNvSpPr>
            <a:spLocks noGrp="1"/>
          </p:cNvSpPr>
          <p:nvPr>
            <p:ph type="sldNum" sz="quarter" idx="5"/>
          </p:nvPr>
        </p:nvSpPr>
        <p:spPr/>
        <p:txBody>
          <a:bodyPr/>
          <a:lstStyle/>
          <a:p>
            <a:fld id="{A6837353-30EB-4A48-80EB-173D804AEFBD}" type="slidenum">
              <a:rPr lang="en-US" altLang="zh-CN"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lumMod val="75000"/>
                    <a:lumOff val="2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用户自定义设置和翻译结果反馈功能</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智慧问答版块中，教师提出自己的疑惑，我们“文悟”背后的 </a:t>
            </a:r>
            <a:r>
              <a:rPr lang="en-US" altLang="zh-CN" dirty="0" err="1"/>
              <a:t>qwen</a:t>
            </a:r>
            <a:r>
              <a:rPr lang="en-US" altLang="zh-CN" dirty="0"/>
              <a:t>-max </a:t>
            </a:r>
            <a:r>
              <a:rPr lang="zh-CN" altLang="en-US" dirty="0"/>
              <a:t>大模型来答疑解惑，这里除了传统的文本问答，还支持获取某个城市的天气数据、执行</a:t>
            </a:r>
            <a:r>
              <a:rPr lang="en-US" altLang="zh-CN" dirty="0"/>
              <a:t>Python</a:t>
            </a:r>
            <a:r>
              <a:rPr lang="zh-CN" altLang="en-US" dirty="0"/>
              <a:t>代码、存储和读取数据 甚至 </a:t>
            </a:r>
            <a:r>
              <a:rPr lang="en-US" altLang="zh-CN" dirty="0"/>
              <a:t>AI</a:t>
            </a:r>
            <a:r>
              <a:rPr lang="zh-CN" altLang="en-US" dirty="0"/>
              <a:t>绘画等服务，这源于其背后定义了很多</a:t>
            </a:r>
            <a:r>
              <a:rPr lang="en-US" altLang="zh-CN" dirty="0"/>
              <a:t>Agent</a:t>
            </a:r>
            <a:r>
              <a:rPr lang="zh-CN" altLang="en-US" dirty="0"/>
              <a:t>工具库。</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智慧问答版块中，教师提出自己的疑惑，我们“文悟”背后的 </a:t>
            </a:r>
            <a:r>
              <a:rPr lang="en-US" altLang="zh-CN" dirty="0" err="1"/>
              <a:t>qwen</a:t>
            </a:r>
            <a:r>
              <a:rPr lang="en-US" altLang="zh-CN" dirty="0"/>
              <a:t>-max </a:t>
            </a:r>
            <a:r>
              <a:rPr lang="zh-CN" altLang="en-US" dirty="0"/>
              <a:t>大模型来答疑解惑，这里除了传统的文本问答，还支持获取某个城市的天气数据、执行</a:t>
            </a:r>
            <a:r>
              <a:rPr lang="en-US" altLang="zh-CN" dirty="0"/>
              <a:t>Python</a:t>
            </a:r>
            <a:r>
              <a:rPr lang="zh-CN" altLang="en-US" dirty="0"/>
              <a:t>代码、存储和读取数据 甚至 </a:t>
            </a:r>
            <a:r>
              <a:rPr lang="en-US" altLang="zh-CN" dirty="0"/>
              <a:t>AI</a:t>
            </a:r>
            <a:r>
              <a:rPr lang="zh-CN" altLang="en-US" dirty="0"/>
              <a:t>绘画等服务，这源于其背后定义了很多</a:t>
            </a:r>
            <a:r>
              <a:rPr lang="en-US" altLang="zh-CN" dirty="0"/>
              <a:t>Agent</a:t>
            </a:r>
            <a:r>
              <a:rPr lang="zh-CN" altLang="en-US" dirty="0"/>
              <a:t>工具库。</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智慧问答版块中，教师提出自己的疑惑，我们“文悟”背后的 </a:t>
            </a:r>
            <a:r>
              <a:rPr lang="en-US" altLang="zh-CN" dirty="0" err="1"/>
              <a:t>qwen</a:t>
            </a:r>
            <a:r>
              <a:rPr lang="en-US" altLang="zh-CN" dirty="0"/>
              <a:t>-max </a:t>
            </a:r>
            <a:r>
              <a:rPr lang="zh-CN" altLang="en-US" dirty="0"/>
              <a:t>大模型来答疑解惑，这里除了传统的文本问答，还支持获取某个城市的天气数据、执行</a:t>
            </a:r>
            <a:r>
              <a:rPr lang="en-US" altLang="zh-CN" dirty="0"/>
              <a:t>Python</a:t>
            </a:r>
            <a:r>
              <a:rPr lang="zh-CN" altLang="en-US" dirty="0"/>
              <a:t>代码、存储和读取数据 甚至 </a:t>
            </a:r>
            <a:r>
              <a:rPr lang="en-US" altLang="zh-CN" dirty="0"/>
              <a:t>AI</a:t>
            </a:r>
            <a:r>
              <a:rPr lang="zh-CN" altLang="en-US" dirty="0"/>
              <a:t>绘画等服务，这源于其背后定义了很多</a:t>
            </a:r>
            <a:r>
              <a:rPr lang="en-US" altLang="zh-CN" dirty="0"/>
              <a:t>Agent</a:t>
            </a:r>
            <a:r>
              <a:rPr lang="zh-CN" altLang="en-US" dirty="0"/>
              <a:t>工具库。</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智慧问答版块中，教师提出自己的疑惑，我们“文悟”背后的 </a:t>
            </a:r>
            <a:r>
              <a:rPr lang="en-US" altLang="zh-CN" dirty="0" err="1"/>
              <a:t>qwen</a:t>
            </a:r>
            <a:r>
              <a:rPr lang="en-US" altLang="zh-CN" dirty="0"/>
              <a:t>-max </a:t>
            </a:r>
            <a:r>
              <a:rPr lang="zh-CN" altLang="en-US" dirty="0"/>
              <a:t>大模型来答疑解惑，这里除了传统的文本问答，还支持获取某个城市的天气数据、执行</a:t>
            </a:r>
            <a:r>
              <a:rPr lang="en-US" altLang="zh-CN" dirty="0"/>
              <a:t>Python</a:t>
            </a:r>
            <a:r>
              <a:rPr lang="zh-CN" altLang="en-US" dirty="0"/>
              <a:t>代码、存储和读取数据 甚至 </a:t>
            </a:r>
            <a:r>
              <a:rPr lang="en-US" altLang="zh-CN" dirty="0"/>
              <a:t>AI</a:t>
            </a:r>
            <a:r>
              <a:rPr lang="zh-CN" altLang="en-US" dirty="0"/>
              <a:t>绘画等服务，这源于其背后定义了很多</a:t>
            </a:r>
            <a:r>
              <a:rPr lang="en-US" altLang="zh-CN" dirty="0"/>
              <a:t>Agent</a:t>
            </a:r>
            <a:r>
              <a:rPr lang="zh-CN" altLang="en-US" dirty="0"/>
              <a:t>工具库。</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智慧问答版块中，教师提出自己的疑惑，我们“文悟”背后的 </a:t>
            </a:r>
            <a:r>
              <a:rPr lang="en-US" altLang="zh-CN" dirty="0" err="1"/>
              <a:t>qwen</a:t>
            </a:r>
            <a:r>
              <a:rPr lang="en-US" altLang="zh-CN" dirty="0"/>
              <a:t>-max </a:t>
            </a:r>
            <a:r>
              <a:rPr lang="zh-CN" altLang="en-US" dirty="0"/>
              <a:t>大模型来答疑解惑，这里除了传统的文本问答，还支持获取某个城市的天气数据、执行</a:t>
            </a:r>
            <a:r>
              <a:rPr lang="en-US" altLang="zh-CN" dirty="0"/>
              <a:t>Python</a:t>
            </a:r>
            <a:r>
              <a:rPr lang="zh-CN" altLang="en-US" dirty="0"/>
              <a:t>代码、存储和读取数据 甚至 </a:t>
            </a:r>
            <a:r>
              <a:rPr lang="en-US" altLang="zh-CN" dirty="0"/>
              <a:t>AI</a:t>
            </a:r>
            <a:r>
              <a:rPr lang="zh-CN" altLang="en-US" dirty="0"/>
              <a:t>绘画等服务，这源于其背后定义了很多</a:t>
            </a:r>
            <a:r>
              <a:rPr lang="en-US" altLang="zh-CN" dirty="0"/>
              <a:t>Agent</a:t>
            </a:r>
            <a:r>
              <a:rPr lang="zh-CN" altLang="en-US" dirty="0"/>
              <a:t>工具库。</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幻灯片图像占位符 1"/>
          <p:cNvSpPr>
            <a:spLocks noGrp="1" noRot="1" noChangeAspect="1"/>
          </p:cNvSpPr>
          <p:nvPr>
            <p:ph type="sldImg"/>
          </p:nvPr>
        </p:nvSpPr>
        <p:spPr/>
        <p:txBody>
          <a:bodyPr/>
          <a:lstStyle/>
          <a:p>
            <a:endParaRPr/>
          </a:p>
        </p:txBody>
      </p:sp>
      <p:sp>
        <p:nvSpPr>
          <p:cNvPr id="32" name="备注占位符 2"/>
          <p:cNvSpPr>
            <a:spLocks noGrp="1"/>
          </p:cNvSpPr>
          <p:nvPr>
            <p:ph type="body" idx="1"/>
          </p:nvPr>
        </p:nvSpPr>
        <p:spPr/>
        <p:txBody>
          <a:bodyPr/>
          <a:lstStyle/>
          <a:p>
            <a:pPr marL="0" indent="0" algn="l" defTabSz="914400">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接下来是我们“文悟”的核心技术，这里主要点出了 刚刚的几个功能板块背后 较大的技术点。</a:t>
            </a:r>
            <a:endParaRPr lang="en-US" sz="1200" dirty="0">
              <a:latin typeface="微软雅黑" panose="020B0503020204020204" pitchFamily="34" charset="-122"/>
              <a:ea typeface="微软雅黑" panose="020B0503020204020204" pitchFamily="34" charset="-122"/>
            </a:endParaRPr>
          </a:p>
          <a:p>
            <a:endParaRPr lang="zh-CN" dirty="0"/>
          </a:p>
        </p:txBody>
      </p:sp>
      <p:sp>
        <p:nvSpPr>
          <p:cNvPr id="33" name="灯片编号占位符 3"/>
          <p:cNvSpPr>
            <a:spLocks noGrp="1"/>
          </p:cNvSpPr>
          <p:nvPr>
            <p:ph type="sldNum" sz="quarter" idx="10"/>
          </p:nvPr>
        </p:nvSpPr>
        <p:spPr/>
        <p:txBody>
          <a:bodyPr/>
          <a:lstStyle/>
          <a:p>
            <a:fld id="{A6837353-30EB-4A48-80EB-173D804AEFBD}" type="slidenum">
              <a:rPr/>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我们的技术核心是根据</a:t>
            </a:r>
            <a:r>
              <a:rPr lang="en-US" altLang="zh-CN" dirty="0"/>
              <a:t>transformer</a:t>
            </a:r>
            <a:r>
              <a:rPr lang="zh-CN" altLang="en-US" dirty="0"/>
              <a:t>架构自主训练的翻译模型。</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en-US" altLang="zh-CN"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然后介绍我们的</a:t>
            </a:r>
            <a:r>
              <a:rPr lang="en-US" altLang="zh-CN" dirty="0"/>
              <a:t>Agent</a:t>
            </a:r>
            <a:r>
              <a:rPr lang="zh-CN" altLang="en-US" dirty="0"/>
              <a:t>技术。从</a:t>
            </a:r>
            <a:r>
              <a:rPr lang="en-US" altLang="zh-CN" dirty="0"/>
              <a:t>22</a:t>
            </a:r>
            <a:r>
              <a:rPr lang="zh-CN" altLang="en-US" dirty="0"/>
              <a:t>年底开始，</a:t>
            </a:r>
            <a:r>
              <a:rPr lang="en-US" altLang="zh-CN" dirty="0"/>
              <a:t>ChatGPT</a:t>
            </a:r>
            <a:r>
              <a:rPr lang="zh-CN" altLang="en-US" dirty="0"/>
              <a:t>等一系列</a:t>
            </a:r>
            <a:r>
              <a:rPr lang="zh-CN" altLang="en-US" sz="1200" dirty="0">
                <a:solidFill>
                  <a:schemeClr val="bg1"/>
                </a:solidFill>
                <a:latin typeface="宋体" panose="02010600030101010101" pitchFamily="2" charset="-122"/>
                <a:ea typeface="宋体" panose="02010600030101010101" pitchFamily="2" charset="-122"/>
                <a:cs typeface="宋体" panose="02010600030101010101" pitchFamily="2" charset="-122"/>
                <a:sym typeface="Arial" panose="020B0604020202020204"/>
              </a:rPr>
              <a:t>网页交互式问答应用火遍全球；之后随着</a:t>
            </a:r>
            <a:r>
              <a:rPr lang="en-US" altLang="zh-CN" sz="1200" dirty="0">
                <a:solidFill>
                  <a:schemeClr val="bg1"/>
                </a:solidFill>
                <a:latin typeface="宋体" panose="02010600030101010101" pitchFamily="2" charset="-122"/>
                <a:ea typeface="宋体" panose="02010600030101010101" pitchFamily="2" charset="-122"/>
                <a:cs typeface="宋体" panose="02010600030101010101" pitchFamily="2" charset="-122"/>
                <a:sym typeface="Arial" panose="020B0604020202020204"/>
              </a:rPr>
              <a:t>RAG</a:t>
            </a:r>
            <a:r>
              <a:rPr lang="zh-CN" altLang="en-US" sz="1200" dirty="0">
                <a:solidFill>
                  <a:schemeClr val="bg1"/>
                </a:solidFill>
                <a:latin typeface="宋体" panose="02010600030101010101" pitchFamily="2" charset="-122"/>
                <a:ea typeface="宋体" panose="02010600030101010101" pitchFamily="2" charset="-122"/>
                <a:cs typeface="宋体" panose="02010600030101010101" pitchFamily="2" charset="-122"/>
                <a:sym typeface="Arial" panose="020B0604020202020204"/>
              </a:rPr>
              <a:t>技术的成熟，</a:t>
            </a:r>
            <a:r>
              <a:rPr lang="zh-CN" altLang="en-US" sz="1200" dirty="0">
                <a:solidFill>
                  <a:schemeClr val="bg1"/>
                </a:solidFill>
                <a:latin typeface="宋体" panose="02010600030101010101" pitchFamily="2" charset="-122"/>
                <a:ea typeface="宋体" panose="02010600030101010101" pitchFamily="2" charset="-122"/>
                <a:cs typeface="思源黑体 Medium" panose="020B0600000000000000" charset="-122"/>
                <a:sym typeface="Arial" panose="020B0604020202020204"/>
              </a:rPr>
              <a:t>基于知识库向量化检索的问答应用发展起来。而</a:t>
            </a:r>
            <a:r>
              <a:rPr lang="en-US" altLang="zh-CN" sz="1200" dirty="0">
                <a:solidFill>
                  <a:schemeClr val="bg1"/>
                </a:solidFill>
                <a:latin typeface="宋体" panose="02010600030101010101" pitchFamily="2" charset="-122"/>
                <a:ea typeface="宋体" panose="02010600030101010101" pitchFamily="2" charset="-122"/>
                <a:cs typeface="思源黑体 Medium" panose="020B0600000000000000" charset="-122"/>
                <a:sym typeface="Arial" panose="020B0604020202020204"/>
              </a:rPr>
              <a:t>Agent</a:t>
            </a:r>
            <a:r>
              <a:rPr lang="zh-CN" altLang="en-US" sz="1200" dirty="0">
                <a:solidFill>
                  <a:schemeClr val="bg1"/>
                </a:solidFill>
                <a:latin typeface="宋体" panose="02010600030101010101" pitchFamily="2" charset="-122"/>
                <a:ea typeface="宋体" panose="02010600030101010101" pitchFamily="2" charset="-122"/>
                <a:cs typeface="思源黑体 Medium" panose="020B0600000000000000" charset="-122"/>
                <a:sym typeface="Arial" panose="020B0604020202020204"/>
              </a:rPr>
              <a:t>，可以理解为</a:t>
            </a:r>
            <a:r>
              <a:rPr lang="zh-CN" altLang="en-US" sz="1200" dirty="0">
                <a:solidFill>
                  <a:schemeClr val="tx1">
                    <a:lumMod val="65000"/>
                    <a:lumOff val="35000"/>
                  </a:schemeClr>
                </a:solidFill>
                <a:latin typeface="宋体" panose="02010600030101010101" pitchFamily="2" charset="-122"/>
                <a:ea typeface="宋体" panose="02010600030101010101" pitchFamily="2" charset="-122"/>
                <a:cs typeface="宋体" panose="02010600030101010101" pitchFamily="2" charset="-122"/>
                <a:sym typeface="Arial" panose="020B0604020202020204"/>
              </a:rPr>
              <a:t>构成更加复杂的问答应用 和</a:t>
            </a:r>
            <a:r>
              <a:rPr lang="en-US" altLang="zh-CN" sz="1200" dirty="0">
                <a:solidFill>
                  <a:schemeClr val="tx1">
                    <a:lumMod val="65000"/>
                    <a:lumOff val="35000"/>
                  </a:schemeClr>
                </a:solidFill>
                <a:latin typeface="宋体" panose="02010600030101010101" pitchFamily="2" charset="-122"/>
                <a:ea typeface="宋体" panose="02010600030101010101" pitchFamily="2" charset="-122"/>
                <a:cs typeface="宋体" panose="02010600030101010101" pitchFamily="2" charset="-122"/>
                <a:sym typeface="Arial" panose="020B0604020202020204"/>
              </a:rPr>
              <a:t> RAG </a:t>
            </a:r>
            <a:r>
              <a:rPr lang="zh-CN" altLang="en-US" sz="1200" dirty="0">
                <a:solidFill>
                  <a:schemeClr val="tx1">
                    <a:lumMod val="65000"/>
                    <a:lumOff val="35000"/>
                  </a:schemeClr>
                </a:solidFill>
                <a:latin typeface="宋体" panose="02010600030101010101" pitchFamily="2" charset="-122"/>
                <a:ea typeface="宋体" panose="02010600030101010101" pitchFamily="2" charset="-122"/>
                <a:cs typeface="宋体" panose="02010600030101010101" pitchFamily="2" charset="-122"/>
                <a:sym typeface="Arial" panose="020B0604020202020204"/>
              </a:rPr>
              <a:t>的线性变换。</a:t>
            </a:r>
            <a:r>
              <a:rPr lang="zh-CN" altLang="en-US" sz="1200" u="none" kern="1200" dirty="0">
                <a:solidFill>
                  <a:schemeClr val="tx1"/>
                </a:solidFill>
                <a:latin typeface="-apple-system"/>
                <a:ea typeface="思源黑体 Normal" panose="020B0400000000000000" charset="-122"/>
                <a:hlinkClick r:id="rId3"/>
              </a:rPr>
              <a:t>吴恩达曾预言，</a:t>
            </a:r>
            <a:r>
              <a:rPr lang="en-US" altLang="zh-CN" sz="1200" u="none" kern="1200" dirty="0">
                <a:solidFill>
                  <a:schemeClr val="tx1"/>
                </a:solidFill>
                <a:latin typeface="-apple-system"/>
                <a:ea typeface="思源黑体 Normal" panose="020B0400000000000000" charset="-122"/>
                <a:hlinkClick r:id="rId3"/>
              </a:rPr>
              <a:t>Agent</a:t>
            </a:r>
            <a:r>
              <a:rPr lang="zh-CN" altLang="en-US" sz="1200" u="none" kern="1200" dirty="0">
                <a:solidFill>
                  <a:schemeClr val="tx1"/>
                </a:solidFill>
                <a:latin typeface="-apple-system"/>
                <a:ea typeface="思源黑体 Normal" panose="020B0400000000000000" charset="-122"/>
                <a:hlinkClick r:id="rId3"/>
              </a:rPr>
              <a:t>模式将在不久的将来超过下一代模型</a:t>
            </a:r>
            <a:r>
              <a:rPr lang="zh-CN" altLang="en-US" sz="1200" u="none" kern="1200" dirty="0">
                <a:solidFill>
                  <a:schemeClr val="tx1"/>
                </a:solidFill>
                <a:latin typeface="-apple-system"/>
                <a:ea typeface="思源黑体 Normal" panose="020B0400000000000000" charset="-122"/>
              </a:rPr>
              <a:t>。</a:t>
            </a:r>
            <a:r>
              <a:rPr lang="en-US" altLang="zh-CN" sz="1200" u="none" kern="1200" dirty="0">
                <a:solidFill>
                  <a:schemeClr val="tx1"/>
                </a:solidFill>
                <a:latin typeface="-apple-system"/>
                <a:ea typeface="思源黑体 Normal" panose="020B0400000000000000" charset="-122"/>
              </a:rPr>
              <a:t>Agent</a:t>
            </a:r>
            <a:r>
              <a:rPr lang="zh-CN" altLang="en-US" sz="1200" u="none" kern="1200" dirty="0">
                <a:solidFill>
                  <a:schemeClr val="tx1"/>
                </a:solidFill>
                <a:latin typeface="-apple-system"/>
                <a:ea typeface="思源黑体 Normal" panose="020B0400000000000000" charset="-122"/>
              </a:rPr>
              <a:t>架构有四大要素，分别是</a:t>
            </a:r>
            <a:r>
              <a:rPr lang="zh-CN" altLang="en-US" b="0" i="0" dirty="0">
                <a:solidFill>
                  <a:srgbClr val="191B1F"/>
                </a:solidFill>
                <a:effectLst/>
                <a:latin typeface="-apple-system"/>
              </a:rPr>
              <a:t>规划、记忆、工具、执行。我们在 </a:t>
            </a:r>
            <a:r>
              <a:rPr lang="en-US" altLang="zh-CN" b="0" i="0" dirty="0" err="1">
                <a:solidFill>
                  <a:srgbClr val="191B1F"/>
                </a:solidFill>
                <a:effectLst/>
                <a:latin typeface="-apple-system"/>
              </a:rPr>
              <a:t>qwen</a:t>
            </a:r>
            <a:r>
              <a:rPr lang="en-US" altLang="zh-CN" b="0" i="0" dirty="0">
                <a:solidFill>
                  <a:srgbClr val="191B1F"/>
                </a:solidFill>
                <a:effectLst/>
                <a:latin typeface="-apple-system"/>
              </a:rPr>
              <a:t>-agent </a:t>
            </a:r>
            <a:r>
              <a:rPr lang="zh-CN" altLang="en-US" b="0" i="0" dirty="0">
                <a:solidFill>
                  <a:srgbClr val="191B1F"/>
                </a:solidFill>
                <a:effectLst/>
                <a:latin typeface="-apple-system"/>
              </a:rPr>
              <a:t>框架下进行了</a:t>
            </a:r>
            <a:r>
              <a:rPr lang="en-US" altLang="zh-CN" b="0" i="0" dirty="0">
                <a:solidFill>
                  <a:srgbClr val="191B1F"/>
                </a:solidFill>
                <a:effectLst/>
                <a:latin typeface="-apple-system"/>
              </a:rPr>
              <a:t>Agent</a:t>
            </a:r>
            <a:r>
              <a:rPr lang="zh-CN" altLang="en-US" b="0" i="0" dirty="0">
                <a:solidFill>
                  <a:srgbClr val="191B1F"/>
                </a:solidFill>
                <a:effectLst/>
                <a:latin typeface="-apple-system"/>
              </a:rPr>
              <a:t>工具开发及调用，提示词工程、大模型缓存管理、</a:t>
            </a:r>
            <a:r>
              <a:rPr lang="en-US" altLang="zh-CN" b="0" i="0" dirty="0">
                <a:solidFill>
                  <a:srgbClr val="191B1F"/>
                </a:solidFill>
                <a:effectLst/>
                <a:latin typeface="-apple-system"/>
              </a:rPr>
              <a:t>RAG</a:t>
            </a:r>
            <a:r>
              <a:rPr lang="zh-CN" altLang="en-US" b="0" i="0" dirty="0">
                <a:solidFill>
                  <a:srgbClr val="191B1F"/>
                </a:solidFill>
                <a:effectLst/>
                <a:latin typeface="-apple-system"/>
              </a:rPr>
              <a:t>技术实现 以及满足特殊需求的</a:t>
            </a:r>
            <a:r>
              <a:rPr lang="en-US" altLang="zh-CN" b="0" i="0" dirty="0">
                <a:solidFill>
                  <a:srgbClr val="191B1F"/>
                </a:solidFill>
                <a:effectLst/>
                <a:latin typeface="-apple-system"/>
              </a:rPr>
              <a:t>Agent</a:t>
            </a:r>
            <a:r>
              <a:rPr lang="zh-CN" altLang="en-US" b="0" i="0" dirty="0">
                <a:solidFill>
                  <a:srgbClr val="191B1F"/>
                </a:solidFill>
                <a:effectLst/>
                <a:latin typeface="-apple-system"/>
              </a:rPr>
              <a:t>开发。</a:t>
            </a:r>
            <a:endParaRPr lang="zh-CN" altLang="en-US" sz="1200" u="none" kern="1200" dirty="0">
              <a:solidFill>
                <a:schemeClr val="tx1"/>
              </a:solidFill>
              <a:ea typeface="思源黑体 Normal" panose="020B0400000000000000" charset="-122"/>
            </a:endParaRPr>
          </a:p>
        </p:txBody>
      </p:sp>
      <p:sp>
        <p:nvSpPr>
          <p:cNvPr id="4" name="灯片编号占位符 3"/>
          <p:cNvSpPr>
            <a:spLocks noGrp="1"/>
          </p:cNvSpPr>
          <p:nvPr>
            <p:ph type="sldNum" sz="quarter" idx="5"/>
          </p:nvPr>
        </p:nvSpPr>
        <p:spPr/>
        <p:txBody>
          <a:bodyPr/>
          <a:lstStyle/>
          <a:p>
            <a:fld id="{A6837353-30EB-4A48-80EB-173D804AEFBD}" type="slidenum">
              <a:rPr lang="en-US" altLang="zh-CN"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然后介绍我们的前后端跨域访问技术，以</a:t>
            </a:r>
            <a:r>
              <a:rPr lang="en-US" altLang="zh-CN" dirty="0" err="1"/>
              <a:t>vue</a:t>
            </a:r>
            <a:r>
              <a:rPr lang="zh-CN" altLang="en-US" dirty="0"/>
              <a:t>和</a:t>
            </a:r>
            <a:r>
              <a:rPr lang="en-US" altLang="zh-CN" dirty="0"/>
              <a:t>Django</a:t>
            </a:r>
            <a:r>
              <a:rPr lang="zh-CN" altLang="en-US" dirty="0"/>
              <a:t>为例。</a:t>
            </a:r>
            <a:endParaRPr lang="en-US" altLang="zh-CN" dirty="0"/>
          </a:p>
          <a:p>
            <a:r>
              <a:rPr lang="en-US" altLang="zh-CN" dirty="0"/>
              <a:t>Vue</a:t>
            </a:r>
            <a:r>
              <a:rPr lang="zh-CN" altLang="en-US" dirty="0"/>
              <a:t>采用</a:t>
            </a:r>
            <a:r>
              <a:rPr lang="en-US" altLang="zh-CN" dirty="0" err="1"/>
              <a:t>AxiosHTTP</a:t>
            </a:r>
            <a:r>
              <a:rPr lang="zh-CN" altLang="en-US" dirty="0"/>
              <a:t>客户端技术，采用</a:t>
            </a:r>
            <a:r>
              <a:rPr lang="en-US" altLang="zh-CN" dirty="0"/>
              <a:t>POST/GET</a:t>
            </a:r>
            <a:r>
              <a:rPr lang="zh-CN" altLang="en-US" dirty="0"/>
              <a:t>等发送访问信息给特定</a:t>
            </a:r>
            <a:r>
              <a:rPr lang="en-US" altLang="zh-CN" dirty="0" err="1"/>
              <a:t>URLDjango</a:t>
            </a:r>
            <a:r>
              <a:rPr lang="zh-CN" altLang="en-US" dirty="0"/>
              <a:t>采用</a:t>
            </a:r>
            <a:r>
              <a:rPr lang="en-US" altLang="zh-CN" dirty="0"/>
              <a:t>CORS</a:t>
            </a:r>
            <a:r>
              <a:rPr lang="zh-CN" altLang="en-US" dirty="0"/>
              <a:t>，使用额外的</a:t>
            </a:r>
            <a:r>
              <a:rPr lang="en-US" altLang="zh-CN" dirty="0"/>
              <a:t>HTTP</a:t>
            </a:r>
            <a:r>
              <a:rPr lang="zh-CN" altLang="en-US" dirty="0"/>
              <a:t>头来告诉浏览器允许哪些跨源请求。当一个资源请求尝试从不同的源</a:t>
            </a:r>
            <a:r>
              <a:rPr lang="en-US" altLang="zh-CN" dirty="0"/>
              <a:t>(</a:t>
            </a:r>
            <a:r>
              <a:rPr lang="zh-CN" altLang="en-US" dirty="0"/>
              <a:t>域名、协议或端口</a:t>
            </a:r>
            <a:r>
              <a:rPr lang="en-US" altLang="zh-CN" dirty="0"/>
              <a:t>)</a:t>
            </a:r>
            <a:r>
              <a:rPr lang="zh-CN" altLang="en-US" dirty="0"/>
              <a:t>获取资源时，就会触发跨域请求。</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幻灯片图像占位符 1"/>
          <p:cNvSpPr>
            <a:spLocks noGrp="1" noRot="1" noChangeAspect="1"/>
          </p:cNvSpPr>
          <p:nvPr>
            <p:ph type="sldImg"/>
          </p:nvPr>
        </p:nvSpPr>
        <p:spPr/>
        <p:txBody>
          <a:bodyPr/>
          <a:lstStyle/>
          <a:p>
            <a:endParaRPr/>
          </a:p>
        </p:txBody>
      </p:sp>
      <p:sp>
        <p:nvSpPr>
          <p:cNvPr id="36"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下面有请我们的组员 柳泊南 上台做项目展示！</a:t>
            </a:r>
          </a:p>
          <a:p>
            <a:endParaRPr lang="zh-CN" dirty="0"/>
          </a:p>
        </p:txBody>
      </p:sp>
      <p:sp>
        <p:nvSpPr>
          <p:cNvPr id="37" name="灯片编号占位符 3"/>
          <p:cNvSpPr>
            <a:spLocks noGrp="1"/>
          </p:cNvSpPr>
          <p:nvPr>
            <p:ph type="sldNum" sz="quarter" idx="10"/>
          </p:nvPr>
        </p:nvSpPr>
        <p:spPr/>
        <p:txBody>
          <a:bodyPr/>
          <a:lstStyle/>
          <a:p>
            <a:fld id="{A6837353-30EB-4A48-80EB-173D804AEFBD}" type="slidenum">
              <a:rPr/>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en-US" altLang="zh-CN"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幻灯片图像占位符 1"/>
          <p:cNvSpPr>
            <a:spLocks noGrp="1" noRot="1" noChangeAspect="1"/>
          </p:cNvSpPr>
          <p:nvPr>
            <p:ph type="sldImg"/>
          </p:nvPr>
        </p:nvSpPr>
        <p:spPr/>
        <p:txBody>
          <a:bodyPr/>
          <a:lstStyle/>
          <a:p>
            <a:endParaRPr/>
          </a:p>
        </p:txBody>
      </p:sp>
      <p:sp>
        <p:nvSpPr>
          <p:cNvPr id="36" name="备注占位符 2"/>
          <p:cNvSpPr>
            <a:spLocks noGrp="1"/>
          </p:cNvSpPr>
          <p:nvPr>
            <p:ph type="body" idx="1"/>
          </p:nvPr>
        </p:nvSpPr>
        <p:spPr/>
        <p:txBody>
          <a:bodyPr/>
          <a:lstStyle/>
          <a:p>
            <a:r>
              <a:rPr lang="zh-CN" altLang="en-US" dirty="0"/>
              <a:t>接下来是我们的项目价值。</a:t>
            </a:r>
            <a:endParaRPr lang="zh-CN" dirty="0"/>
          </a:p>
        </p:txBody>
      </p:sp>
      <p:sp>
        <p:nvSpPr>
          <p:cNvPr id="37" name="灯片编号占位符 3"/>
          <p:cNvSpPr>
            <a:spLocks noGrp="1"/>
          </p:cNvSpPr>
          <p:nvPr>
            <p:ph type="sldNum" sz="quarter" idx="10"/>
          </p:nvPr>
        </p:nvSpPr>
        <p:spPr/>
        <p:txBody>
          <a:bodyPr/>
          <a:lstStyle/>
          <a:p>
            <a:fld id="{A6837353-30EB-4A48-80EB-173D804AEFBD}" type="slidenum">
              <a:rPr/>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C2C36"/>
                </a:solidFill>
                <a:effectLst/>
                <a:latin typeface="-apple-system"/>
              </a:rPr>
              <a:t>首先，让我们来看看这个项目的社会价值。我们致力于解放教师的时间，让他们从重复性的任务中解脱出来，从而能够专注于更有创造性的教学活动。这不仅提升了教学质量，还促进了教学创新。同时，通过引入智能化手段，我们帮助实现了教育资源的知识普惠和技术普及，让更多的学习者可以无障碍地获取高质量的学习资料，进一步缩小了教育机会的不平等。</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en-US" altLang="zh-CN"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幻灯片图像占位符 1"/>
          <p:cNvSpPr>
            <a:spLocks noGrp="1" noRot="1" noChangeAspect="1"/>
          </p:cNvSpPr>
          <p:nvPr>
            <p:ph type="sldImg" idx="2"/>
          </p:nvPr>
        </p:nvSpPr>
        <p:spPr>
          <a:xfrm>
            <a:off x="685800" y="1143000"/>
            <a:ext cx="5486400" cy="3086100"/>
          </a:xfrm>
        </p:spPr>
        <p:txBody>
          <a:bodyPr/>
          <a:lstStyle/>
          <a:p>
            <a:endParaRPr/>
          </a:p>
        </p:txBody>
      </p:sp>
      <p:sp>
        <p:nvSpPr>
          <p:cNvPr id="14" name="文本占位符 2"/>
          <p:cNvSpPr>
            <a:spLocks noGrp="1"/>
          </p:cNvSpPr>
          <p:nvPr>
            <p:ph type="body" idx="3"/>
          </p:nvPr>
        </p:nvSpPr>
        <p:spPr/>
        <p:txBody>
          <a:bodyPr/>
          <a:lstStyle/>
          <a:p>
            <a:r>
              <a:rPr lang="zh-CN" altLang="en-US" b="0" i="0" dirty="0">
                <a:solidFill>
                  <a:srgbClr val="2C2C36"/>
                </a:solidFill>
                <a:effectLst/>
                <a:latin typeface="-apple-system"/>
              </a:rPr>
              <a:t>接下来，谈谈项目的商业价值。随着</a:t>
            </a:r>
            <a:r>
              <a:rPr lang="en-US" altLang="zh-CN" b="0" i="0" dirty="0">
                <a:solidFill>
                  <a:srgbClr val="2C2C36"/>
                </a:solidFill>
                <a:effectLst/>
                <a:latin typeface="-apple-system"/>
              </a:rPr>
              <a:t>2023</a:t>
            </a:r>
            <a:r>
              <a:rPr lang="zh-CN" altLang="en-US" b="0" i="0" dirty="0">
                <a:solidFill>
                  <a:srgbClr val="2C2C36"/>
                </a:solidFill>
                <a:effectLst/>
                <a:latin typeface="-apple-system"/>
              </a:rPr>
              <a:t>年中国在线教育市场规模达到了</a:t>
            </a:r>
            <a:r>
              <a:rPr lang="en-US" altLang="zh-CN" b="0" i="0" dirty="0">
                <a:solidFill>
                  <a:srgbClr val="2C2C36"/>
                </a:solidFill>
                <a:effectLst/>
                <a:latin typeface="-apple-system"/>
              </a:rPr>
              <a:t>4191</a:t>
            </a:r>
            <a:r>
              <a:rPr lang="zh-CN" altLang="en-US" b="0" i="0" dirty="0">
                <a:solidFill>
                  <a:srgbClr val="2C2C36"/>
                </a:solidFill>
                <a:effectLst/>
                <a:latin typeface="-apple-system"/>
              </a:rPr>
              <a:t>亿人民币，智能教育工具的需求正在快速增长。我们相信，凭借项目提供的定制化知识库和智能答疑等功能，我们可以吸引大量的教育领域客户。此外，项目拥有很强的可扩展性，未来可以通过智能生成文档、图像、视频等方式拓展更多应用场景，这也为项目的长期发展奠定了基础。</a:t>
            </a: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灯片图像占位符 1"/>
          <p:cNvSpPr>
            <a:spLocks noGrp="1" noRot="1" noChangeAspect="1"/>
          </p:cNvSpPr>
          <p:nvPr>
            <p:ph type="sldImg"/>
          </p:nvPr>
        </p:nvSpPr>
        <p:spPr/>
        <p:txBody>
          <a:bodyPr/>
          <a:lstStyle/>
          <a:p>
            <a:endParaRPr/>
          </a:p>
        </p:txBody>
      </p:sp>
      <p:sp>
        <p:nvSpPr>
          <p:cNvPr id="6"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2C2C36"/>
                </a:solidFill>
                <a:effectLst/>
                <a:latin typeface="-apple-system"/>
              </a:rPr>
              <a:t>面对未来，我们充满信心。</a:t>
            </a:r>
            <a:endParaRPr lang="zh-CN" dirty="0"/>
          </a:p>
        </p:txBody>
      </p:sp>
      <p:sp>
        <p:nvSpPr>
          <p:cNvPr id="7" name="灯片编号占位符 3"/>
          <p:cNvSpPr>
            <a:spLocks noGrp="1"/>
          </p:cNvSpPr>
          <p:nvPr>
            <p:ph type="sldNum" sz="quarter" idx="10"/>
          </p:nvPr>
        </p:nvSpPr>
        <p:spPr/>
        <p:txBody>
          <a:bodyPr/>
          <a:lstStyle/>
          <a:p>
            <a:fld id="{A6837353-30EB-4A48-80EB-173D804AEFBD}" type="slidenum">
              <a:rPr/>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C2C36"/>
                </a:solidFill>
                <a:effectLst/>
                <a:latin typeface="-apple-system"/>
              </a:rPr>
              <a:t>项目计划增加权限访问功能，增强娱乐功能，并增添管理员功能。我们还将持续优化智能</a:t>
            </a:r>
            <a:r>
              <a:rPr lang="en-US" altLang="zh-CN" b="0" i="0" dirty="0">
                <a:solidFill>
                  <a:srgbClr val="2C2C36"/>
                </a:solidFill>
                <a:effectLst/>
                <a:latin typeface="-apple-system"/>
              </a:rPr>
              <a:t>PPT</a:t>
            </a:r>
            <a:r>
              <a:rPr lang="zh-CN" altLang="en-US" b="0" i="0" dirty="0">
                <a:solidFill>
                  <a:srgbClr val="2C2C36"/>
                </a:solidFill>
                <a:effectLst/>
                <a:latin typeface="-apple-system"/>
              </a:rPr>
              <a:t>生成的功能，以适应不断变化的教学需求。</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en-US" altLang="zh-CN"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幻灯片图像占位符 1"/>
          <p:cNvSpPr>
            <a:spLocks noGrp="1" noRot="1" noChangeAspect="1"/>
          </p:cNvSpPr>
          <p:nvPr>
            <p:ph type="sldImg"/>
          </p:nvPr>
        </p:nvSpPr>
        <p:spPr/>
        <p:txBody>
          <a:bodyPr/>
          <a:lstStyle/>
          <a:p>
            <a:endParaRPr/>
          </a:p>
        </p:txBody>
      </p:sp>
      <p:sp>
        <p:nvSpPr>
          <p:cNvPr id="1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然后是我们团队的实训总结。</a:t>
            </a:r>
            <a:endParaRPr lang="zh-CN" altLang="zh-CN" dirty="0"/>
          </a:p>
          <a:p>
            <a:pPr marL="0" indent="0" algn="l" defTabSz="914400">
              <a:lnSpc>
                <a:spcPct val="100000"/>
              </a:lnSpc>
              <a:spcBef>
                <a:spcPts val="0"/>
              </a:spcBef>
              <a:spcAft>
                <a:spcPts val="0"/>
              </a:spcAft>
              <a:buClrTx/>
              <a:buSzTx/>
              <a:buFontTx/>
              <a:buNone/>
              <a:defRPr/>
            </a:pPr>
            <a:endParaRPr lang="en-US" sz="1200" dirty="0">
              <a:latin typeface="微软雅黑" panose="020B0503020204020204" pitchFamily="34" charset="-122"/>
              <a:ea typeface="微软雅黑" panose="020B0503020204020204" pitchFamily="34" charset="-122"/>
            </a:endParaRPr>
          </a:p>
          <a:p>
            <a:endParaRPr lang="zh-CN" dirty="0"/>
          </a:p>
        </p:txBody>
      </p:sp>
      <p:sp>
        <p:nvSpPr>
          <p:cNvPr id="11" name="灯片编号占位符 3"/>
          <p:cNvSpPr>
            <a:spLocks noGrp="1"/>
          </p:cNvSpPr>
          <p:nvPr>
            <p:ph type="sldNum" sz="quarter" idx="10"/>
          </p:nvPr>
        </p:nvSpPr>
        <p:spPr/>
        <p:txBody>
          <a:bodyPr/>
          <a:lstStyle/>
          <a:p>
            <a:fld id="{A6837353-30EB-4A48-80EB-173D804AEFBD}" type="slidenum">
              <a:rPr/>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zh-CN" altLang="en-US" b="0" i="0" dirty="0">
                <a:solidFill>
                  <a:srgbClr val="2C2C36"/>
                </a:solidFill>
                <a:effectLst/>
                <a:latin typeface="-apple-system"/>
              </a:rPr>
              <a:t>面对文件上传与下载的需求，我们通过阿里云的对象存储服务</a:t>
            </a:r>
            <a:r>
              <a:rPr lang="en-US" altLang="zh-CN" b="0" i="0" dirty="0">
                <a:solidFill>
                  <a:srgbClr val="2C2C36"/>
                </a:solidFill>
                <a:effectLst/>
                <a:latin typeface="-apple-system"/>
              </a:rPr>
              <a:t>OSS</a:t>
            </a:r>
            <a:r>
              <a:rPr lang="zh-CN" altLang="en-US" b="0" i="0" dirty="0">
                <a:solidFill>
                  <a:srgbClr val="2C2C36"/>
                </a:solidFill>
                <a:effectLst/>
                <a:latin typeface="-apple-system"/>
              </a:rPr>
              <a:t>，实现了文件从一个设备到另一个设备的无缝传递。</a:t>
            </a:r>
          </a:p>
          <a:p>
            <a:pPr algn="l">
              <a:buFont typeface="Arial" panose="020B0604020202020204" pitchFamily="34" charset="0"/>
              <a:buNone/>
            </a:pPr>
            <a:r>
              <a:rPr lang="zh-CN" altLang="en-US" b="0" i="0" dirty="0">
                <a:solidFill>
                  <a:srgbClr val="2C2C36"/>
                </a:solidFill>
                <a:effectLst/>
                <a:latin typeface="-apple-system"/>
              </a:rPr>
              <a:t>面对智能文件生成的需求，我们定义了</a:t>
            </a:r>
            <a:r>
              <a:rPr lang="en-US" altLang="zh-CN" b="0" i="0" dirty="0">
                <a:solidFill>
                  <a:srgbClr val="2C2C36"/>
                </a:solidFill>
                <a:effectLst/>
                <a:latin typeface="-apple-system"/>
              </a:rPr>
              <a:t>Agent</a:t>
            </a:r>
            <a:r>
              <a:rPr lang="zh-CN" altLang="en-US" b="0" i="0" dirty="0">
                <a:solidFill>
                  <a:srgbClr val="2C2C36"/>
                </a:solidFill>
                <a:effectLst/>
                <a:latin typeface="-apple-system"/>
              </a:rPr>
              <a:t>工具，能够将大模型转化为能够按照规定格式输出教案</a:t>
            </a:r>
            <a:r>
              <a:rPr lang="en-US" altLang="zh-CN" b="0" i="0" dirty="0">
                <a:solidFill>
                  <a:srgbClr val="2C2C36"/>
                </a:solidFill>
                <a:effectLst/>
                <a:latin typeface="-apple-system"/>
              </a:rPr>
              <a:t>Markdown</a:t>
            </a:r>
            <a:r>
              <a:rPr lang="zh-CN" altLang="en-US" b="0" i="0" dirty="0">
                <a:solidFill>
                  <a:srgbClr val="2C2C36"/>
                </a:solidFill>
                <a:effectLst/>
                <a:latin typeface="-apple-system"/>
              </a:rPr>
              <a:t>代码的助手。</a:t>
            </a:r>
            <a:endParaRPr lang="en-US" altLang="zh-CN" b="0" i="0" dirty="0">
              <a:solidFill>
                <a:srgbClr val="2C2C36"/>
              </a:solidFill>
              <a:effectLst/>
              <a:latin typeface="-apple-system"/>
            </a:endParaRPr>
          </a:p>
          <a:p>
            <a:pPr algn="l">
              <a:buFont typeface="Arial" panose="020B0604020202020204" pitchFamily="34" charset="0"/>
              <a:buNone/>
            </a:pPr>
            <a:r>
              <a:rPr lang="zh-CN" altLang="en-US" b="0" i="0" dirty="0">
                <a:solidFill>
                  <a:srgbClr val="2C2C36"/>
                </a:solidFill>
                <a:effectLst/>
                <a:latin typeface="-apple-system"/>
              </a:rPr>
              <a:t>面对文件数据库需求，我们基于</a:t>
            </a:r>
            <a:r>
              <a:rPr lang="en-US" altLang="zh-CN" b="0" i="0" dirty="0">
                <a:solidFill>
                  <a:srgbClr val="2C2C36"/>
                </a:solidFill>
                <a:effectLst/>
                <a:latin typeface="-apple-system"/>
              </a:rPr>
              <a:t>Django</a:t>
            </a:r>
            <a:r>
              <a:rPr lang="zh-CN" altLang="en-US" b="0" i="0" dirty="0">
                <a:solidFill>
                  <a:srgbClr val="2C2C36"/>
                </a:solidFill>
                <a:effectLst/>
                <a:latin typeface="-apple-system"/>
              </a:rPr>
              <a:t>框架与数据库的联动，实现了对表格功能的各种操作。</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在项目后期，我们遇到了前后端跨域访问的问题。为了解决这个问题，我们尝试了不同的连接方式，并最终通过环境配置实现了信息的畅通无阻。</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t>Image_to_Text</a:t>
            </a:r>
            <a:r>
              <a:rPr lang="zh-CN" altLang="en-US" dirty="0"/>
              <a:t>大模型的微调则是另一大挑战。我们不仅需要调整数据集的格式，还要添加特定的模板，并且修改微调代码以支持图像输入。经过一系列的努力，我们终于克服了这一难关。</a:t>
            </a:r>
          </a:p>
          <a:p>
            <a:r>
              <a:rPr lang="zh-CN" altLang="en-US" dirty="0"/>
              <a:t>前端、云端和后端之间信息不同步也是一个棘手的问题。为此，我们在前端引入了信号量循环等待云端数据的机制，而后端则通过</a:t>
            </a:r>
            <a:r>
              <a:rPr lang="en-US" altLang="zh-CN" dirty="0"/>
              <a:t>requests</a:t>
            </a:r>
            <a:r>
              <a:rPr lang="zh-CN" altLang="en-US" dirty="0"/>
              <a:t>库下载所需的</a:t>
            </a:r>
            <a:r>
              <a:rPr lang="en-US" altLang="zh-CN" dirty="0"/>
              <a:t>URL</a:t>
            </a:r>
            <a:r>
              <a:rPr lang="zh-CN" altLang="en-US" dirty="0"/>
              <a:t>资源，从而确保了三者之间的信息同步。</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这是我们六位团队成员的实训收获，我们分别在模型训练、前端开发、后端开发、前后端的跨域访问</a:t>
            </a:r>
            <a:r>
              <a:rPr lang="zh-CN" altLang="en-US" sz="1200" b="1" kern="0" dirty="0">
                <a:solidFill>
                  <a:srgbClr val="A4A4ED"/>
                </a:solidFill>
                <a:latin typeface="宋体" panose="02010600030101010101" pitchFamily="2" charset="-122"/>
                <a:ea typeface="宋体" panose="02010600030101010101" pitchFamily="2" charset="-122"/>
                <a:cs typeface="+mn-ea"/>
                <a:sym typeface="+mn-lt"/>
              </a:rPr>
              <a:t>这几个方面收获颇丰。</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en-US" altLang="zh-CN"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幻灯片图像占位符 1"/>
          <p:cNvSpPr>
            <a:spLocks noGrp="1" noRot="1" noChangeAspect="1"/>
          </p:cNvSpPr>
          <p:nvPr>
            <p:ph type="sldImg"/>
          </p:nvPr>
        </p:nvSpPr>
        <p:spPr/>
        <p:txBody>
          <a:bodyPr/>
          <a:lstStyle/>
          <a:p>
            <a:endParaRPr/>
          </a:p>
        </p:txBody>
      </p:sp>
      <p:sp>
        <p:nvSpPr>
          <p:cNvPr id="14" name="备注占位符 2"/>
          <p:cNvSpPr>
            <a:spLocks noGrp="1"/>
          </p:cNvSpPr>
          <p:nvPr>
            <p:ph type="body" idx="1"/>
          </p:nvPr>
        </p:nvSpPr>
        <p:spPr/>
        <p:txBody>
          <a:bodyPr/>
          <a:lstStyle/>
          <a:p>
            <a:pPr marL="0" indent="0" algn="l" defTabSz="914400">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最后是我们的团队成员介绍。</a:t>
            </a:r>
            <a:endParaRPr lang="en-US" sz="1200" dirty="0">
              <a:latin typeface="微软雅黑" panose="020B0503020204020204" pitchFamily="34" charset="-122"/>
              <a:ea typeface="微软雅黑" panose="020B0503020204020204" pitchFamily="34" charset="-122"/>
            </a:endParaRPr>
          </a:p>
          <a:p>
            <a:endParaRPr lang="zh-CN" dirty="0"/>
          </a:p>
        </p:txBody>
      </p:sp>
      <p:sp>
        <p:nvSpPr>
          <p:cNvPr id="15" name="灯片编号占位符 3"/>
          <p:cNvSpPr>
            <a:spLocks noGrp="1"/>
          </p:cNvSpPr>
          <p:nvPr>
            <p:ph type="sldNum" sz="quarter" idx="10"/>
          </p:nvPr>
        </p:nvSpPr>
        <p:spPr/>
        <p:txBody>
          <a:bodyPr/>
          <a:lstStyle/>
          <a:p>
            <a:fld id="{A6837353-30EB-4A48-80EB-173D804AEFBD}" type="slidenum">
              <a:rPr/>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我们的前端选手有：朱翼 和 赖以政</a:t>
            </a:r>
            <a:br>
              <a:rPr lang="en-US" altLang="zh-CN" dirty="0"/>
            </a:br>
            <a:r>
              <a:rPr lang="zh-CN" altLang="en-US" dirty="0"/>
              <a:t>我们的大模型部分，选手 </a:t>
            </a:r>
            <a:r>
              <a:rPr lang="en-US" altLang="zh-CN" dirty="0"/>
              <a:t>1 </a:t>
            </a:r>
            <a:r>
              <a:rPr lang="zh-CN" altLang="en-US" dirty="0"/>
              <a:t>是张正己</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我们的前端选手有：朱翼 和 赖以政</a:t>
            </a:r>
            <a:br>
              <a:rPr lang="en-US" altLang="zh-CN" dirty="0"/>
            </a:br>
            <a:r>
              <a:rPr lang="zh-CN" altLang="en-US" dirty="0"/>
              <a:t>我们的大模型部分，选手 </a:t>
            </a:r>
            <a:r>
              <a:rPr lang="en-US" altLang="zh-CN" dirty="0"/>
              <a:t>1 </a:t>
            </a:r>
            <a:r>
              <a:rPr lang="zh-CN" altLang="en-US" dirty="0"/>
              <a:t>是张正己</a:t>
            </a:r>
          </a:p>
        </p:txBody>
      </p:sp>
      <p:sp>
        <p:nvSpPr>
          <p:cNvPr id="4" name="灯片编号占位符 3"/>
          <p:cNvSpPr>
            <a:spLocks noGrp="1"/>
          </p:cNvSpPr>
          <p:nvPr>
            <p:ph type="sldNum" sz="quarter" idx="5"/>
          </p:nvPr>
        </p:nvSpPr>
        <p:spPr/>
        <p:txBody>
          <a:bodyPr/>
          <a:lstStyle/>
          <a:p>
            <a:fld id="{A6837353-30EB-4A48-80EB-173D804AEFBD}" type="slidenum">
              <a:rPr lang="en-US" altLang="zh-CN"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
          <p:cNvSpPr>
            <a:spLocks noGrp="1" noRot="1" noChangeAspect="1"/>
          </p:cNvSpPr>
          <p:nvPr>
            <p:ph type="sldImg" idx="2"/>
          </p:nvPr>
        </p:nvSpPr>
        <p:spPr>
          <a:xfrm>
            <a:off x="685800" y="1143000"/>
            <a:ext cx="5486400" cy="3086100"/>
          </a:xfrm>
        </p:spPr>
        <p:txBody>
          <a:bodyPr/>
          <a:lstStyle/>
          <a:p>
            <a:endParaRPr/>
          </a:p>
        </p:txBody>
      </p:sp>
      <p:sp>
        <p:nvSpPr>
          <p:cNvPr id="18" name="文本占位符 2"/>
          <p:cNvSpPr>
            <a:spLocks noGrp="1"/>
          </p:cNvSpPr>
          <p:nvPr>
            <p:ph type="body" idx="3"/>
          </p:nvPr>
        </p:nvSpPr>
        <p:spPr/>
        <p:txBody>
          <a:bodyPr/>
          <a:lstStyle/>
          <a:p>
            <a:r>
              <a:rPr lang="zh-CN" altLang="en-US" dirty="0"/>
              <a:t>感谢两位评委老师和同学们的观看，请两位老师批评指正！</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自定义版式">
    <p:bg>
      <p:bgPr>
        <a:gradFill>
          <a:gsLst>
            <a:gs pos="0">
              <a:srgbClr val="B9B8F1">
                <a:alpha val="30000"/>
              </a:srgbClr>
            </a:gs>
            <a:gs pos="50000">
              <a:srgbClr val="B9B8F1">
                <a:alpha val="0"/>
              </a:srgbClr>
            </a:gs>
          </a:gsLst>
          <a:lin ang="16200000" scaled="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自定义版式">
    <p:bg>
      <p:bgPr>
        <a:gradFill>
          <a:gsLst>
            <a:gs pos="0">
              <a:srgbClr val="B9B8F1">
                <a:alpha val="30000"/>
              </a:srgbClr>
            </a:gs>
            <a:gs pos="50000">
              <a:srgbClr val="B9B8F1">
                <a:alpha val="0"/>
              </a:srgbClr>
            </a:gs>
          </a:gsLst>
          <a:lin ang="16200000" scaled="0"/>
        </a:gradFill>
        <a:effectLst/>
      </p:bgPr>
    </p:bg>
    <p:spTree>
      <p:nvGrpSpPr>
        <p:cNvPr id="1" name=""/>
        <p:cNvGrpSpPr/>
        <p:nvPr/>
      </p:nvGrpSpPr>
      <p:grpSpPr>
        <a:xfrm>
          <a:off x="0" y="0"/>
          <a:ext cx="0" cy="0"/>
          <a:chOff x="0" y="0"/>
          <a:chExt cx="0" cy="0"/>
        </a:xfrm>
      </p:grpSpPr>
      <p:sp>
        <p:nvSpPr>
          <p:cNvPr id="4" name="TextBox 1"/>
          <p:cNvSpPr txBox="1"/>
          <p:nvPr userDrawn="1"/>
        </p:nvSpPr>
        <p:spPr>
          <a:xfrm>
            <a:off x="11759951" y="11315"/>
            <a:ext cx="432049" cy="118430"/>
          </a:xfrm>
          <a:prstGeom prst="rect">
            <a:avLst/>
          </a:prstGeom>
          <a:noFill/>
        </p:spPr>
        <p:txBody>
          <a:bodyPr wrap="square" rtlCol="0">
            <a:spAutoFit/>
          </a:bodyPr>
          <a:lstStyle/>
          <a:p>
            <a:pPr>
              <a:lnSpc>
                <a:spcPct val="200000"/>
              </a:lnSpc>
            </a:pPr>
            <a:r>
              <a:rPr lang="en-US" altLang="zh-CN" sz="100" dirty="0">
                <a:latin typeface="微软雅黑" panose="020B0503020204020204" pitchFamily="34" charset="-122"/>
                <a:ea typeface="微软雅黑" panose="020B0503020204020204" pitchFamily="34" charset="-122"/>
                <a:hlinkClick r:id="rId2"/>
              </a:rPr>
              <a:t>PPT</a:t>
            </a:r>
            <a:r>
              <a:rPr lang="zh-CN" altLang="en-US" sz="100" dirty="0">
                <a:latin typeface="微软雅黑" panose="020B0503020204020204" pitchFamily="34" charset="-122"/>
                <a:ea typeface="微软雅黑" panose="020B0503020204020204" pitchFamily="34" charset="-122"/>
                <a:hlinkClick r:id="rId2"/>
              </a:rPr>
              <a:t>下载</a:t>
            </a:r>
            <a:r>
              <a:rPr lang="zh-CN" altLang="en-US" sz="100" dirty="0">
                <a:latin typeface="微软雅黑" panose="020B0503020204020204" pitchFamily="34" charset="-122"/>
                <a:ea typeface="微软雅黑" panose="020B0503020204020204" pitchFamily="34" charset="-122"/>
              </a:rPr>
              <a:t> </a:t>
            </a:r>
            <a:r>
              <a:rPr lang="en-US" altLang="zh-CN" sz="100" dirty="0">
                <a:latin typeface="微软雅黑" panose="020B0503020204020204" pitchFamily="34" charset="-122"/>
                <a:ea typeface="微软雅黑" panose="020B0503020204020204" pitchFamily="34" charset="-122"/>
              </a:rPr>
              <a:t>http://www.1ppt.com/xiazai/</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自定义版式">
    <p:bg>
      <p:bgPr>
        <a:gradFill>
          <a:gsLst>
            <a:gs pos="0">
              <a:srgbClr val="B9B8F1">
                <a:alpha val="30000"/>
              </a:srgbClr>
            </a:gs>
            <a:gs pos="50000">
              <a:srgbClr val="B9B8F1">
                <a:alpha val="0"/>
              </a:srgbClr>
            </a:gs>
          </a:gsLst>
          <a:lin ang="16200000" scaled="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1" name=""/>
        <p:cNvGrpSpPr/>
        <p:nvPr/>
      </p:nvGrpSpPr>
      <p:grpSpPr>
        <a:xfrm>
          <a:off x="0" y="0"/>
          <a:ext cx="0" cy="0"/>
          <a:chOff x="0" y="0"/>
          <a:chExt cx="0" cy="0"/>
        </a:xfrm>
      </p:grpSpPr>
      <p:sp>
        <p:nvSpPr>
          <p:cNvPr id="7"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8"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a:t>2025/9/18</a:t>
            </a:fld>
            <a:endParaRPr lang="zh-CN" altLang="en-US">
              <a:solidFill>
                <a:prstClr val="black"/>
              </a:solidFill>
            </a:endParaRPr>
          </a:p>
        </p:txBody>
      </p:sp>
      <p:sp>
        <p:nvSpPr>
          <p:cNvPr id="10"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11"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a:t>‹#›</a:t>
            </a:fld>
            <a:endParaRPr lang="zh-CN" altLang="en-US">
              <a:solidFill>
                <a:prstClr val="black"/>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cSld name="垂直排列标题与文本">
    <p:spTree>
      <p:nvGrpSpPr>
        <p:cNvPr id="1" name=""/>
        <p:cNvGrpSpPr/>
        <p:nvPr/>
      </p:nvGrpSpPr>
      <p:grpSpPr>
        <a:xfrm>
          <a:off x="0" y="0"/>
          <a:ext cx="0" cy="0"/>
          <a:chOff x="0" y="0"/>
          <a:chExt cx="0" cy="0"/>
        </a:xfrm>
      </p:grpSpPr>
      <p:sp>
        <p:nvSpPr>
          <p:cNvPr id="13" name="竖排标题 1"/>
          <p:cNvSpPr>
            <a:spLocks noGrp="1"/>
          </p:cNvSpPr>
          <p:nvPr>
            <p:ph type="title" orient="vert"/>
          </p:nvPr>
        </p:nvSpPr>
        <p:spPr>
          <a:xfrm>
            <a:off x="8839200" y="274641"/>
            <a:ext cx="2743200" cy="5851525"/>
          </a:xfrm>
          <a:prstGeom prst="rect">
            <a:avLst/>
          </a:prstGeom>
        </p:spPr>
        <p:txBody>
          <a:bodyPr vert="eaVert"/>
          <a:lstStyle/>
          <a:p>
            <a:r>
              <a:rPr lang="zh-CN" altLang="en-US"/>
              <a:t>单击此处编辑母版标题样式</a:t>
            </a:r>
          </a:p>
        </p:txBody>
      </p:sp>
      <p:sp>
        <p:nvSpPr>
          <p:cNvPr id="14" name="竖排文字占位符 2"/>
          <p:cNvSpPr>
            <a:spLocks noGrp="1"/>
          </p:cNvSpPr>
          <p:nvPr>
            <p:ph type="body" orient="vert" idx="1"/>
          </p:nvPr>
        </p:nvSpPr>
        <p:spPr>
          <a:xfrm>
            <a:off x="609600" y="274641"/>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a:t>2025/9/18</a:t>
            </a:fld>
            <a:endParaRPr lang="zh-CN" altLang="en-US">
              <a:solidFill>
                <a:prstClr val="black"/>
              </a:solidFill>
            </a:endParaRPr>
          </a:p>
        </p:txBody>
      </p:sp>
      <p:sp>
        <p:nvSpPr>
          <p:cNvPr id="16"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17"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a:t>‹#›</a:t>
            </a:fld>
            <a:endParaRPr lang="zh-CN" altLang="en-US">
              <a:solidFill>
                <a:prstClr val="black"/>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10360" algn="l"/>
          <a:tab pos="1610360" algn="l"/>
          <a:tab pos="1610360" algn="l"/>
          <a:tab pos="1610360"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52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4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notesSlide" Target="../notesSlides/notesSlide2.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1.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8.png"/><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17.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6.png"/><Relationship Id="rId4" Type="http://schemas.openxmlformats.org/officeDocument/2006/relationships/tags" Target="../tags/tag29.xml"/><Relationship Id="rId9" Type="http://schemas.openxmlformats.org/officeDocument/2006/relationships/notesSlide" Target="../notesSlides/notesSlide6.xml"/><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tags" Target="../tags/tag45.xml"/><Relationship Id="rId18" Type="http://schemas.openxmlformats.org/officeDocument/2006/relationships/tags" Target="../tags/tag50.xml"/><Relationship Id="rId26" Type="http://schemas.openxmlformats.org/officeDocument/2006/relationships/slideLayout" Target="../slideLayouts/slideLayout2.xml"/><Relationship Id="rId3" Type="http://schemas.openxmlformats.org/officeDocument/2006/relationships/tags" Target="../tags/tag35.xml"/><Relationship Id="rId21" Type="http://schemas.openxmlformats.org/officeDocument/2006/relationships/tags" Target="../tags/tag53.xml"/><Relationship Id="rId7" Type="http://schemas.openxmlformats.org/officeDocument/2006/relationships/tags" Target="../tags/tag39.xml"/><Relationship Id="rId12" Type="http://schemas.openxmlformats.org/officeDocument/2006/relationships/tags" Target="../tags/tag44.xml"/><Relationship Id="rId17" Type="http://schemas.openxmlformats.org/officeDocument/2006/relationships/tags" Target="../tags/tag49.xml"/><Relationship Id="rId25" Type="http://schemas.openxmlformats.org/officeDocument/2006/relationships/tags" Target="../tags/tag57.xml"/><Relationship Id="rId2" Type="http://schemas.openxmlformats.org/officeDocument/2006/relationships/tags" Target="../tags/tag34.xml"/><Relationship Id="rId16" Type="http://schemas.openxmlformats.org/officeDocument/2006/relationships/tags" Target="../tags/tag48.xml"/><Relationship Id="rId20" Type="http://schemas.openxmlformats.org/officeDocument/2006/relationships/tags" Target="../tags/tag52.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24" Type="http://schemas.openxmlformats.org/officeDocument/2006/relationships/tags" Target="../tags/tag56.xml"/><Relationship Id="rId5" Type="http://schemas.openxmlformats.org/officeDocument/2006/relationships/tags" Target="../tags/tag37.xml"/><Relationship Id="rId15" Type="http://schemas.openxmlformats.org/officeDocument/2006/relationships/tags" Target="../tags/tag47.xml"/><Relationship Id="rId23" Type="http://schemas.openxmlformats.org/officeDocument/2006/relationships/tags" Target="../tags/tag55.xml"/><Relationship Id="rId10" Type="http://schemas.openxmlformats.org/officeDocument/2006/relationships/tags" Target="../tags/tag42.xml"/><Relationship Id="rId19" Type="http://schemas.openxmlformats.org/officeDocument/2006/relationships/tags" Target="../tags/tag51.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 Id="rId22" Type="http://schemas.openxmlformats.org/officeDocument/2006/relationships/tags" Target="../tags/tag54.xml"/><Relationship Id="rId2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18" Type="http://schemas.openxmlformats.org/officeDocument/2006/relationships/notesSlide" Target="../notesSlides/notesSlide9.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slideLayout" Target="../slideLayouts/slideLayout2.xml"/><Relationship Id="rId2" Type="http://schemas.openxmlformats.org/officeDocument/2006/relationships/tags" Target="../tags/tag59.xml"/><Relationship Id="rId16" Type="http://schemas.openxmlformats.org/officeDocument/2006/relationships/tags" Target="../tags/tag73.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tags" Target="../tags/tag72.xml"/><Relationship Id="rId10" Type="http://schemas.openxmlformats.org/officeDocument/2006/relationships/tags" Target="../tags/tag67.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4.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0.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hyperlink" Target="https://developer.mozilla.org/zh-CN/docs/Glossary/HTTP"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1.GIF"/></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slideLayout" Target="../slideLayouts/slideLayout2.xml"/><Relationship Id="rId26" Type="http://schemas.openxmlformats.org/officeDocument/2006/relationships/image" Target="../media/image38.png"/><Relationship Id="rId3" Type="http://schemas.openxmlformats.org/officeDocument/2006/relationships/tags" Target="../tags/tag76.xml"/><Relationship Id="rId21" Type="http://schemas.openxmlformats.org/officeDocument/2006/relationships/image" Target="../media/image33.svg"/><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tags" Target="../tags/tag90.xml"/><Relationship Id="rId25" Type="http://schemas.openxmlformats.org/officeDocument/2006/relationships/image" Target="../media/image37.svg"/><Relationship Id="rId2" Type="http://schemas.openxmlformats.org/officeDocument/2006/relationships/tags" Target="../tags/tag75.xml"/><Relationship Id="rId16" Type="http://schemas.openxmlformats.org/officeDocument/2006/relationships/tags" Target="../tags/tag89.xml"/><Relationship Id="rId20" Type="http://schemas.openxmlformats.org/officeDocument/2006/relationships/image" Target="../media/image32.png"/><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24" Type="http://schemas.openxmlformats.org/officeDocument/2006/relationships/image" Target="../media/image36.png"/><Relationship Id="rId5" Type="http://schemas.openxmlformats.org/officeDocument/2006/relationships/tags" Target="../tags/tag78.xml"/><Relationship Id="rId15" Type="http://schemas.openxmlformats.org/officeDocument/2006/relationships/tags" Target="../tags/tag88.xml"/><Relationship Id="rId23" Type="http://schemas.openxmlformats.org/officeDocument/2006/relationships/image" Target="../media/image35.svg"/><Relationship Id="rId10" Type="http://schemas.openxmlformats.org/officeDocument/2006/relationships/tags" Target="../tags/tag83.xml"/><Relationship Id="rId19" Type="http://schemas.openxmlformats.org/officeDocument/2006/relationships/notesSlide" Target="../notesSlides/notesSlide23.xml"/><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 Id="rId22"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8" Type="http://schemas.openxmlformats.org/officeDocument/2006/relationships/tags" Target="../tags/tag98.xml"/><Relationship Id="rId13" Type="http://schemas.openxmlformats.org/officeDocument/2006/relationships/tags" Target="../tags/tag103.xml"/><Relationship Id="rId18" Type="http://schemas.openxmlformats.org/officeDocument/2006/relationships/tags" Target="../tags/tag108.xml"/><Relationship Id="rId26" Type="http://schemas.openxmlformats.org/officeDocument/2006/relationships/slideLayout" Target="../slideLayouts/slideLayout2.xml"/><Relationship Id="rId3" Type="http://schemas.openxmlformats.org/officeDocument/2006/relationships/tags" Target="../tags/tag93.xml"/><Relationship Id="rId21" Type="http://schemas.openxmlformats.org/officeDocument/2006/relationships/tags" Target="../tags/tag111.xml"/><Relationship Id="rId7" Type="http://schemas.openxmlformats.org/officeDocument/2006/relationships/tags" Target="../tags/tag97.xml"/><Relationship Id="rId12" Type="http://schemas.openxmlformats.org/officeDocument/2006/relationships/tags" Target="../tags/tag102.xml"/><Relationship Id="rId17" Type="http://schemas.openxmlformats.org/officeDocument/2006/relationships/tags" Target="../tags/tag107.xml"/><Relationship Id="rId25" Type="http://schemas.openxmlformats.org/officeDocument/2006/relationships/tags" Target="../tags/tag115.xml"/><Relationship Id="rId2" Type="http://schemas.openxmlformats.org/officeDocument/2006/relationships/tags" Target="../tags/tag92.xml"/><Relationship Id="rId16" Type="http://schemas.openxmlformats.org/officeDocument/2006/relationships/tags" Target="../tags/tag106.xml"/><Relationship Id="rId20" Type="http://schemas.openxmlformats.org/officeDocument/2006/relationships/tags" Target="../tags/tag110.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tags" Target="../tags/tag101.xml"/><Relationship Id="rId24" Type="http://schemas.openxmlformats.org/officeDocument/2006/relationships/tags" Target="../tags/tag114.xml"/><Relationship Id="rId5" Type="http://schemas.openxmlformats.org/officeDocument/2006/relationships/tags" Target="../tags/tag95.xml"/><Relationship Id="rId15" Type="http://schemas.openxmlformats.org/officeDocument/2006/relationships/tags" Target="../tags/tag105.xml"/><Relationship Id="rId23" Type="http://schemas.openxmlformats.org/officeDocument/2006/relationships/tags" Target="../tags/tag113.xml"/><Relationship Id="rId10" Type="http://schemas.openxmlformats.org/officeDocument/2006/relationships/tags" Target="../tags/tag100.xml"/><Relationship Id="rId19" Type="http://schemas.openxmlformats.org/officeDocument/2006/relationships/tags" Target="../tags/tag109.xml"/><Relationship Id="rId4" Type="http://schemas.openxmlformats.org/officeDocument/2006/relationships/tags" Target="../tags/tag94.xml"/><Relationship Id="rId9" Type="http://schemas.openxmlformats.org/officeDocument/2006/relationships/tags" Target="../tags/tag99.xml"/><Relationship Id="rId14" Type="http://schemas.openxmlformats.org/officeDocument/2006/relationships/tags" Target="../tags/tag104.xml"/><Relationship Id="rId22" Type="http://schemas.openxmlformats.org/officeDocument/2006/relationships/tags" Target="../tags/tag112.xml"/><Relationship Id="rId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tags" Target="../tags/tag128.xml"/><Relationship Id="rId18" Type="http://schemas.openxmlformats.org/officeDocument/2006/relationships/tags" Target="../tags/tag133.xml"/><Relationship Id="rId26" Type="http://schemas.openxmlformats.org/officeDocument/2006/relationships/slideLayout" Target="../slideLayouts/slideLayout2.xml"/><Relationship Id="rId3" Type="http://schemas.openxmlformats.org/officeDocument/2006/relationships/tags" Target="../tags/tag118.xml"/><Relationship Id="rId21" Type="http://schemas.openxmlformats.org/officeDocument/2006/relationships/tags" Target="../tags/tag136.xml"/><Relationship Id="rId7" Type="http://schemas.openxmlformats.org/officeDocument/2006/relationships/tags" Target="../tags/tag122.xml"/><Relationship Id="rId12" Type="http://schemas.openxmlformats.org/officeDocument/2006/relationships/tags" Target="../tags/tag127.xml"/><Relationship Id="rId17" Type="http://schemas.openxmlformats.org/officeDocument/2006/relationships/tags" Target="../tags/tag132.xml"/><Relationship Id="rId25" Type="http://schemas.openxmlformats.org/officeDocument/2006/relationships/tags" Target="../tags/tag140.xml"/><Relationship Id="rId2" Type="http://schemas.openxmlformats.org/officeDocument/2006/relationships/tags" Target="../tags/tag117.xml"/><Relationship Id="rId16" Type="http://schemas.openxmlformats.org/officeDocument/2006/relationships/tags" Target="../tags/tag131.xml"/><Relationship Id="rId20" Type="http://schemas.openxmlformats.org/officeDocument/2006/relationships/tags" Target="../tags/tag135.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24" Type="http://schemas.openxmlformats.org/officeDocument/2006/relationships/tags" Target="../tags/tag139.xml"/><Relationship Id="rId5" Type="http://schemas.openxmlformats.org/officeDocument/2006/relationships/tags" Target="../tags/tag120.xml"/><Relationship Id="rId15" Type="http://schemas.openxmlformats.org/officeDocument/2006/relationships/tags" Target="../tags/tag130.xml"/><Relationship Id="rId23" Type="http://schemas.openxmlformats.org/officeDocument/2006/relationships/tags" Target="../tags/tag138.xml"/><Relationship Id="rId10" Type="http://schemas.openxmlformats.org/officeDocument/2006/relationships/tags" Target="../tags/tag125.xml"/><Relationship Id="rId19" Type="http://schemas.openxmlformats.org/officeDocument/2006/relationships/tags" Target="../tags/tag134.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tags" Target="../tags/tag129.xml"/><Relationship Id="rId22" Type="http://schemas.openxmlformats.org/officeDocument/2006/relationships/tags" Target="../tags/tag137.xml"/><Relationship Id="rId2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8" Type="http://schemas.openxmlformats.org/officeDocument/2006/relationships/tags" Target="../tags/tag148.xml"/><Relationship Id="rId3" Type="http://schemas.openxmlformats.org/officeDocument/2006/relationships/tags" Target="../tags/tag143.xml"/><Relationship Id="rId7" Type="http://schemas.openxmlformats.org/officeDocument/2006/relationships/tags" Target="../tags/tag147.xml"/><Relationship Id="rId12" Type="http://schemas.openxmlformats.org/officeDocument/2006/relationships/notesSlide" Target="../notesSlides/notesSlide29.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tags" Target="../tags/tag146.xml"/><Relationship Id="rId11" Type="http://schemas.openxmlformats.org/officeDocument/2006/relationships/slideLayout" Target="../slideLayouts/slideLayout2.xml"/><Relationship Id="rId5" Type="http://schemas.openxmlformats.org/officeDocument/2006/relationships/tags" Target="../tags/tag145.xml"/><Relationship Id="rId10" Type="http://schemas.openxmlformats.org/officeDocument/2006/relationships/tags" Target="../tags/tag150.xml"/><Relationship Id="rId4" Type="http://schemas.openxmlformats.org/officeDocument/2006/relationships/tags" Target="../tags/tag144.xml"/><Relationship Id="rId9" Type="http://schemas.openxmlformats.org/officeDocument/2006/relationships/tags" Target="../tags/tag149.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100000">
              <a:srgbClr val="B9B8F1">
                <a:alpha val="0"/>
              </a:srgbClr>
            </a:gs>
          </a:gsLst>
          <a:lin ang="2700000" scaled="0"/>
        </a:gradFill>
        <a:effectLst/>
      </p:bgPr>
    </p:bg>
    <p:spTree>
      <p:nvGrpSpPr>
        <p:cNvPr id="1" name=""/>
        <p:cNvGrpSpPr/>
        <p:nvPr/>
      </p:nvGrpSpPr>
      <p:grpSpPr>
        <a:xfrm>
          <a:off x="0" y="0"/>
          <a:ext cx="0" cy="0"/>
          <a:chOff x="0" y="0"/>
          <a:chExt cx="0" cy="0"/>
        </a:xfrm>
      </p:grpSpPr>
      <p:grpSp>
        <p:nvGrpSpPr>
          <p:cNvPr id="319" name="图形"/>
          <p:cNvGrpSpPr/>
          <p:nvPr/>
        </p:nvGrpSpPr>
        <p:grpSpPr>
          <a:xfrm>
            <a:off x="-477520" y="-918210"/>
            <a:ext cx="13608685" cy="8778875"/>
            <a:chOff x="-752" y="-1446"/>
            <a:chExt cx="21431" cy="13825"/>
          </a:xfrm>
        </p:grpSpPr>
        <p:sp>
          <p:nvSpPr>
            <p:cNvPr id="320" name="图形"/>
            <p:cNvSpPr/>
            <p:nvPr/>
          </p:nvSpPr>
          <p:spPr>
            <a:xfrm>
              <a:off x="6615" y="3293"/>
              <a:ext cx="14065" cy="9087"/>
            </a:xfrm>
            <a:custGeom>
              <a:avLst/>
              <a:gdLst>
                <a:gd name="connisteX0" fmla="*/ 9347106 w 9897757"/>
                <a:gd name="connsiteY0" fmla="*/ 834042 h 6394217"/>
                <a:gd name="connisteX1" fmla="*/ 7890416 w 9897757"/>
                <a:gd name="connsiteY1" fmla="*/ 218092 h 6394217"/>
                <a:gd name="connisteX2" fmla="*/ 6573426 w 9897757"/>
                <a:gd name="connsiteY2" fmla="*/ 2052607 h 6394217"/>
                <a:gd name="connisteX3" fmla="*/ 4206146 w 9897757"/>
                <a:gd name="connsiteY3" fmla="*/ 3159412 h 6394217"/>
                <a:gd name="connisteX4" fmla="*/ 970821 w 9897757"/>
                <a:gd name="connsiteY4" fmla="*/ 4391947 h 6394217"/>
                <a:gd name="connisteX5" fmla="*/ 284386 w 9897757"/>
                <a:gd name="connsiteY5" fmla="*/ 5848637 h 6394217"/>
                <a:gd name="connisteX6" fmla="*/ 4192176 w 9897757"/>
                <a:gd name="connsiteY6" fmla="*/ 6002942 h 6394217"/>
                <a:gd name="connisteX7" fmla="*/ 9375046 w 9897757"/>
                <a:gd name="connsiteY7" fmla="*/ 5905152 h 6394217"/>
                <a:gd name="connisteX8" fmla="*/ 9347106 w 9897757"/>
                <a:gd name="connsiteY8" fmla="*/ 834042 h 639421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l" t="t" r="r" b="b"/>
              <a:pathLst>
                <a:path w="9897758" h="6394217">
                  <a:moveTo>
                    <a:pt x="9347107" y="834043"/>
                  </a:moveTo>
                  <a:cubicBezTo>
                    <a:pt x="9049927" y="-303242"/>
                    <a:pt x="8445407" y="-25747"/>
                    <a:pt x="7890417" y="218093"/>
                  </a:cubicBezTo>
                  <a:cubicBezTo>
                    <a:pt x="7335427" y="461933"/>
                    <a:pt x="7310027" y="1464598"/>
                    <a:pt x="6573427" y="2052608"/>
                  </a:cubicBezTo>
                  <a:cubicBezTo>
                    <a:pt x="5836827" y="2640618"/>
                    <a:pt x="5326922" y="2691418"/>
                    <a:pt x="4206147" y="3159413"/>
                  </a:cubicBezTo>
                  <a:cubicBezTo>
                    <a:pt x="3085372" y="3627408"/>
                    <a:pt x="1755047" y="3854103"/>
                    <a:pt x="970822" y="4391948"/>
                  </a:cubicBezTo>
                  <a:cubicBezTo>
                    <a:pt x="186597" y="4929793"/>
                    <a:pt x="-360138" y="5526693"/>
                    <a:pt x="284387" y="5848638"/>
                  </a:cubicBezTo>
                  <a:cubicBezTo>
                    <a:pt x="928912" y="6170583"/>
                    <a:pt x="2374172" y="5991513"/>
                    <a:pt x="4192177" y="6002943"/>
                  </a:cubicBezTo>
                  <a:cubicBezTo>
                    <a:pt x="6010182" y="6014373"/>
                    <a:pt x="8343807" y="6938933"/>
                    <a:pt x="9375047" y="5905153"/>
                  </a:cubicBezTo>
                  <a:cubicBezTo>
                    <a:pt x="10406287" y="4871373"/>
                    <a:pt x="9644287" y="1971328"/>
                    <a:pt x="9347107" y="834043"/>
                  </a:cubicBezTo>
                  <a:close/>
                </a:path>
              </a:pathLst>
            </a:custGeom>
            <a:gradFill>
              <a:gsLst>
                <a:gs pos="0">
                  <a:srgbClr val="B9B8F1">
                    <a:alpha val="30000"/>
                  </a:srgbClr>
                </a:gs>
                <a:gs pos="100000">
                  <a:srgbClr val="B9B8F1">
                    <a:alpha val="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321" name="图形" descr="5b601be008d16"/>
            <p:cNvPicPr>
              <a:picLocks noChangeAspect="1"/>
            </p:cNvPicPr>
            <p:nvPr/>
          </p:nvPicPr>
          <p:blipFill>
            <a:blip r:embed="rId3"/>
            <a:stretch>
              <a:fillRect/>
            </a:stretch>
          </p:blipFill>
          <p:spPr>
            <a:xfrm>
              <a:off x="10060" y="5500"/>
              <a:ext cx="8588" cy="5013"/>
            </a:xfrm>
            <a:prstGeom prst="rect">
              <a:avLst/>
            </a:prstGeom>
          </p:spPr>
        </p:pic>
        <p:sp>
          <p:nvSpPr>
            <p:cNvPr id="32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323" name="图形"/>
          <p:cNvGrpSpPr/>
          <p:nvPr/>
        </p:nvGrpSpPr>
        <p:grpSpPr>
          <a:xfrm>
            <a:off x="606426" y="6099810"/>
            <a:ext cx="1716405" cy="396240"/>
            <a:chOff x="955" y="9606"/>
            <a:chExt cx="2703" cy="624"/>
          </a:xfrm>
        </p:grpSpPr>
        <p:grpSp>
          <p:nvGrpSpPr>
            <p:cNvPr id="324" name="组合 10"/>
            <p:cNvGrpSpPr/>
            <p:nvPr/>
          </p:nvGrpSpPr>
          <p:grpSpPr>
            <a:xfrm>
              <a:off x="955" y="9607"/>
              <a:ext cx="623" cy="623"/>
              <a:chOff x="911" y="9739"/>
              <a:chExt cx="512" cy="512"/>
            </a:xfrm>
          </p:grpSpPr>
          <p:sp>
            <p:nvSpPr>
              <p:cNvPr id="325" name="图形"/>
              <p:cNvSpPr/>
              <p:nvPr/>
            </p:nvSpPr>
            <p:spPr>
              <a:xfrm>
                <a:off x="911" y="9739"/>
                <a:ext cx="513" cy="513"/>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326" name="图形" descr="3b333634333230383bb5e7c4d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0" y="9828"/>
                <a:ext cx="335" cy="335"/>
              </a:xfrm>
              <a:prstGeom prst="rect">
                <a:avLst/>
              </a:prstGeom>
            </p:spPr>
          </p:pic>
        </p:grpSp>
        <p:grpSp>
          <p:nvGrpSpPr>
            <p:cNvPr id="327" name="组合 15"/>
            <p:cNvGrpSpPr/>
            <p:nvPr/>
          </p:nvGrpSpPr>
          <p:grpSpPr>
            <a:xfrm>
              <a:off x="1994" y="9606"/>
              <a:ext cx="624" cy="624"/>
              <a:chOff x="1994" y="9606"/>
              <a:chExt cx="624" cy="624"/>
            </a:xfrm>
          </p:grpSpPr>
          <p:sp>
            <p:nvSpPr>
              <p:cNvPr id="328" name="图形"/>
              <p:cNvSpPr/>
              <p:nvPr/>
            </p:nvSpPr>
            <p:spPr>
              <a:xfrm>
                <a:off x="1994" y="9606"/>
                <a:ext cx="624" cy="624"/>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329" name="图形" descr="3b343132373739303bcbd1cbf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51" y="9763"/>
                <a:ext cx="311" cy="311"/>
              </a:xfrm>
              <a:prstGeom prst="rect">
                <a:avLst/>
              </a:prstGeom>
            </p:spPr>
          </p:pic>
        </p:grpSp>
        <p:grpSp>
          <p:nvGrpSpPr>
            <p:cNvPr id="330" name="组合 20"/>
            <p:cNvGrpSpPr/>
            <p:nvPr/>
          </p:nvGrpSpPr>
          <p:grpSpPr>
            <a:xfrm>
              <a:off x="3034" y="9606"/>
              <a:ext cx="624" cy="624"/>
              <a:chOff x="3034" y="9606"/>
              <a:chExt cx="624" cy="624"/>
            </a:xfrm>
          </p:grpSpPr>
          <p:sp>
            <p:nvSpPr>
              <p:cNvPr id="331" name="图形"/>
              <p:cNvSpPr/>
              <p:nvPr/>
            </p:nvSpPr>
            <p:spPr>
              <a:xfrm>
                <a:off x="3034" y="9606"/>
                <a:ext cx="624" cy="624"/>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332" name="图形" descr="3b333635363535343bcdf8c2e7"/>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77" y="9749"/>
                <a:ext cx="338" cy="338"/>
              </a:xfrm>
              <a:prstGeom prst="rect">
                <a:avLst/>
              </a:prstGeom>
            </p:spPr>
          </p:pic>
        </p:grpSp>
      </p:grpSp>
      <p:grpSp>
        <p:nvGrpSpPr>
          <p:cNvPr id="334" name="图形"/>
          <p:cNvGrpSpPr/>
          <p:nvPr/>
        </p:nvGrpSpPr>
        <p:grpSpPr>
          <a:xfrm>
            <a:off x="4022725" y="1762125"/>
            <a:ext cx="5725796" cy="1443990"/>
            <a:chOff x="6335" y="2610"/>
            <a:chExt cx="9017" cy="2274"/>
          </a:xfrm>
        </p:grpSpPr>
        <p:sp>
          <p:nvSpPr>
            <p:cNvPr id="335" name="图形"/>
            <p:cNvSpPr txBox="1"/>
            <p:nvPr/>
          </p:nvSpPr>
          <p:spPr>
            <a:xfrm>
              <a:off x="6335" y="2610"/>
              <a:ext cx="9017" cy="1557"/>
            </a:xfrm>
            <a:prstGeom prst="rect">
              <a:avLst/>
            </a:prstGeom>
            <a:noFill/>
          </p:spPr>
          <p:txBody>
            <a:bodyPr wrap="square" lIns="0" tIns="0" rIns="0" bIns="0" rtlCol="0">
              <a:noAutofit/>
            </a:bodyPr>
            <a:lstStyle/>
            <a:p>
              <a:pPr algn="dist"/>
              <a:r>
                <a:rPr lang="zh-CN" altLang="en-US" sz="7200" b="1" dirty="0">
                  <a:solidFill>
                    <a:srgbClr val="566CD3"/>
                  </a:solidFill>
                  <a:latin typeface="Arial" panose="020B0604020202020204"/>
                  <a:ea typeface="微软雅黑" panose="020B0503020204020204" pitchFamily="34" charset="-122"/>
                  <a:cs typeface="思源黑体 Normal" panose="020B0400000000000000" charset="-122"/>
                  <a:sym typeface="Arial" panose="020B0604020202020204"/>
                </a:rPr>
                <a:t>项目展示汇报</a:t>
              </a:r>
            </a:p>
          </p:txBody>
        </p:sp>
        <p:sp>
          <p:nvSpPr>
            <p:cNvPr id="336" name="图形"/>
            <p:cNvSpPr txBox="1"/>
            <p:nvPr/>
          </p:nvSpPr>
          <p:spPr>
            <a:xfrm>
              <a:off x="6335" y="4400"/>
              <a:ext cx="4601" cy="484"/>
            </a:xfrm>
            <a:prstGeom prst="rect">
              <a:avLst/>
            </a:prstGeom>
            <a:noFill/>
          </p:spPr>
          <p:txBody>
            <a:bodyPr wrap="square" lIns="0" tIns="0" rIns="0" bIns="0" rtlCol="0">
              <a:spAutoFit/>
            </a:bodyPr>
            <a:lstStyle/>
            <a:p>
              <a:pPr algn="dist"/>
              <a:r>
                <a:rPr lang="zh-CN" altLang="en-US" sz="2000">
                  <a:solidFill>
                    <a:schemeClr val="tx1">
                      <a:lumMod val="65000"/>
                      <a:lumOff val="35000"/>
                    </a:schemeClr>
                  </a:solidFill>
                  <a:latin typeface="Arial" panose="020B0604020202020204"/>
                  <a:ea typeface="微软雅黑" panose="020B0503020204020204" pitchFamily="34" charset="-122"/>
                  <a:cs typeface="思源黑体 Normal" panose="020B0400000000000000" charset="-122"/>
                  <a:sym typeface="Arial" panose="020B0604020202020204"/>
                </a:rPr>
                <a:t> </a:t>
              </a:r>
              <a:r>
                <a:rPr lang="en-US" altLang="zh-CN" sz="2000">
                  <a:solidFill>
                    <a:schemeClr val="tx1">
                      <a:lumMod val="65000"/>
                      <a:lumOff val="35000"/>
                    </a:schemeClr>
                  </a:solidFill>
                  <a:latin typeface="Arial" panose="020B0604020202020204"/>
                  <a:ea typeface="微软雅黑" panose="020B0503020204020204" pitchFamily="34" charset="-122"/>
                  <a:cs typeface="思源黑体 Normal" panose="020B0400000000000000" charset="-122"/>
                  <a:sym typeface="Arial" panose="020B0604020202020204"/>
                </a:rPr>
                <a:t>MIND INK</a:t>
              </a:r>
            </a:p>
          </p:txBody>
        </p:sp>
      </p:grpSp>
      <p:sp>
        <p:nvSpPr>
          <p:cNvPr id="337" name="图形"/>
          <p:cNvSpPr/>
          <p:nvPr/>
        </p:nvSpPr>
        <p:spPr>
          <a:xfrm>
            <a:off x="606426" y="1689735"/>
            <a:ext cx="1516380" cy="1516380"/>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r>
              <a:rPr lang="zh-CN" altLang="en-US" sz="8800" b="1" dirty="0">
                <a:latin typeface="Arial" panose="020B0604020202020204"/>
                <a:ea typeface="微软雅黑" panose="020B0503020204020204" pitchFamily="34" charset="-122"/>
                <a:cs typeface="思源黑体 Normal" panose="020B0400000000000000" charset="-122"/>
                <a:sym typeface="Arial" panose="020B0604020202020204"/>
              </a:rPr>
              <a:t>文</a:t>
            </a:r>
          </a:p>
        </p:txBody>
      </p:sp>
      <p:sp>
        <p:nvSpPr>
          <p:cNvPr id="338" name="图形"/>
          <p:cNvSpPr/>
          <p:nvPr/>
        </p:nvSpPr>
        <p:spPr>
          <a:xfrm>
            <a:off x="2235835" y="1689735"/>
            <a:ext cx="1516380" cy="1516380"/>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r>
              <a:rPr lang="zh-CN" altLang="en-US" sz="8800" b="1">
                <a:latin typeface="Arial" panose="020B0604020202020204"/>
                <a:ea typeface="微软雅黑" panose="020B0503020204020204" pitchFamily="34" charset="-122"/>
                <a:cs typeface="思源黑体 Normal" panose="020B0400000000000000" charset="-122"/>
                <a:sym typeface="Arial" panose="020B0604020202020204"/>
              </a:rPr>
              <a:t>枢</a:t>
            </a:r>
          </a:p>
        </p:txBody>
      </p:sp>
      <p:sp>
        <p:nvSpPr>
          <p:cNvPr id="339" name="文本框 18"/>
          <p:cNvSpPr txBox="1"/>
          <p:nvPr/>
        </p:nvSpPr>
        <p:spPr>
          <a:xfrm>
            <a:off x="512844" y="4269422"/>
            <a:ext cx="5651101" cy="1477328"/>
          </a:xfrm>
          <a:prstGeom prst="rect">
            <a:avLst/>
          </a:prstGeom>
          <a:noFill/>
        </p:spPr>
        <p:txBody>
          <a:bodyPr wrap="square" rtlCol="0">
            <a:spAutoFit/>
          </a:bodyPr>
          <a:lstStyle/>
          <a:p>
            <a:pPr>
              <a:lnSpc>
                <a:spcPct val="150000"/>
              </a:lnSpc>
            </a:pPr>
            <a:r>
              <a:rPr lang="zh-CN" dirty="0">
                <a:latin typeface="宋体" panose="02010600030101010101" pitchFamily="2" charset="-122"/>
                <a:ea typeface="宋体" panose="02010600030101010101" pitchFamily="2" charset="-122"/>
              </a:rPr>
              <a:t>小组成员：</a:t>
            </a:r>
            <a:r>
              <a:rPr lang="en-US" altLang="zh-CN" dirty="0">
                <a:latin typeface="宋体" panose="02010600030101010101" pitchFamily="2" charset="-122"/>
                <a:ea typeface="宋体" panose="02010600030101010101" pitchFamily="2" charset="-122"/>
              </a:rPr>
              <a:t> </a:t>
            </a:r>
            <a:r>
              <a:rPr lang="zh-CN" dirty="0">
                <a:latin typeface="宋体" panose="02010600030101010101" pitchFamily="2" charset="-122"/>
                <a:ea typeface="宋体" panose="02010600030101010101" pitchFamily="2" charset="-122"/>
              </a:rPr>
              <a:t>金俊贤、辛文康、张逸天、</a:t>
            </a:r>
            <a:r>
              <a:rPr lang="en-US" altLang="zh-CN" dirty="0">
                <a:latin typeface="宋体" panose="02010600030101010101" pitchFamily="2" charset="-122"/>
                <a:ea typeface="宋体" panose="02010600030101010101" pitchFamily="2" charset="-122"/>
              </a:rPr>
              <a:t>		   </a:t>
            </a:r>
            <a:r>
              <a:rPr lang="zh-CN" dirty="0">
                <a:latin typeface="宋体" panose="02010600030101010101" pitchFamily="2" charset="-122"/>
                <a:ea typeface="宋体" panose="02010600030101010101" pitchFamily="2" charset="-122"/>
              </a:rPr>
              <a:t>冯乐珩、苗涵、许方璐</a:t>
            </a:r>
            <a:endParaRPr lang="en-US"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zh-CN" dirty="0">
                <a:latin typeface="宋体" panose="02010600030101010101" pitchFamily="2" charset="-122"/>
                <a:ea typeface="宋体" panose="02010600030101010101" pitchFamily="2" charset="-122"/>
              </a:rPr>
              <a:t>指导老师</a:t>
            </a:r>
            <a:r>
              <a:rPr lang="zh-CN" altLang="en-US" dirty="0">
                <a:latin typeface="宋体" panose="02010600030101010101" pitchFamily="2" charset="-122"/>
                <a:ea typeface="宋体" panose="02010600030101010101" pitchFamily="2" charset="-122"/>
              </a:rPr>
              <a:t>： </a:t>
            </a:r>
            <a:r>
              <a:rPr lang="zh-CN" dirty="0">
                <a:latin typeface="宋体" panose="02010600030101010101" pitchFamily="2" charset="-122"/>
                <a:ea typeface="宋体" panose="02010600030101010101" pitchFamily="2" charset="-122"/>
              </a:rPr>
              <a:t>杨强</a:t>
            </a:r>
            <a:r>
              <a:rPr lang="en-US" altLang="zh-CN" dirty="0">
                <a:latin typeface="宋体" panose="02010600030101010101" pitchFamily="2" charset="-122"/>
                <a:ea typeface="宋体" panose="02010600030101010101" pitchFamily="2" charset="-122"/>
              </a:rPr>
              <a:t> </a:t>
            </a:r>
            <a:endParaRPr lang="en-US" dirty="0"/>
          </a:p>
        </p:txBody>
      </p:sp>
      <p:pic>
        <p:nvPicPr>
          <p:cNvPr id="15" name="图片 14"/>
          <p:cNvPicPr>
            <a:picLocks noChangeAspect="1"/>
          </p:cNvPicPr>
          <p:nvPr/>
        </p:nvPicPr>
        <p:blipFill>
          <a:blip r:embed="rId10"/>
          <a:stretch>
            <a:fillRect/>
          </a:stretch>
        </p:blipFill>
        <p:spPr>
          <a:xfrm>
            <a:off x="9503410" y="508000"/>
            <a:ext cx="876935" cy="876935"/>
          </a:xfrm>
          <a:prstGeom prst="rect">
            <a:avLst/>
          </a:prstGeom>
        </p:spPr>
      </p:pic>
      <p:sp>
        <p:nvSpPr>
          <p:cNvPr id="16" name="文本框 15"/>
          <p:cNvSpPr txBox="1"/>
          <p:nvPr/>
        </p:nvSpPr>
        <p:spPr>
          <a:xfrm>
            <a:off x="10380345" y="605155"/>
            <a:ext cx="1461770" cy="942340"/>
          </a:xfrm>
          <a:prstGeom prst="rect">
            <a:avLst/>
          </a:prstGeom>
          <a:noFill/>
        </p:spPr>
        <p:txBody>
          <a:bodyPr wrap="square" rtlCol="0">
            <a:noAutofit/>
          </a:bodyPr>
          <a:lstStyle/>
          <a:p>
            <a:r>
              <a:rPr lang="zh-CN" altLang="en-US" sz="4000" b="1">
                <a:ln/>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nvGrpSpPr>
          <p:cNvPr id="19" name="组合 18"/>
          <p:cNvGrpSpPr/>
          <p:nvPr/>
        </p:nvGrpSpPr>
        <p:grpSpPr>
          <a:xfrm>
            <a:off x="9503410" y="508000"/>
            <a:ext cx="2338705" cy="1039495"/>
            <a:chOff x="14966" y="800"/>
            <a:chExt cx="3683" cy="1637"/>
          </a:xfrm>
        </p:grpSpPr>
        <p:pic>
          <p:nvPicPr>
            <p:cNvPr id="17" name="图片 16"/>
            <p:cNvPicPr>
              <a:picLocks noChangeAspect="1"/>
            </p:cNvPicPr>
            <p:nvPr/>
          </p:nvPicPr>
          <p:blipFill>
            <a:blip r:embed="rId10"/>
            <a:stretch>
              <a:fillRect/>
            </a:stretch>
          </p:blipFill>
          <p:spPr>
            <a:xfrm>
              <a:off x="14966" y="800"/>
              <a:ext cx="1381" cy="1381"/>
            </a:xfrm>
            <a:prstGeom prst="rect">
              <a:avLst/>
            </a:prstGeom>
          </p:spPr>
        </p:pic>
        <p:sp>
          <p:nvSpPr>
            <p:cNvPr id="18" name="文本框 17"/>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9"/>
                                        </p:tgtEl>
                                        <p:attrNameLst>
                                          <p:attrName>style.visibility</p:attrName>
                                        </p:attrNameLst>
                                      </p:cBhvr>
                                      <p:to>
                                        <p:strVal val="visible"/>
                                      </p:to>
                                    </p:set>
                                    <p:animEffect transition="in" filter="fade">
                                      <p:cBhvr>
                                        <p:cTn id="7" dur="500"/>
                                        <p:tgtEl>
                                          <p:spTgt spid="319"/>
                                        </p:tgtEl>
                                      </p:cBhvr>
                                    </p:animEffect>
                                  </p:childTnLst>
                                </p:cTn>
                              </p:par>
                              <p:par>
                                <p:cTn id="8" presetID="10" presetClass="entr" presetSubtype="0" fill="hold" nodeType="withEffect">
                                  <p:stCondLst>
                                    <p:cond delay="0"/>
                                  </p:stCondLst>
                                  <p:childTnLst>
                                    <p:set>
                                      <p:cBhvr>
                                        <p:cTn id="9" dur="1" fill="hold">
                                          <p:stCondLst>
                                            <p:cond delay="0"/>
                                          </p:stCondLst>
                                        </p:cTn>
                                        <p:tgtEl>
                                          <p:spTgt spid="323"/>
                                        </p:tgtEl>
                                        <p:attrNameLst>
                                          <p:attrName>style.visibility</p:attrName>
                                        </p:attrNameLst>
                                      </p:cBhvr>
                                      <p:to>
                                        <p:strVal val="visible"/>
                                      </p:to>
                                    </p:set>
                                    <p:animEffect transition="in" filter="fade">
                                      <p:cBhvr>
                                        <p:cTn id="10" dur="500"/>
                                        <p:tgtEl>
                                          <p:spTgt spid="323"/>
                                        </p:tgtEl>
                                      </p:cBhvr>
                                    </p:animEffect>
                                  </p:childTnLst>
                                </p:cTn>
                              </p:par>
                            </p:childTnLst>
                          </p:cTn>
                        </p:par>
                        <p:par>
                          <p:cTn id="11" fill="hold">
                            <p:stCondLst>
                              <p:cond delay="500"/>
                            </p:stCondLst>
                            <p:childTnLst>
                              <p:par>
                                <p:cTn id="12" presetID="47" presetClass="entr" presetSubtype="0" fill="hold" grpId="0" nodeType="afterEffect">
                                  <p:stCondLst>
                                    <p:cond delay="0"/>
                                  </p:stCondLst>
                                  <p:childTnLst>
                                    <p:set>
                                      <p:cBhvr>
                                        <p:cTn id="13" dur="1" fill="hold">
                                          <p:stCondLst>
                                            <p:cond delay="0"/>
                                          </p:stCondLst>
                                        </p:cTn>
                                        <p:tgtEl>
                                          <p:spTgt spid="337"/>
                                        </p:tgtEl>
                                        <p:attrNameLst>
                                          <p:attrName>style.visibility</p:attrName>
                                        </p:attrNameLst>
                                      </p:cBhvr>
                                      <p:to>
                                        <p:strVal val="visible"/>
                                      </p:to>
                                    </p:set>
                                    <p:animEffect transition="in" filter="fade">
                                      <p:cBhvr>
                                        <p:cTn id="14" dur="1000"/>
                                        <p:tgtEl>
                                          <p:spTgt spid="337"/>
                                        </p:tgtEl>
                                      </p:cBhvr>
                                    </p:animEffect>
                                    <p:anim calcmode="lin" valueType="num">
                                      <p:cBhvr>
                                        <p:cTn id="15" dur="1000" fill="hold"/>
                                        <p:tgtEl>
                                          <p:spTgt spid="337"/>
                                        </p:tgtEl>
                                        <p:attrNameLst>
                                          <p:attrName>ppt_x</p:attrName>
                                        </p:attrNameLst>
                                      </p:cBhvr>
                                      <p:tavLst>
                                        <p:tav tm="0">
                                          <p:val>
                                            <p:strVal val="#ppt_x"/>
                                          </p:val>
                                        </p:tav>
                                        <p:tav tm="100000">
                                          <p:val>
                                            <p:strVal val="#ppt_x"/>
                                          </p:val>
                                        </p:tav>
                                      </p:tavLst>
                                    </p:anim>
                                    <p:anim calcmode="lin" valueType="num">
                                      <p:cBhvr>
                                        <p:cTn id="16" dur="1000" fill="hold"/>
                                        <p:tgtEl>
                                          <p:spTgt spid="337"/>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338"/>
                                        </p:tgtEl>
                                        <p:attrNameLst>
                                          <p:attrName>style.visibility</p:attrName>
                                        </p:attrNameLst>
                                      </p:cBhvr>
                                      <p:to>
                                        <p:strVal val="visible"/>
                                      </p:to>
                                    </p:set>
                                    <p:animEffect transition="in" filter="fade">
                                      <p:cBhvr>
                                        <p:cTn id="19" dur="1000"/>
                                        <p:tgtEl>
                                          <p:spTgt spid="338"/>
                                        </p:tgtEl>
                                      </p:cBhvr>
                                    </p:animEffect>
                                    <p:anim calcmode="lin" valueType="num">
                                      <p:cBhvr>
                                        <p:cTn id="20" dur="1000" fill="hold"/>
                                        <p:tgtEl>
                                          <p:spTgt spid="338"/>
                                        </p:tgtEl>
                                        <p:attrNameLst>
                                          <p:attrName>ppt_x</p:attrName>
                                        </p:attrNameLst>
                                      </p:cBhvr>
                                      <p:tavLst>
                                        <p:tav tm="0">
                                          <p:val>
                                            <p:strVal val="#ppt_x"/>
                                          </p:val>
                                        </p:tav>
                                        <p:tav tm="100000">
                                          <p:val>
                                            <p:strVal val="#ppt_x"/>
                                          </p:val>
                                        </p:tav>
                                      </p:tavLst>
                                    </p:anim>
                                    <p:anim calcmode="lin" valueType="num">
                                      <p:cBhvr>
                                        <p:cTn id="21" dur="1000" fill="hold"/>
                                        <p:tgtEl>
                                          <p:spTgt spid="338"/>
                                        </p:tgtEl>
                                        <p:attrNameLst>
                                          <p:attrName>ppt_y</p:attrName>
                                        </p:attrNameLst>
                                      </p:cBhvr>
                                      <p:tavLst>
                                        <p:tav tm="0">
                                          <p:val>
                                            <p:strVal val="#ppt_y-.1"/>
                                          </p:val>
                                        </p:tav>
                                        <p:tav tm="100000">
                                          <p:val>
                                            <p:strVal val="#ppt_y"/>
                                          </p:val>
                                        </p:tav>
                                      </p:tavLst>
                                    </p:anim>
                                  </p:childTnLst>
                                </p:cTn>
                              </p:par>
                              <p:par>
                                <p:cTn id="22" presetID="47" presetClass="entr" presetSubtype="0" fill="hold" nodeType="withEffect">
                                  <p:stCondLst>
                                    <p:cond delay="0"/>
                                  </p:stCondLst>
                                  <p:childTnLst>
                                    <p:set>
                                      <p:cBhvr>
                                        <p:cTn id="23" dur="1" fill="hold">
                                          <p:stCondLst>
                                            <p:cond delay="0"/>
                                          </p:stCondLst>
                                        </p:cTn>
                                        <p:tgtEl>
                                          <p:spTgt spid="334"/>
                                        </p:tgtEl>
                                        <p:attrNameLst>
                                          <p:attrName>style.visibility</p:attrName>
                                        </p:attrNameLst>
                                      </p:cBhvr>
                                      <p:to>
                                        <p:strVal val="visible"/>
                                      </p:to>
                                    </p:set>
                                    <p:animEffect transition="in" filter="fade">
                                      <p:cBhvr>
                                        <p:cTn id="24" dur="1000"/>
                                        <p:tgtEl>
                                          <p:spTgt spid="334"/>
                                        </p:tgtEl>
                                      </p:cBhvr>
                                    </p:animEffect>
                                    <p:anim calcmode="lin" valueType="num">
                                      <p:cBhvr>
                                        <p:cTn id="25" dur="1000" fill="hold"/>
                                        <p:tgtEl>
                                          <p:spTgt spid="334"/>
                                        </p:tgtEl>
                                        <p:attrNameLst>
                                          <p:attrName>ppt_x</p:attrName>
                                        </p:attrNameLst>
                                      </p:cBhvr>
                                      <p:tavLst>
                                        <p:tav tm="0">
                                          <p:val>
                                            <p:strVal val="#ppt_x"/>
                                          </p:val>
                                        </p:tav>
                                        <p:tav tm="100000">
                                          <p:val>
                                            <p:strVal val="#ppt_x"/>
                                          </p:val>
                                        </p:tav>
                                      </p:tavLst>
                                    </p:anim>
                                    <p:anim calcmode="lin" valueType="num">
                                      <p:cBhvr>
                                        <p:cTn id="26" dur="1000" fill="hold"/>
                                        <p:tgtEl>
                                          <p:spTgt spid="334"/>
                                        </p:tgtEl>
                                        <p:attrNameLst>
                                          <p:attrName>ppt_y</p:attrName>
                                        </p:attrNameLst>
                                      </p:cBhvr>
                                      <p:tavLst>
                                        <p:tav tm="0">
                                          <p:val>
                                            <p:strVal val="#ppt_y-.1"/>
                                          </p:val>
                                        </p:tav>
                                        <p:tav tm="100000">
                                          <p:val>
                                            <p:strVal val="#ppt_y"/>
                                          </p:val>
                                        </p:tav>
                                      </p:tavLst>
                                    </p:anim>
                                  </p:childTnLst>
                                </p:cTn>
                              </p:par>
                            </p:childTnLst>
                          </p:cTn>
                        </p:par>
                        <p:par>
                          <p:cTn id="27" fill="hold">
                            <p:stCondLst>
                              <p:cond delay="1500"/>
                            </p:stCondLst>
                            <p:childTnLst>
                              <p:par>
                                <p:cTn id="28" presetID="47" presetClass="entr" presetSubtype="0" fill="hold" grpId="0" nodeType="afterEffect">
                                  <p:stCondLst>
                                    <p:cond delay="0"/>
                                  </p:stCondLst>
                                  <p:childTnLst>
                                    <p:set>
                                      <p:cBhvr>
                                        <p:cTn id="29" dur="1" fill="hold">
                                          <p:stCondLst>
                                            <p:cond delay="0"/>
                                          </p:stCondLst>
                                        </p:cTn>
                                        <p:tgtEl>
                                          <p:spTgt spid="339"/>
                                        </p:tgtEl>
                                        <p:attrNameLst>
                                          <p:attrName>style.visibility</p:attrName>
                                        </p:attrNameLst>
                                      </p:cBhvr>
                                      <p:to>
                                        <p:strVal val="visible"/>
                                      </p:to>
                                    </p:set>
                                    <p:animEffect transition="in" filter="fade">
                                      <p:cBhvr>
                                        <p:cTn id="30" dur="1000"/>
                                        <p:tgtEl>
                                          <p:spTgt spid="339"/>
                                        </p:tgtEl>
                                      </p:cBhvr>
                                    </p:animEffect>
                                    <p:anim calcmode="lin" valueType="num">
                                      <p:cBhvr>
                                        <p:cTn id="31" dur="1000" fill="hold"/>
                                        <p:tgtEl>
                                          <p:spTgt spid="339"/>
                                        </p:tgtEl>
                                        <p:attrNameLst>
                                          <p:attrName>ppt_x</p:attrName>
                                        </p:attrNameLst>
                                      </p:cBhvr>
                                      <p:tavLst>
                                        <p:tav tm="0">
                                          <p:val>
                                            <p:strVal val="#ppt_x"/>
                                          </p:val>
                                        </p:tav>
                                        <p:tav tm="100000">
                                          <p:val>
                                            <p:strVal val="#ppt_x"/>
                                          </p:val>
                                        </p:tav>
                                      </p:tavLst>
                                    </p:anim>
                                    <p:anim calcmode="lin" valueType="num">
                                      <p:cBhvr>
                                        <p:cTn id="32" dur="1000" fill="hold"/>
                                        <p:tgtEl>
                                          <p:spTgt spid="3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bldLst>
      <p:bldP spid="337" grpId="0" animBg="1"/>
      <p:bldP spid="338" grpId="0" animBg="1"/>
      <p:bldP spid="33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100000">
              <a:srgbClr val="B9B8F1">
                <a:alpha val="0"/>
              </a:srgbClr>
            </a:gs>
          </a:gsLst>
          <a:lin ang="5400000" scaled="0"/>
        </a:gradFill>
        <a:effectLst/>
      </p:bgPr>
    </p:bg>
    <p:spTree>
      <p:nvGrpSpPr>
        <p:cNvPr id="1" name=""/>
        <p:cNvGrpSpPr/>
        <p:nvPr/>
      </p:nvGrpSpPr>
      <p:grpSpPr>
        <a:xfrm>
          <a:off x="0" y="0"/>
          <a:ext cx="0" cy="0"/>
          <a:chOff x="0" y="0"/>
          <a:chExt cx="0" cy="0"/>
        </a:xfrm>
      </p:grpSpPr>
      <p:grpSp>
        <p:nvGrpSpPr>
          <p:cNvPr id="980" name="图形"/>
          <p:cNvGrpSpPr/>
          <p:nvPr/>
        </p:nvGrpSpPr>
        <p:grpSpPr>
          <a:xfrm>
            <a:off x="-1838325" y="2101215"/>
            <a:ext cx="7066915" cy="5651500"/>
            <a:chOff x="-3112" y="1731"/>
            <a:chExt cx="11661" cy="10641"/>
          </a:xfrm>
        </p:grpSpPr>
        <p:sp>
          <p:nvSpPr>
            <p:cNvPr id="981" name="图形"/>
            <p:cNvSpPr/>
            <p:nvPr/>
          </p:nvSpPr>
          <p:spPr>
            <a:xfrm rot="1860000" flipH="1">
              <a:off x="-3112" y="5932"/>
              <a:ext cx="11629" cy="6440"/>
            </a:xfrm>
            <a:custGeom>
              <a:avLst/>
              <a:gdLst>
                <a:gd name="connsiteX0" fmla="*/ 0 w 5366"/>
                <a:gd name="connsiteY0" fmla="*/ 1514 h 3473"/>
                <a:gd name="connsiteX1" fmla="*/ 592 w 5366"/>
                <a:gd name="connsiteY1" fmla="*/ 44 h 3473"/>
                <a:gd name="connsiteX2" fmla="*/ 1597 w 5366"/>
                <a:gd name="connsiteY2" fmla="*/ 548 h 3473"/>
                <a:gd name="connsiteX3" fmla="*/ 2559 w 5366"/>
                <a:gd name="connsiteY3" fmla="*/ 0 h 3473"/>
                <a:gd name="connsiteX4" fmla="*/ 3751 w 5366"/>
                <a:gd name="connsiteY4" fmla="*/ 656 h 3473"/>
                <a:gd name="connsiteX5" fmla="*/ 4637 w 5366"/>
                <a:gd name="connsiteY5" fmla="*/ 109 h 3473"/>
                <a:gd name="connsiteX6" fmla="*/ 5366 w 5366"/>
                <a:gd name="connsiteY6" fmla="*/ 1581 h 3473"/>
                <a:gd name="connsiteX7" fmla="*/ 5022 w 5366"/>
                <a:gd name="connsiteY7" fmla="*/ 2678 h 3473"/>
                <a:gd name="connsiteX8" fmla="*/ 2683 w 5366"/>
                <a:gd name="connsiteY8" fmla="*/ 3469 h 3473"/>
                <a:gd name="connsiteX9" fmla="*/ 0 w 5366"/>
                <a:gd name="connsiteY9" fmla="*/ 1514 h 3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66" h="3473">
                  <a:moveTo>
                    <a:pt x="0" y="1514"/>
                  </a:moveTo>
                  <a:cubicBezTo>
                    <a:pt x="0" y="803"/>
                    <a:pt x="146" y="44"/>
                    <a:pt x="592" y="44"/>
                  </a:cubicBezTo>
                  <a:cubicBezTo>
                    <a:pt x="1073" y="44"/>
                    <a:pt x="1300" y="525"/>
                    <a:pt x="1597" y="548"/>
                  </a:cubicBezTo>
                  <a:cubicBezTo>
                    <a:pt x="1938" y="456"/>
                    <a:pt x="2037" y="65"/>
                    <a:pt x="2559" y="0"/>
                  </a:cubicBezTo>
                  <a:cubicBezTo>
                    <a:pt x="3110" y="176"/>
                    <a:pt x="3350" y="597"/>
                    <a:pt x="3751" y="656"/>
                  </a:cubicBezTo>
                  <a:cubicBezTo>
                    <a:pt x="4145" y="620"/>
                    <a:pt x="4348" y="175"/>
                    <a:pt x="4637" y="109"/>
                  </a:cubicBezTo>
                  <a:cubicBezTo>
                    <a:pt x="5082" y="109"/>
                    <a:pt x="5366" y="870"/>
                    <a:pt x="5366" y="1581"/>
                  </a:cubicBezTo>
                  <a:cubicBezTo>
                    <a:pt x="5339" y="2195"/>
                    <a:pt x="5311" y="2305"/>
                    <a:pt x="5022" y="2678"/>
                  </a:cubicBezTo>
                  <a:cubicBezTo>
                    <a:pt x="4761" y="3051"/>
                    <a:pt x="3129" y="3469"/>
                    <a:pt x="2683" y="3469"/>
                  </a:cubicBezTo>
                  <a:cubicBezTo>
                    <a:pt x="1527" y="3534"/>
                    <a:pt x="192" y="2832"/>
                    <a:pt x="0" y="1514"/>
                  </a:cubicBezTo>
                  <a:close/>
                </a:path>
              </a:pathLst>
            </a:custGeom>
            <a:gradFill>
              <a:gsLst>
                <a:gs pos="0">
                  <a:srgbClr val="B9B8F1">
                    <a:alpha val="30000"/>
                  </a:srgbClr>
                </a:gs>
                <a:gs pos="100000">
                  <a:srgbClr val="B9B8F1">
                    <a:alpha val="0"/>
                  </a:srgbClr>
                </a:gs>
              </a:gsLst>
              <a:lin ang="13500000" scaled="0"/>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982" name="图形" descr="5b601c8d9ac09"/>
            <p:cNvPicPr>
              <a:picLocks noChangeAspect="1"/>
            </p:cNvPicPr>
            <p:nvPr/>
          </p:nvPicPr>
          <p:blipFill>
            <a:blip r:embed="rId27"/>
            <a:stretch>
              <a:fillRect/>
            </a:stretch>
          </p:blipFill>
          <p:spPr>
            <a:xfrm>
              <a:off x="469" y="4231"/>
              <a:ext cx="8081" cy="5400"/>
            </a:xfrm>
            <a:prstGeom prst="rect">
              <a:avLst/>
            </a:prstGeom>
          </p:spPr>
        </p:pic>
        <p:grpSp>
          <p:nvGrpSpPr>
            <p:cNvPr id="983" name="组合 285"/>
            <p:cNvGrpSpPr/>
            <p:nvPr/>
          </p:nvGrpSpPr>
          <p:grpSpPr>
            <a:xfrm>
              <a:off x="-839" y="1731"/>
              <a:ext cx="3099" cy="1190"/>
              <a:chOff x="7213" y="4529"/>
              <a:chExt cx="3642" cy="1398"/>
            </a:xfrm>
            <a:solidFill>
              <a:srgbClr val="B9B8F1"/>
            </a:solidFill>
          </p:grpSpPr>
          <p:sp>
            <p:nvSpPr>
              <p:cNvPr id="984" name="图形"/>
              <p:cNvSpPr/>
              <p:nvPr/>
            </p:nvSpPr>
            <p:spPr>
              <a:xfrm>
                <a:off x="7213" y="4529"/>
                <a:ext cx="15" cy="9"/>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 h="9">
                    <a:moveTo>
                      <a:pt x="0" y="0"/>
                    </a:moveTo>
                    <a:lnTo>
                      <a:pt x="15" y="0"/>
                    </a:lnTo>
                    <a:lnTo>
                      <a:pt x="13" y="3"/>
                    </a:lnTo>
                    <a:lnTo>
                      <a:pt x="9" y="9"/>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85" name="图形"/>
              <p:cNvSpPr/>
              <p:nvPr/>
            </p:nvSpPr>
            <p:spPr>
              <a:xfrm>
                <a:off x="7213" y="5914"/>
                <a:ext cx="24" cy="1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4" h="13">
                    <a:moveTo>
                      <a:pt x="13" y="0"/>
                    </a:moveTo>
                    <a:lnTo>
                      <a:pt x="13" y="0"/>
                    </a:lnTo>
                    <a:cubicBezTo>
                      <a:pt x="16" y="4"/>
                      <a:pt x="19" y="8"/>
                      <a:pt x="23" y="12"/>
                    </a:cubicBezTo>
                    <a:lnTo>
                      <a:pt x="24" y="13"/>
                    </a:lnTo>
                    <a:lnTo>
                      <a:pt x="0" y="13"/>
                    </a:lnTo>
                    <a:lnTo>
                      <a:pt x="1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86" name="图形"/>
              <p:cNvSpPr/>
              <p:nvPr/>
            </p:nvSpPr>
            <p:spPr>
              <a:xfrm>
                <a:off x="10143" y="5794"/>
                <a:ext cx="128" cy="12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28" h="128">
                    <a:moveTo>
                      <a:pt x="77" y="0"/>
                    </a:moveTo>
                    <a:cubicBezTo>
                      <a:pt x="96" y="0"/>
                      <a:pt x="113" y="7"/>
                      <a:pt x="126" y="18"/>
                    </a:cubicBezTo>
                    <a:lnTo>
                      <a:pt x="128" y="19"/>
                    </a:lnTo>
                    <a:lnTo>
                      <a:pt x="19" y="128"/>
                    </a:lnTo>
                    <a:lnTo>
                      <a:pt x="18" y="126"/>
                    </a:lnTo>
                    <a:cubicBezTo>
                      <a:pt x="7" y="113"/>
                      <a:pt x="0" y="96"/>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87" name="图形"/>
              <p:cNvSpPr/>
              <p:nvPr/>
            </p:nvSpPr>
            <p:spPr>
              <a:xfrm>
                <a:off x="9850" y="5794"/>
                <a:ext cx="154" cy="13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33">
                    <a:moveTo>
                      <a:pt x="77" y="0"/>
                    </a:moveTo>
                    <a:cubicBezTo>
                      <a:pt x="120" y="0"/>
                      <a:pt x="154" y="34"/>
                      <a:pt x="154" y="77"/>
                    </a:cubicBezTo>
                    <a:cubicBezTo>
                      <a:pt x="154" y="98"/>
                      <a:pt x="145" y="118"/>
                      <a:pt x="131" y="131"/>
                    </a:cubicBezTo>
                    <a:lnTo>
                      <a:pt x="130" y="133"/>
                    </a:lnTo>
                    <a:lnTo>
                      <a:pt x="24" y="133"/>
                    </a:lnTo>
                    <a:lnTo>
                      <a:pt x="23" y="131"/>
                    </a:lnTo>
                    <a:cubicBezTo>
                      <a:pt x="9" y="118"/>
                      <a:pt x="0" y="98"/>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88" name="图形"/>
              <p:cNvSpPr/>
              <p:nvPr/>
            </p:nvSpPr>
            <p:spPr>
              <a:xfrm>
                <a:off x="9557" y="5794"/>
                <a:ext cx="154" cy="13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33">
                    <a:moveTo>
                      <a:pt x="77" y="0"/>
                    </a:moveTo>
                    <a:cubicBezTo>
                      <a:pt x="120" y="0"/>
                      <a:pt x="154" y="34"/>
                      <a:pt x="154" y="77"/>
                    </a:cubicBezTo>
                    <a:cubicBezTo>
                      <a:pt x="154" y="98"/>
                      <a:pt x="145" y="118"/>
                      <a:pt x="131" y="131"/>
                    </a:cubicBezTo>
                    <a:lnTo>
                      <a:pt x="130" y="133"/>
                    </a:lnTo>
                    <a:lnTo>
                      <a:pt x="24" y="133"/>
                    </a:lnTo>
                    <a:lnTo>
                      <a:pt x="23" y="131"/>
                    </a:lnTo>
                    <a:cubicBezTo>
                      <a:pt x="9" y="118"/>
                      <a:pt x="0" y="98"/>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89" name="图形"/>
              <p:cNvSpPr/>
              <p:nvPr/>
            </p:nvSpPr>
            <p:spPr>
              <a:xfrm>
                <a:off x="9264" y="5794"/>
                <a:ext cx="154" cy="13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33">
                    <a:moveTo>
                      <a:pt x="77" y="0"/>
                    </a:moveTo>
                    <a:cubicBezTo>
                      <a:pt x="120" y="0"/>
                      <a:pt x="154" y="34"/>
                      <a:pt x="154" y="77"/>
                    </a:cubicBezTo>
                    <a:cubicBezTo>
                      <a:pt x="154" y="98"/>
                      <a:pt x="145" y="118"/>
                      <a:pt x="131" y="131"/>
                    </a:cubicBezTo>
                    <a:lnTo>
                      <a:pt x="130" y="133"/>
                    </a:lnTo>
                    <a:lnTo>
                      <a:pt x="24" y="133"/>
                    </a:lnTo>
                    <a:lnTo>
                      <a:pt x="23" y="131"/>
                    </a:lnTo>
                    <a:cubicBezTo>
                      <a:pt x="9" y="118"/>
                      <a:pt x="0" y="98"/>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0" name="图形"/>
              <p:cNvSpPr/>
              <p:nvPr/>
            </p:nvSpPr>
            <p:spPr>
              <a:xfrm>
                <a:off x="8971" y="5794"/>
                <a:ext cx="154" cy="13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33">
                    <a:moveTo>
                      <a:pt x="77" y="0"/>
                    </a:moveTo>
                    <a:cubicBezTo>
                      <a:pt x="120" y="0"/>
                      <a:pt x="154" y="34"/>
                      <a:pt x="154" y="77"/>
                    </a:cubicBezTo>
                    <a:cubicBezTo>
                      <a:pt x="154" y="98"/>
                      <a:pt x="145" y="118"/>
                      <a:pt x="131" y="131"/>
                    </a:cubicBezTo>
                    <a:lnTo>
                      <a:pt x="130" y="133"/>
                    </a:lnTo>
                    <a:lnTo>
                      <a:pt x="24" y="133"/>
                    </a:lnTo>
                    <a:lnTo>
                      <a:pt x="23" y="131"/>
                    </a:lnTo>
                    <a:cubicBezTo>
                      <a:pt x="9" y="118"/>
                      <a:pt x="0" y="98"/>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1" name="图形"/>
              <p:cNvSpPr/>
              <p:nvPr/>
            </p:nvSpPr>
            <p:spPr>
              <a:xfrm>
                <a:off x="8678" y="5794"/>
                <a:ext cx="154" cy="13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33">
                    <a:moveTo>
                      <a:pt x="77" y="0"/>
                    </a:moveTo>
                    <a:cubicBezTo>
                      <a:pt x="120" y="0"/>
                      <a:pt x="154" y="34"/>
                      <a:pt x="154" y="77"/>
                    </a:cubicBezTo>
                    <a:cubicBezTo>
                      <a:pt x="154" y="98"/>
                      <a:pt x="145" y="118"/>
                      <a:pt x="131" y="131"/>
                    </a:cubicBezTo>
                    <a:lnTo>
                      <a:pt x="130" y="133"/>
                    </a:lnTo>
                    <a:lnTo>
                      <a:pt x="24" y="133"/>
                    </a:lnTo>
                    <a:lnTo>
                      <a:pt x="23" y="131"/>
                    </a:lnTo>
                    <a:cubicBezTo>
                      <a:pt x="9" y="118"/>
                      <a:pt x="0" y="98"/>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2" name="图形"/>
              <p:cNvSpPr/>
              <p:nvPr/>
            </p:nvSpPr>
            <p:spPr>
              <a:xfrm>
                <a:off x="8385" y="5794"/>
                <a:ext cx="154" cy="13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33">
                    <a:moveTo>
                      <a:pt x="77" y="0"/>
                    </a:moveTo>
                    <a:cubicBezTo>
                      <a:pt x="120" y="0"/>
                      <a:pt x="154" y="34"/>
                      <a:pt x="154" y="77"/>
                    </a:cubicBezTo>
                    <a:cubicBezTo>
                      <a:pt x="154" y="98"/>
                      <a:pt x="145" y="118"/>
                      <a:pt x="131" y="131"/>
                    </a:cubicBezTo>
                    <a:lnTo>
                      <a:pt x="130" y="133"/>
                    </a:lnTo>
                    <a:lnTo>
                      <a:pt x="24" y="133"/>
                    </a:lnTo>
                    <a:lnTo>
                      <a:pt x="23" y="131"/>
                    </a:lnTo>
                    <a:cubicBezTo>
                      <a:pt x="9" y="118"/>
                      <a:pt x="0" y="98"/>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3" name="图形"/>
              <p:cNvSpPr/>
              <p:nvPr/>
            </p:nvSpPr>
            <p:spPr>
              <a:xfrm>
                <a:off x="8092" y="5794"/>
                <a:ext cx="154" cy="13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33">
                    <a:moveTo>
                      <a:pt x="77" y="0"/>
                    </a:moveTo>
                    <a:cubicBezTo>
                      <a:pt x="120" y="0"/>
                      <a:pt x="154" y="34"/>
                      <a:pt x="154" y="77"/>
                    </a:cubicBezTo>
                    <a:cubicBezTo>
                      <a:pt x="154" y="98"/>
                      <a:pt x="145" y="118"/>
                      <a:pt x="131" y="131"/>
                    </a:cubicBezTo>
                    <a:lnTo>
                      <a:pt x="130" y="133"/>
                    </a:lnTo>
                    <a:lnTo>
                      <a:pt x="24" y="133"/>
                    </a:lnTo>
                    <a:lnTo>
                      <a:pt x="23" y="131"/>
                    </a:lnTo>
                    <a:cubicBezTo>
                      <a:pt x="9" y="118"/>
                      <a:pt x="0" y="98"/>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4" name="图形"/>
              <p:cNvSpPr/>
              <p:nvPr/>
            </p:nvSpPr>
            <p:spPr>
              <a:xfrm>
                <a:off x="7799" y="5794"/>
                <a:ext cx="154" cy="13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33">
                    <a:moveTo>
                      <a:pt x="77" y="0"/>
                    </a:moveTo>
                    <a:cubicBezTo>
                      <a:pt x="120" y="0"/>
                      <a:pt x="154" y="34"/>
                      <a:pt x="154" y="77"/>
                    </a:cubicBezTo>
                    <a:cubicBezTo>
                      <a:pt x="154" y="98"/>
                      <a:pt x="145" y="118"/>
                      <a:pt x="131" y="131"/>
                    </a:cubicBezTo>
                    <a:lnTo>
                      <a:pt x="130" y="133"/>
                    </a:lnTo>
                    <a:lnTo>
                      <a:pt x="24" y="133"/>
                    </a:lnTo>
                    <a:lnTo>
                      <a:pt x="23" y="131"/>
                    </a:lnTo>
                    <a:cubicBezTo>
                      <a:pt x="9" y="118"/>
                      <a:pt x="0" y="98"/>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5" name="图形"/>
              <p:cNvSpPr/>
              <p:nvPr/>
            </p:nvSpPr>
            <p:spPr>
              <a:xfrm>
                <a:off x="7506" y="5794"/>
                <a:ext cx="154" cy="13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33">
                    <a:moveTo>
                      <a:pt x="77" y="0"/>
                    </a:moveTo>
                    <a:cubicBezTo>
                      <a:pt x="120" y="0"/>
                      <a:pt x="154" y="34"/>
                      <a:pt x="154" y="77"/>
                    </a:cubicBezTo>
                    <a:cubicBezTo>
                      <a:pt x="154" y="98"/>
                      <a:pt x="145" y="118"/>
                      <a:pt x="131" y="131"/>
                    </a:cubicBezTo>
                    <a:lnTo>
                      <a:pt x="130" y="133"/>
                    </a:lnTo>
                    <a:lnTo>
                      <a:pt x="24" y="133"/>
                    </a:lnTo>
                    <a:lnTo>
                      <a:pt x="23" y="131"/>
                    </a:lnTo>
                    <a:cubicBezTo>
                      <a:pt x="9" y="118"/>
                      <a:pt x="0" y="98"/>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6" name="图形"/>
              <p:cNvSpPr/>
              <p:nvPr/>
            </p:nvSpPr>
            <p:spPr>
              <a:xfrm>
                <a:off x="7226" y="5807"/>
                <a:ext cx="141" cy="12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41" h="120">
                    <a:moveTo>
                      <a:pt x="107" y="0"/>
                    </a:moveTo>
                    <a:lnTo>
                      <a:pt x="107" y="0"/>
                    </a:lnTo>
                    <a:cubicBezTo>
                      <a:pt x="127" y="14"/>
                      <a:pt x="141" y="37"/>
                      <a:pt x="141" y="64"/>
                    </a:cubicBezTo>
                    <a:cubicBezTo>
                      <a:pt x="141" y="85"/>
                      <a:pt x="132" y="104"/>
                      <a:pt x="118" y="118"/>
                    </a:cubicBezTo>
                    <a:lnTo>
                      <a:pt x="117" y="120"/>
                    </a:lnTo>
                    <a:lnTo>
                      <a:pt x="11" y="120"/>
                    </a:lnTo>
                    <a:lnTo>
                      <a:pt x="9" y="118"/>
                    </a:lnTo>
                    <a:cubicBezTo>
                      <a:pt x="6" y="115"/>
                      <a:pt x="3" y="111"/>
                      <a:pt x="0" y="107"/>
                    </a:cubicBezTo>
                    <a:lnTo>
                      <a:pt x="0" y="107"/>
                    </a:lnTo>
                    <a:lnTo>
                      <a:pt x="10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7" name="图形"/>
              <p:cNvSpPr/>
              <p:nvPr/>
            </p:nvSpPr>
            <p:spPr>
              <a:xfrm>
                <a:off x="10436" y="5578"/>
                <a:ext cx="69" cy="69"/>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9" h="69">
                    <a:moveTo>
                      <a:pt x="69" y="0"/>
                    </a:moveTo>
                    <a:lnTo>
                      <a:pt x="0" y="69"/>
                    </a:lnTo>
                    <a:lnTo>
                      <a:pt x="0" y="69"/>
                    </a:lnTo>
                    <a:cubicBezTo>
                      <a:pt x="4" y="33"/>
                      <a:pt x="33" y="4"/>
                      <a:pt x="69" y="0"/>
                    </a:cubicBezTo>
                    <a:lnTo>
                      <a:pt x="6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8" name="图形"/>
              <p:cNvSpPr/>
              <p:nvPr/>
            </p:nvSpPr>
            <p:spPr>
              <a:xfrm>
                <a:off x="10143"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99" name="图形"/>
              <p:cNvSpPr/>
              <p:nvPr/>
            </p:nvSpPr>
            <p:spPr>
              <a:xfrm>
                <a:off x="9850"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0" name="图形"/>
              <p:cNvSpPr/>
              <p:nvPr/>
            </p:nvSpPr>
            <p:spPr>
              <a:xfrm>
                <a:off x="9557"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1" name="图形"/>
              <p:cNvSpPr/>
              <p:nvPr/>
            </p:nvSpPr>
            <p:spPr>
              <a:xfrm>
                <a:off x="9264"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2" name="图形"/>
              <p:cNvSpPr/>
              <p:nvPr/>
            </p:nvSpPr>
            <p:spPr>
              <a:xfrm>
                <a:off x="8971"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3" name="图形"/>
              <p:cNvSpPr/>
              <p:nvPr/>
            </p:nvSpPr>
            <p:spPr>
              <a:xfrm>
                <a:off x="8678"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4" name="图形"/>
              <p:cNvSpPr/>
              <p:nvPr/>
            </p:nvSpPr>
            <p:spPr>
              <a:xfrm>
                <a:off x="8385"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5" name="图形"/>
              <p:cNvSpPr/>
              <p:nvPr/>
            </p:nvSpPr>
            <p:spPr>
              <a:xfrm>
                <a:off x="8092"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6" name="图形"/>
              <p:cNvSpPr/>
              <p:nvPr/>
            </p:nvSpPr>
            <p:spPr>
              <a:xfrm>
                <a:off x="7799"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7" name="图形"/>
              <p:cNvSpPr/>
              <p:nvPr/>
            </p:nvSpPr>
            <p:spPr>
              <a:xfrm>
                <a:off x="7506" y="5578"/>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69"/>
                      <a:pt x="1" y="61"/>
                      <a:pt x="3" y="54"/>
                    </a:cubicBezTo>
                    <a:lnTo>
                      <a:pt x="4" y="52"/>
                    </a:lnTo>
                    <a:lnTo>
                      <a:pt x="52" y="4"/>
                    </a:lnTo>
                    <a:lnTo>
                      <a:pt x="54" y="3"/>
                    </a:lnTo>
                    <a:cubicBezTo>
                      <a:pt x="61" y="1"/>
                      <a:pt x="69"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8" name="图形"/>
              <p:cNvSpPr/>
              <p:nvPr/>
            </p:nvSpPr>
            <p:spPr>
              <a:xfrm>
                <a:off x="7510" y="5582"/>
                <a:ext cx="47" cy="47"/>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7" h="47">
                    <a:moveTo>
                      <a:pt x="47" y="0"/>
                    </a:moveTo>
                    <a:lnTo>
                      <a:pt x="0" y="47"/>
                    </a:lnTo>
                    <a:lnTo>
                      <a:pt x="2" y="43"/>
                    </a:lnTo>
                    <a:cubicBezTo>
                      <a:pt x="9" y="24"/>
                      <a:pt x="24" y="9"/>
                      <a:pt x="43" y="2"/>
                    </a:cubicBezTo>
                    <a:lnTo>
                      <a:pt x="4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09" name="图形"/>
              <p:cNvSpPr/>
              <p:nvPr/>
            </p:nvSpPr>
            <p:spPr>
              <a:xfrm>
                <a:off x="10436"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0" name="图形"/>
              <p:cNvSpPr/>
              <p:nvPr/>
            </p:nvSpPr>
            <p:spPr>
              <a:xfrm>
                <a:off x="10143"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1" name="图形"/>
              <p:cNvSpPr/>
              <p:nvPr/>
            </p:nvSpPr>
            <p:spPr>
              <a:xfrm>
                <a:off x="9850"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2" name="图形"/>
              <p:cNvSpPr/>
              <p:nvPr/>
            </p:nvSpPr>
            <p:spPr>
              <a:xfrm>
                <a:off x="9557"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3" name="图形"/>
              <p:cNvSpPr/>
              <p:nvPr/>
            </p:nvSpPr>
            <p:spPr>
              <a:xfrm>
                <a:off x="9264"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4" name="图形"/>
              <p:cNvSpPr/>
              <p:nvPr/>
            </p:nvSpPr>
            <p:spPr>
              <a:xfrm>
                <a:off x="8971"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5" name="图形"/>
              <p:cNvSpPr/>
              <p:nvPr/>
            </p:nvSpPr>
            <p:spPr>
              <a:xfrm>
                <a:off x="8678"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6" name="图形"/>
              <p:cNvSpPr/>
              <p:nvPr/>
            </p:nvSpPr>
            <p:spPr>
              <a:xfrm>
                <a:off x="8385"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7" name="图形"/>
              <p:cNvSpPr/>
              <p:nvPr/>
            </p:nvSpPr>
            <p:spPr>
              <a:xfrm>
                <a:off x="8092"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8" name="图形"/>
              <p:cNvSpPr/>
              <p:nvPr/>
            </p:nvSpPr>
            <p:spPr>
              <a:xfrm>
                <a:off x="7799" y="5362"/>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19" name="图形"/>
              <p:cNvSpPr/>
              <p:nvPr/>
            </p:nvSpPr>
            <p:spPr>
              <a:xfrm>
                <a:off x="10729" y="5151"/>
                <a:ext cx="127" cy="14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27" h="146">
                    <a:moveTo>
                      <a:pt x="50" y="0"/>
                    </a:moveTo>
                    <a:lnTo>
                      <a:pt x="127" y="77"/>
                    </a:lnTo>
                    <a:lnTo>
                      <a:pt x="58" y="146"/>
                    </a:lnTo>
                    <a:lnTo>
                      <a:pt x="54" y="146"/>
                    </a:lnTo>
                    <a:cubicBezTo>
                      <a:pt x="23" y="136"/>
                      <a:pt x="0" y="107"/>
                      <a:pt x="0" y="72"/>
                    </a:cubicBezTo>
                    <a:cubicBezTo>
                      <a:pt x="0" y="40"/>
                      <a:pt x="19" y="13"/>
                      <a:pt x="47" y="1"/>
                    </a:cubicBezTo>
                    <a:lnTo>
                      <a:pt x="5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0" name="图形"/>
              <p:cNvSpPr/>
              <p:nvPr/>
            </p:nvSpPr>
            <p:spPr>
              <a:xfrm>
                <a:off x="10436" y="5146"/>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1" name="图形"/>
              <p:cNvSpPr/>
              <p:nvPr/>
            </p:nvSpPr>
            <p:spPr>
              <a:xfrm>
                <a:off x="10143" y="5146"/>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2" name="图形"/>
              <p:cNvSpPr/>
              <p:nvPr/>
            </p:nvSpPr>
            <p:spPr>
              <a:xfrm>
                <a:off x="9850" y="5146"/>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3" name="图形"/>
              <p:cNvSpPr/>
              <p:nvPr/>
            </p:nvSpPr>
            <p:spPr>
              <a:xfrm>
                <a:off x="9557" y="5146"/>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4" name="图形"/>
              <p:cNvSpPr/>
              <p:nvPr/>
            </p:nvSpPr>
            <p:spPr>
              <a:xfrm>
                <a:off x="9264" y="5146"/>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5" name="图形"/>
              <p:cNvSpPr/>
              <p:nvPr/>
            </p:nvSpPr>
            <p:spPr>
              <a:xfrm>
                <a:off x="8971" y="5146"/>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6" name="图形"/>
              <p:cNvSpPr/>
              <p:nvPr/>
            </p:nvSpPr>
            <p:spPr>
              <a:xfrm>
                <a:off x="8678" y="5146"/>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7" name="图形"/>
              <p:cNvSpPr/>
              <p:nvPr/>
            </p:nvSpPr>
            <p:spPr>
              <a:xfrm>
                <a:off x="8385" y="5146"/>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8" name="图形"/>
              <p:cNvSpPr/>
              <p:nvPr/>
            </p:nvSpPr>
            <p:spPr>
              <a:xfrm>
                <a:off x="8092" y="5146"/>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29" name="图形"/>
              <p:cNvSpPr/>
              <p:nvPr/>
            </p:nvSpPr>
            <p:spPr>
              <a:xfrm>
                <a:off x="7839" y="5146"/>
                <a:ext cx="11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14" h="154">
                    <a:moveTo>
                      <a:pt x="37" y="0"/>
                    </a:moveTo>
                    <a:cubicBezTo>
                      <a:pt x="79" y="0"/>
                      <a:pt x="114" y="34"/>
                      <a:pt x="114" y="77"/>
                    </a:cubicBezTo>
                    <a:cubicBezTo>
                      <a:pt x="114" y="120"/>
                      <a:pt x="79" y="154"/>
                      <a:pt x="37" y="154"/>
                    </a:cubicBezTo>
                    <a:cubicBezTo>
                      <a:pt x="29" y="154"/>
                      <a:pt x="21" y="153"/>
                      <a:pt x="14" y="151"/>
                    </a:cubicBezTo>
                    <a:lnTo>
                      <a:pt x="7" y="148"/>
                    </a:lnTo>
                    <a:lnTo>
                      <a:pt x="73" y="82"/>
                    </a:lnTo>
                    <a:lnTo>
                      <a:pt x="0" y="9"/>
                    </a:lnTo>
                    <a:lnTo>
                      <a:pt x="0" y="9"/>
                    </a:lnTo>
                    <a:cubicBezTo>
                      <a:pt x="11" y="3"/>
                      <a:pt x="23" y="0"/>
                      <a:pt x="3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0" name="图形"/>
              <p:cNvSpPr/>
              <p:nvPr/>
            </p:nvSpPr>
            <p:spPr>
              <a:xfrm>
                <a:off x="10436"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1" name="图形"/>
              <p:cNvSpPr/>
              <p:nvPr/>
            </p:nvSpPr>
            <p:spPr>
              <a:xfrm>
                <a:off x="10143"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2" name="图形"/>
              <p:cNvSpPr/>
              <p:nvPr/>
            </p:nvSpPr>
            <p:spPr>
              <a:xfrm>
                <a:off x="9850"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3" name="图形"/>
              <p:cNvSpPr/>
              <p:nvPr/>
            </p:nvSpPr>
            <p:spPr>
              <a:xfrm>
                <a:off x="9557"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4" name="图形"/>
              <p:cNvSpPr/>
              <p:nvPr/>
            </p:nvSpPr>
            <p:spPr>
              <a:xfrm>
                <a:off x="9264"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5" name="图形"/>
              <p:cNvSpPr/>
              <p:nvPr/>
            </p:nvSpPr>
            <p:spPr>
              <a:xfrm>
                <a:off x="8971"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6" name="图形"/>
              <p:cNvSpPr/>
              <p:nvPr/>
            </p:nvSpPr>
            <p:spPr>
              <a:xfrm>
                <a:off x="8678"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7" name="图形"/>
              <p:cNvSpPr/>
              <p:nvPr/>
            </p:nvSpPr>
            <p:spPr>
              <a:xfrm>
                <a:off x="8385"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8" name="图形"/>
              <p:cNvSpPr/>
              <p:nvPr/>
            </p:nvSpPr>
            <p:spPr>
              <a:xfrm>
                <a:off x="8092"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39" name="图形"/>
              <p:cNvSpPr/>
              <p:nvPr/>
            </p:nvSpPr>
            <p:spPr>
              <a:xfrm>
                <a:off x="7799" y="4930"/>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0" name="图形"/>
              <p:cNvSpPr/>
              <p:nvPr/>
            </p:nvSpPr>
            <p:spPr>
              <a:xfrm>
                <a:off x="7630" y="4946"/>
                <a:ext cx="13" cy="1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3" h="13">
                    <a:moveTo>
                      <a:pt x="0" y="0"/>
                    </a:moveTo>
                    <a:lnTo>
                      <a:pt x="2" y="1"/>
                    </a:lnTo>
                    <a:cubicBezTo>
                      <a:pt x="5" y="4"/>
                      <a:pt x="9" y="8"/>
                      <a:pt x="12" y="12"/>
                    </a:cubicBezTo>
                    <a:lnTo>
                      <a:pt x="13" y="13"/>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1" name="图形"/>
              <p:cNvSpPr/>
              <p:nvPr/>
            </p:nvSpPr>
            <p:spPr>
              <a:xfrm>
                <a:off x="10439" y="4811"/>
                <a:ext cx="55" cy="5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5" h="55">
                    <a:moveTo>
                      <a:pt x="0" y="0"/>
                    </a:moveTo>
                    <a:lnTo>
                      <a:pt x="55" y="55"/>
                    </a:lnTo>
                    <a:lnTo>
                      <a:pt x="51" y="54"/>
                    </a:lnTo>
                    <a:cubicBezTo>
                      <a:pt x="27" y="46"/>
                      <a:pt x="8" y="27"/>
                      <a:pt x="1" y="3"/>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2" name="图形"/>
              <p:cNvSpPr/>
              <p:nvPr/>
            </p:nvSpPr>
            <p:spPr>
              <a:xfrm>
                <a:off x="10143"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3" name="图形"/>
              <p:cNvSpPr/>
              <p:nvPr/>
            </p:nvSpPr>
            <p:spPr>
              <a:xfrm>
                <a:off x="9850"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4" name="图形"/>
              <p:cNvSpPr/>
              <p:nvPr/>
            </p:nvSpPr>
            <p:spPr>
              <a:xfrm>
                <a:off x="9557"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5" name="图形"/>
              <p:cNvSpPr/>
              <p:nvPr/>
            </p:nvSpPr>
            <p:spPr>
              <a:xfrm>
                <a:off x="9264"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6" name="图形"/>
              <p:cNvSpPr/>
              <p:nvPr/>
            </p:nvSpPr>
            <p:spPr>
              <a:xfrm>
                <a:off x="8971"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7" name="图形"/>
              <p:cNvSpPr/>
              <p:nvPr/>
            </p:nvSpPr>
            <p:spPr>
              <a:xfrm>
                <a:off x="8678"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8" name="图形"/>
              <p:cNvSpPr/>
              <p:nvPr/>
            </p:nvSpPr>
            <p:spPr>
              <a:xfrm>
                <a:off x="8385"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49" name="图形"/>
              <p:cNvSpPr/>
              <p:nvPr/>
            </p:nvSpPr>
            <p:spPr>
              <a:xfrm>
                <a:off x="8092"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0" name="图形"/>
              <p:cNvSpPr/>
              <p:nvPr/>
            </p:nvSpPr>
            <p:spPr>
              <a:xfrm>
                <a:off x="7799"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34" y="154"/>
                      <a:pt x="0" y="120"/>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1" name="图形"/>
              <p:cNvSpPr/>
              <p:nvPr/>
            </p:nvSpPr>
            <p:spPr>
              <a:xfrm>
                <a:off x="7506" y="4714"/>
                <a:ext cx="154" cy="1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54">
                    <a:moveTo>
                      <a:pt x="77" y="0"/>
                    </a:moveTo>
                    <a:cubicBezTo>
                      <a:pt x="120" y="0"/>
                      <a:pt x="154" y="34"/>
                      <a:pt x="154" y="77"/>
                    </a:cubicBezTo>
                    <a:cubicBezTo>
                      <a:pt x="154" y="120"/>
                      <a:pt x="120" y="154"/>
                      <a:pt x="77" y="154"/>
                    </a:cubicBezTo>
                    <a:cubicBezTo>
                      <a:pt x="61" y="154"/>
                      <a:pt x="46" y="149"/>
                      <a:pt x="34" y="141"/>
                    </a:cubicBezTo>
                    <a:lnTo>
                      <a:pt x="30" y="138"/>
                    </a:lnTo>
                    <a:lnTo>
                      <a:pt x="16" y="124"/>
                    </a:lnTo>
                    <a:lnTo>
                      <a:pt x="13" y="120"/>
                    </a:lnTo>
                    <a:cubicBezTo>
                      <a:pt x="5" y="108"/>
                      <a:pt x="0" y="93"/>
                      <a:pt x="0" y="77"/>
                    </a:cubicBezTo>
                    <a:cubicBezTo>
                      <a:pt x="0" y="34"/>
                      <a:pt x="34" y="0"/>
                      <a:pt x="7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2" name="图形"/>
              <p:cNvSpPr/>
              <p:nvPr/>
            </p:nvSpPr>
            <p:spPr>
              <a:xfrm>
                <a:off x="7522" y="4838"/>
                <a:ext cx="13" cy="1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3" h="13">
                    <a:moveTo>
                      <a:pt x="0" y="0"/>
                    </a:moveTo>
                    <a:lnTo>
                      <a:pt x="13" y="13"/>
                    </a:lnTo>
                    <a:lnTo>
                      <a:pt x="12" y="12"/>
                    </a:lnTo>
                    <a:cubicBezTo>
                      <a:pt x="8" y="9"/>
                      <a:pt x="4" y="5"/>
                      <a:pt x="1" y="2"/>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3" name="图形"/>
              <p:cNvSpPr/>
              <p:nvPr/>
            </p:nvSpPr>
            <p:spPr>
              <a:xfrm>
                <a:off x="10143" y="4530"/>
                <a:ext cx="122" cy="122"/>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22" h="122">
                    <a:moveTo>
                      <a:pt x="15" y="0"/>
                    </a:moveTo>
                    <a:lnTo>
                      <a:pt x="122" y="107"/>
                    </a:lnTo>
                    <a:lnTo>
                      <a:pt x="120" y="109"/>
                    </a:lnTo>
                    <a:cubicBezTo>
                      <a:pt x="108" y="117"/>
                      <a:pt x="93" y="122"/>
                      <a:pt x="77" y="122"/>
                    </a:cubicBezTo>
                    <a:cubicBezTo>
                      <a:pt x="34" y="122"/>
                      <a:pt x="0" y="88"/>
                      <a:pt x="0" y="45"/>
                    </a:cubicBezTo>
                    <a:cubicBezTo>
                      <a:pt x="0" y="29"/>
                      <a:pt x="5" y="14"/>
                      <a:pt x="13" y="2"/>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4" name="图形"/>
              <p:cNvSpPr/>
              <p:nvPr/>
            </p:nvSpPr>
            <p:spPr>
              <a:xfrm>
                <a:off x="9850" y="4529"/>
                <a:ext cx="154" cy="12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23">
                    <a:moveTo>
                      <a:pt x="15" y="0"/>
                    </a:moveTo>
                    <a:lnTo>
                      <a:pt x="139" y="0"/>
                    </a:lnTo>
                    <a:lnTo>
                      <a:pt x="141" y="3"/>
                    </a:lnTo>
                    <a:cubicBezTo>
                      <a:pt x="149" y="15"/>
                      <a:pt x="154" y="30"/>
                      <a:pt x="154" y="46"/>
                    </a:cubicBezTo>
                    <a:cubicBezTo>
                      <a:pt x="154" y="89"/>
                      <a:pt x="120" y="123"/>
                      <a:pt x="77" y="123"/>
                    </a:cubicBezTo>
                    <a:cubicBezTo>
                      <a:pt x="34" y="123"/>
                      <a:pt x="0" y="89"/>
                      <a:pt x="0" y="46"/>
                    </a:cubicBezTo>
                    <a:cubicBezTo>
                      <a:pt x="0" y="30"/>
                      <a:pt x="5" y="15"/>
                      <a:pt x="13" y="3"/>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5" name="图形"/>
              <p:cNvSpPr/>
              <p:nvPr/>
            </p:nvSpPr>
            <p:spPr>
              <a:xfrm>
                <a:off x="9557" y="4529"/>
                <a:ext cx="154" cy="12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23">
                    <a:moveTo>
                      <a:pt x="15" y="0"/>
                    </a:moveTo>
                    <a:lnTo>
                      <a:pt x="139" y="0"/>
                    </a:lnTo>
                    <a:lnTo>
                      <a:pt x="141" y="3"/>
                    </a:lnTo>
                    <a:cubicBezTo>
                      <a:pt x="149" y="15"/>
                      <a:pt x="154" y="30"/>
                      <a:pt x="154" y="46"/>
                    </a:cubicBezTo>
                    <a:cubicBezTo>
                      <a:pt x="154" y="89"/>
                      <a:pt x="120" y="123"/>
                      <a:pt x="77" y="123"/>
                    </a:cubicBezTo>
                    <a:cubicBezTo>
                      <a:pt x="34" y="123"/>
                      <a:pt x="0" y="89"/>
                      <a:pt x="0" y="46"/>
                    </a:cubicBezTo>
                    <a:cubicBezTo>
                      <a:pt x="0" y="30"/>
                      <a:pt x="5" y="15"/>
                      <a:pt x="13" y="3"/>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6" name="图形"/>
              <p:cNvSpPr/>
              <p:nvPr/>
            </p:nvSpPr>
            <p:spPr>
              <a:xfrm>
                <a:off x="9264" y="4529"/>
                <a:ext cx="154" cy="12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23">
                    <a:moveTo>
                      <a:pt x="15" y="0"/>
                    </a:moveTo>
                    <a:lnTo>
                      <a:pt x="139" y="0"/>
                    </a:lnTo>
                    <a:lnTo>
                      <a:pt x="141" y="3"/>
                    </a:lnTo>
                    <a:cubicBezTo>
                      <a:pt x="149" y="15"/>
                      <a:pt x="154" y="30"/>
                      <a:pt x="154" y="46"/>
                    </a:cubicBezTo>
                    <a:cubicBezTo>
                      <a:pt x="154" y="89"/>
                      <a:pt x="120" y="123"/>
                      <a:pt x="77" y="123"/>
                    </a:cubicBezTo>
                    <a:cubicBezTo>
                      <a:pt x="34" y="123"/>
                      <a:pt x="0" y="89"/>
                      <a:pt x="0" y="46"/>
                    </a:cubicBezTo>
                    <a:cubicBezTo>
                      <a:pt x="0" y="30"/>
                      <a:pt x="5" y="15"/>
                      <a:pt x="13" y="3"/>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7" name="图形"/>
              <p:cNvSpPr/>
              <p:nvPr/>
            </p:nvSpPr>
            <p:spPr>
              <a:xfrm>
                <a:off x="8971" y="4529"/>
                <a:ext cx="154" cy="12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23">
                    <a:moveTo>
                      <a:pt x="15" y="0"/>
                    </a:moveTo>
                    <a:lnTo>
                      <a:pt x="139" y="0"/>
                    </a:lnTo>
                    <a:lnTo>
                      <a:pt x="141" y="3"/>
                    </a:lnTo>
                    <a:cubicBezTo>
                      <a:pt x="149" y="15"/>
                      <a:pt x="154" y="30"/>
                      <a:pt x="154" y="46"/>
                    </a:cubicBezTo>
                    <a:cubicBezTo>
                      <a:pt x="154" y="89"/>
                      <a:pt x="120" y="123"/>
                      <a:pt x="77" y="123"/>
                    </a:cubicBezTo>
                    <a:cubicBezTo>
                      <a:pt x="34" y="123"/>
                      <a:pt x="0" y="89"/>
                      <a:pt x="0" y="46"/>
                    </a:cubicBezTo>
                    <a:cubicBezTo>
                      <a:pt x="0" y="30"/>
                      <a:pt x="5" y="15"/>
                      <a:pt x="13" y="3"/>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8" name="图形"/>
              <p:cNvSpPr/>
              <p:nvPr/>
            </p:nvSpPr>
            <p:spPr>
              <a:xfrm>
                <a:off x="8678" y="4529"/>
                <a:ext cx="154" cy="12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23">
                    <a:moveTo>
                      <a:pt x="15" y="0"/>
                    </a:moveTo>
                    <a:lnTo>
                      <a:pt x="139" y="0"/>
                    </a:lnTo>
                    <a:lnTo>
                      <a:pt x="141" y="3"/>
                    </a:lnTo>
                    <a:cubicBezTo>
                      <a:pt x="149" y="15"/>
                      <a:pt x="154" y="30"/>
                      <a:pt x="154" y="46"/>
                    </a:cubicBezTo>
                    <a:cubicBezTo>
                      <a:pt x="154" y="89"/>
                      <a:pt x="120" y="123"/>
                      <a:pt x="77" y="123"/>
                    </a:cubicBezTo>
                    <a:cubicBezTo>
                      <a:pt x="34" y="123"/>
                      <a:pt x="0" y="89"/>
                      <a:pt x="0" y="46"/>
                    </a:cubicBezTo>
                    <a:cubicBezTo>
                      <a:pt x="0" y="30"/>
                      <a:pt x="5" y="15"/>
                      <a:pt x="13" y="3"/>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59" name="图形"/>
              <p:cNvSpPr/>
              <p:nvPr/>
            </p:nvSpPr>
            <p:spPr>
              <a:xfrm>
                <a:off x="8385" y="4529"/>
                <a:ext cx="154" cy="12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23">
                    <a:moveTo>
                      <a:pt x="15" y="0"/>
                    </a:moveTo>
                    <a:lnTo>
                      <a:pt x="139" y="0"/>
                    </a:lnTo>
                    <a:lnTo>
                      <a:pt x="141" y="3"/>
                    </a:lnTo>
                    <a:cubicBezTo>
                      <a:pt x="149" y="15"/>
                      <a:pt x="154" y="30"/>
                      <a:pt x="154" y="46"/>
                    </a:cubicBezTo>
                    <a:cubicBezTo>
                      <a:pt x="154" y="89"/>
                      <a:pt x="120" y="123"/>
                      <a:pt x="77" y="123"/>
                    </a:cubicBezTo>
                    <a:cubicBezTo>
                      <a:pt x="34" y="123"/>
                      <a:pt x="0" y="89"/>
                      <a:pt x="0" y="46"/>
                    </a:cubicBezTo>
                    <a:cubicBezTo>
                      <a:pt x="0" y="30"/>
                      <a:pt x="5" y="15"/>
                      <a:pt x="13" y="3"/>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60" name="图形"/>
              <p:cNvSpPr/>
              <p:nvPr/>
            </p:nvSpPr>
            <p:spPr>
              <a:xfrm>
                <a:off x="8092" y="4529"/>
                <a:ext cx="154" cy="12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23">
                    <a:moveTo>
                      <a:pt x="15" y="0"/>
                    </a:moveTo>
                    <a:lnTo>
                      <a:pt x="139" y="0"/>
                    </a:lnTo>
                    <a:lnTo>
                      <a:pt x="141" y="3"/>
                    </a:lnTo>
                    <a:cubicBezTo>
                      <a:pt x="149" y="15"/>
                      <a:pt x="154" y="30"/>
                      <a:pt x="154" y="46"/>
                    </a:cubicBezTo>
                    <a:cubicBezTo>
                      <a:pt x="154" y="89"/>
                      <a:pt x="120" y="123"/>
                      <a:pt x="77" y="123"/>
                    </a:cubicBezTo>
                    <a:cubicBezTo>
                      <a:pt x="34" y="123"/>
                      <a:pt x="0" y="89"/>
                      <a:pt x="0" y="46"/>
                    </a:cubicBezTo>
                    <a:cubicBezTo>
                      <a:pt x="0" y="30"/>
                      <a:pt x="5" y="15"/>
                      <a:pt x="13" y="3"/>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61" name="图形"/>
              <p:cNvSpPr/>
              <p:nvPr/>
            </p:nvSpPr>
            <p:spPr>
              <a:xfrm>
                <a:off x="7799" y="4529"/>
                <a:ext cx="154" cy="12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23">
                    <a:moveTo>
                      <a:pt x="15" y="0"/>
                    </a:moveTo>
                    <a:lnTo>
                      <a:pt x="139" y="0"/>
                    </a:lnTo>
                    <a:lnTo>
                      <a:pt x="141" y="3"/>
                    </a:lnTo>
                    <a:cubicBezTo>
                      <a:pt x="149" y="15"/>
                      <a:pt x="154" y="30"/>
                      <a:pt x="154" y="46"/>
                    </a:cubicBezTo>
                    <a:cubicBezTo>
                      <a:pt x="154" y="89"/>
                      <a:pt x="120" y="123"/>
                      <a:pt x="77" y="123"/>
                    </a:cubicBezTo>
                    <a:cubicBezTo>
                      <a:pt x="34" y="123"/>
                      <a:pt x="0" y="89"/>
                      <a:pt x="0" y="46"/>
                    </a:cubicBezTo>
                    <a:cubicBezTo>
                      <a:pt x="0" y="30"/>
                      <a:pt x="5" y="15"/>
                      <a:pt x="13" y="3"/>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62" name="图形"/>
              <p:cNvSpPr/>
              <p:nvPr/>
            </p:nvSpPr>
            <p:spPr>
              <a:xfrm>
                <a:off x="7506" y="4529"/>
                <a:ext cx="154" cy="12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4" h="123">
                    <a:moveTo>
                      <a:pt x="15" y="0"/>
                    </a:moveTo>
                    <a:lnTo>
                      <a:pt x="139" y="0"/>
                    </a:lnTo>
                    <a:lnTo>
                      <a:pt x="141" y="3"/>
                    </a:lnTo>
                    <a:cubicBezTo>
                      <a:pt x="149" y="15"/>
                      <a:pt x="154" y="30"/>
                      <a:pt x="154" y="46"/>
                    </a:cubicBezTo>
                    <a:cubicBezTo>
                      <a:pt x="154" y="89"/>
                      <a:pt x="120" y="123"/>
                      <a:pt x="77" y="123"/>
                    </a:cubicBezTo>
                    <a:cubicBezTo>
                      <a:pt x="34" y="123"/>
                      <a:pt x="0" y="89"/>
                      <a:pt x="0" y="46"/>
                    </a:cubicBezTo>
                    <a:cubicBezTo>
                      <a:pt x="0" y="30"/>
                      <a:pt x="5" y="15"/>
                      <a:pt x="13" y="3"/>
                    </a:cubicBezTo>
                    <a:lnTo>
                      <a:pt x="1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063" name="图形"/>
              <p:cNvSpPr/>
              <p:nvPr/>
            </p:nvSpPr>
            <p:spPr>
              <a:xfrm>
                <a:off x="7222" y="4529"/>
                <a:ext cx="145" cy="11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45" h="114">
                    <a:moveTo>
                      <a:pt x="6" y="0"/>
                    </a:moveTo>
                    <a:lnTo>
                      <a:pt x="129" y="0"/>
                    </a:lnTo>
                    <a:lnTo>
                      <a:pt x="132" y="3"/>
                    </a:lnTo>
                    <a:cubicBezTo>
                      <a:pt x="140" y="15"/>
                      <a:pt x="145" y="30"/>
                      <a:pt x="145" y="46"/>
                    </a:cubicBezTo>
                    <a:cubicBezTo>
                      <a:pt x="145" y="73"/>
                      <a:pt x="131" y="96"/>
                      <a:pt x="111" y="110"/>
                    </a:cubicBezTo>
                    <a:lnTo>
                      <a:pt x="104" y="114"/>
                    </a:lnTo>
                    <a:lnTo>
                      <a:pt x="0" y="9"/>
                    </a:lnTo>
                    <a:lnTo>
                      <a:pt x="4" y="3"/>
                    </a:lnTo>
                    <a:lnTo>
                      <a:pt x="6"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grpSp>
        <p:nvGrpSpPr>
          <p:cNvPr id="1064" name="图形"/>
          <p:cNvGrpSpPr/>
          <p:nvPr/>
        </p:nvGrpSpPr>
        <p:grpSpPr>
          <a:xfrm>
            <a:off x="1494216" y="608918"/>
            <a:ext cx="3075940" cy="1446530"/>
            <a:chOff x="2675" y="1237"/>
            <a:chExt cx="4844" cy="2278"/>
          </a:xfrm>
        </p:grpSpPr>
        <p:sp>
          <p:nvSpPr>
            <p:cNvPr id="1065" name="图形"/>
            <p:cNvSpPr/>
            <p:nvPr/>
          </p:nvSpPr>
          <p:spPr>
            <a:xfrm>
              <a:off x="2675" y="1237"/>
              <a:ext cx="2278" cy="227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7200" b="1" dirty="0">
                  <a:latin typeface="Arial" panose="020B0604020202020204"/>
                  <a:ea typeface="微软雅黑" panose="020B0503020204020204" pitchFamily="34" charset="-122"/>
                  <a:cs typeface="思源黑体 Normal" panose="020B0400000000000000" charset="-122"/>
                  <a:sym typeface="Arial" panose="020B0604020202020204"/>
                </a:rPr>
                <a:t>目</a:t>
              </a:r>
            </a:p>
          </p:txBody>
        </p:sp>
        <p:sp>
          <p:nvSpPr>
            <p:cNvPr id="1066" name="图形"/>
            <p:cNvSpPr/>
            <p:nvPr/>
          </p:nvSpPr>
          <p:spPr>
            <a:xfrm>
              <a:off x="5241" y="1237"/>
              <a:ext cx="2278" cy="227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7200" b="1">
                  <a:latin typeface="Arial" panose="020B0604020202020204"/>
                  <a:ea typeface="微软雅黑" panose="020B0503020204020204" pitchFamily="34" charset="-122"/>
                  <a:cs typeface="思源黑体 Normal" panose="020B0400000000000000" charset="-122"/>
                  <a:sym typeface="Arial" panose="020B0604020202020204"/>
                </a:rPr>
                <a:t>录</a:t>
              </a:r>
            </a:p>
          </p:txBody>
        </p:sp>
      </p:grpSp>
      <p:sp>
        <p:nvSpPr>
          <p:cNvPr id="1067" name="TextBox 9"/>
          <p:cNvSpPr txBox="1"/>
          <p:nvPr/>
        </p:nvSpPr>
        <p:spPr>
          <a:xfrm>
            <a:off x="-35030" y="0"/>
            <a:ext cx="453651"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下载 </a:t>
            </a:r>
            <a:r>
              <a:rPr lang="en-US" altLang="zh-CN" sz="100" dirty="0">
                <a:noFill/>
                <a:latin typeface="微软雅黑" panose="020B0503020204020204" pitchFamily="34" charset="-122"/>
                <a:ea typeface="微软雅黑" panose="020B0503020204020204" pitchFamily="34" charset="-122"/>
              </a:rPr>
              <a:t>http://www.1ppt.com/xiazai/</a:t>
            </a:r>
          </a:p>
        </p:txBody>
      </p:sp>
      <p:grpSp>
        <p:nvGrpSpPr>
          <p:cNvPr id="2" name="组合 1"/>
          <p:cNvGrpSpPr/>
          <p:nvPr>
            <p:custDataLst>
              <p:tags r:id="rId1"/>
            </p:custDataLst>
          </p:nvPr>
        </p:nvGrpSpPr>
        <p:grpSpPr>
          <a:xfrm>
            <a:off x="5916165" y="1412875"/>
            <a:ext cx="2675890" cy="738505"/>
            <a:chOff x="9674" y="2495"/>
            <a:chExt cx="4214" cy="1163"/>
          </a:xfrm>
        </p:grpSpPr>
        <p:sp>
          <p:nvSpPr>
            <p:cNvPr id="1071" name="图形"/>
            <p:cNvSpPr txBox="1"/>
            <p:nvPr>
              <p:custDataLst>
                <p:tags r:id="rId23"/>
              </p:custDataLst>
            </p:nvPr>
          </p:nvSpPr>
          <p:spPr>
            <a:xfrm>
              <a:off x="11124" y="2691"/>
              <a:ext cx="2764" cy="775"/>
            </a:xfrm>
            <a:prstGeom prst="rect">
              <a:avLst/>
            </a:prstGeom>
            <a:noFill/>
          </p:spPr>
          <p:txBody>
            <a:bodyPr wrap="square" lIns="0" tIns="0" rIns="0" bIns="0" rtlCol="0">
              <a:spAutoFit/>
            </a:bodyPr>
            <a:lstStyle/>
            <a:p>
              <a:pPr algn="l"/>
              <a:r>
                <a:rPr 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项目背景</a:t>
              </a:r>
            </a:p>
          </p:txBody>
        </p:sp>
        <p:sp>
          <p:nvSpPr>
            <p:cNvPr id="17" name="椭圆 16"/>
            <p:cNvSpPr/>
            <p:nvPr>
              <p:custDataLst>
                <p:tags r:id="rId24"/>
              </p:custDataLst>
            </p:nvPr>
          </p:nvSpPr>
          <p:spPr>
            <a:xfrm>
              <a:off x="9674" y="2495"/>
              <a:ext cx="1164" cy="1163"/>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400" b="1"/>
                <a:t>1</a:t>
              </a:r>
            </a:p>
          </p:txBody>
        </p:sp>
      </p:grpSp>
      <p:grpSp>
        <p:nvGrpSpPr>
          <p:cNvPr id="4" name="组合 3"/>
          <p:cNvGrpSpPr/>
          <p:nvPr>
            <p:custDataLst>
              <p:tags r:id="rId2"/>
            </p:custDataLst>
          </p:nvPr>
        </p:nvGrpSpPr>
        <p:grpSpPr>
          <a:xfrm>
            <a:off x="9065065" y="1395730"/>
            <a:ext cx="3692525" cy="738505"/>
            <a:chOff x="9674" y="2495"/>
            <a:chExt cx="5815" cy="1163"/>
          </a:xfrm>
        </p:grpSpPr>
        <p:sp>
          <p:nvSpPr>
            <p:cNvPr id="5" name="图形"/>
            <p:cNvSpPr txBox="1"/>
            <p:nvPr>
              <p:custDataLst>
                <p:tags r:id="rId21"/>
              </p:custDataLst>
            </p:nvPr>
          </p:nvSpPr>
          <p:spPr>
            <a:xfrm>
              <a:off x="11124" y="2691"/>
              <a:ext cx="4365" cy="775"/>
            </a:xfrm>
            <a:prstGeom prst="rect">
              <a:avLst/>
            </a:prstGeom>
            <a:noFill/>
          </p:spPr>
          <p:txBody>
            <a:bodyPr wrap="square" lIns="0" tIns="0" rIns="0" bIns="0" rtlCol="0">
              <a:spAutoFit/>
            </a:bodyPr>
            <a:lstStyle/>
            <a:p>
              <a:pPr algn="l"/>
              <a:r>
                <a:rPr 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项目介绍</a:t>
              </a:r>
            </a:p>
          </p:txBody>
        </p:sp>
        <p:sp>
          <p:nvSpPr>
            <p:cNvPr id="6" name="椭圆 5"/>
            <p:cNvSpPr/>
            <p:nvPr>
              <p:custDataLst>
                <p:tags r:id="rId22"/>
              </p:custDataLst>
            </p:nvPr>
          </p:nvSpPr>
          <p:spPr>
            <a:xfrm>
              <a:off x="9674" y="2495"/>
              <a:ext cx="1164" cy="1163"/>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400" b="1"/>
                <a:t>2</a:t>
              </a:r>
            </a:p>
          </p:txBody>
        </p:sp>
      </p:grpSp>
      <p:grpSp>
        <p:nvGrpSpPr>
          <p:cNvPr id="7" name="组合 6"/>
          <p:cNvGrpSpPr/>
          <p:nvPr>
            <p:custDataLst>
              <p:tags r:id="rId3"/>
            </p:custDataLst>
          </p:nvPr>
        </p:nvGrpSpPr>
        <p:grpSpPr>
          <a:xfrm>
            <a:off x="5916165" y="2475405"/>
            <a:ext cx="2675890" cy="738505"/>
            <a:chOff x="9674" y="2495"/>
            <a:chExt cx="4214" cy="1163"/>
          </a:xfrm>
        </p:grpSpPr>
        <p:sp>
          <p:nvSpPr>
            <p:cNvPr id="8" name="图形"/>
            <p:cNvSpPr txBox="1"/>
            <p:nvPr>
              <p:custDataLst>
                <p:tags r:id="rId19"/>
              </p:custDataLst>
            </p:nvPr>
          </p:nvSpPr>
          <p:spPr>
            <a:xfrm>
              <a:off x="11124" y="2691"/>
              <a:ext cx="2764" cy="775"/>
            </a:xfrm>
            <a:prstGeom prst="rect">
              <a:avLst/>
            </a:prstGeom>
            <a:noFill/>
          </p:spPr>
          <p:txBody>
            <a:bodyPr wrap="square" lIns="0" tIns="0" rIns="0" bIns="0" rtlCol="0">
              <a:spAutoFit/>
            </a:bodyPr>
            <a:lstStyle/>
            <a:p>
              <a:pPr algn="l"/>
              <a:r>
                <a:rPr 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核心技术</a:t>
              </a:r>
              <a:r>
                <a:rPr lang="en-US" alt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 </a:t>
              </a:r>
            </a:p>
          </p:txBody>
        </p:sp>
        <p:sp>
          <p:nvSpPr>
            <p:cNvPr id="9" name="椭圆 8"/>
            <p:cNvSpPr/>
            <p:nvPr>
              <p:custDataLst>
                <p:tags r:id="rId20"/>
              </p:custDataLst>
            </p:nvPr>
          </p:nvSpPr>
          <p:spPr>
            <a:xfrm>
              <a:off x="9674" y="2495"/>
              <a:ext cx="1164" cy="1163"/>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400" b="1"/>
                <a:t>3</a:t>
              </a:r>
            </a:p>
          </p:txBody>
        </p:sp>
      </p:grpSp>
      <p:grpSp>
        <p:nvGrpSpPr>
          <p:cNvPr id="10" name="组合 9"/>
          <p:cNvGrpSpPr/>
          <p:nvPr>
            <p:custDataLst>
              <p:tags r:id="rId4"/>
            </p:custDataLst>
          </p:nvPr>
        </p:nvGrpSpPr>
        <p:grpSpPr>
          <a:xfrm>
            <a:off x="9065065" y="2475405"/>
            <a:ext cx="3692525" cy="738505"/>
            <a:chOff x="9674" y="2495"/>
            <a:chExt cx="5815" cy="1163"/>
          </a:xfrm>
        </p:grpSpPr>
        <p:sp>
          <p:nvSpPr>
            <p:cNvPr id="11" name="图形"/>
            <p:cNvSpPr txBox="1"/>
            <p:nvPr>
              <p:custDataLst>
                <p:tags r:id="rId17"/>
              </p:custDataLst>
            </p:nvPr>
          </p:nvSpPr>
          <p:spPr>
            <a:xfrm>
              <a:off x="11124" y="2691"/>
              <a:ext cx="4365" cy="775"/>
            </a:xfrm>
            <a:prstGeom prst="rect">
              <a:avLst/>
            </a:prstGeom>
            <a:noFill/>
          </p:spPr>
          <p:txBody>
            <a:bodyPr wrap="square" lIns="0" tIns="0" rIns="0" bIns="0" rtlCol="0">
              <a:spAutoFit/>
            </a:bodyPr>
            <a:lstStyle/>
            <a:p>
              <a:pPr algn="l"/>
              <a:r>
                <a:rPr 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项目展示</a:t>
              </a:r>
            </a:p>
          </p:txBody>
        </p:sp>
        <p:sp>
          <p:nvSpPr>
            <p:cNvPr id="12" name="椭圆 11"/>
            <p:cNvSpPr/>
            <p:nvPr>
              <p:custDataLst>
                <p:tags r:id="rId18"/>
              </p:custDataLst>
            </p:nvPr>
          </p:nvSpPr>
          <p:spPr>
            <a:xfrm>
              <a:off x="9674" y="2495"/>
              <a:ext cx="1164" cy="1163"/>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400" b="1"/>
                <a:t>4</a:t>
              </a:r>
            </a:p>
          </p:txBody>
        </p:sp>
      </p:grpSp>
      <p:grpSp>
        <p:nvGrpSpPr>
          <p:cNvPr id="13" name="组合 12"/>
          <p:cNvGrpSpPr/>
          <p:nvPr>
            <p:custDataLst>
              <p:tags r:id="rId5"/>
            </p:custDataLst>
          </p:nvPr>
        </p:nvGrpSpPr>
        <p:grpSpPr>
          <a:xfrm>
            <a:off x="5916165" y="3555405"/>
            <a:ext cx="2675890" cy="738505"/>
            <a:chOff x="9674" y="2495"/>
            <a:chExt cx="4214" cy="1163"/>
          </a:xfrm>
        </p:grpSpPr>
        <p:sp>
          <p:nvSpPr>
            <p:cNvPr id="18" name="图形"/>
            <p:cNvSpPr txBox="1"/>
            <p:nvPr>
              <p:custDataLst>
                <p:tags r:id="rId15"/>
              </p:custDataLst>
            </p:nvPr>
          </p:nvSpPr>
          <p:spPr>
            <a:xfrm>
              <a:off x="11124" y="2691"/>
              <a:ext cx="2764" cy="775"/>
            </a:xfrm>
            <a:prstGeom prst="rect">
              <a:avLst/>
            </a:prstGeom>
            <a:noFill/>
          </p:spPr>
          <p:txBody>
            <a:bodyPr wrap="square" lIns="0" tIns="0" rIns="0" bIns="0" rtlCol="0">
              <a:spAutoFit/>
            </a:bodyPr>
            <a:lstStyle/>
            <a:p>
              <a:pPr algn="l"/>
              <a:r>
                <a:rPr 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项目价值</a:t>
              </a:r>
              <a:r>
                <a:rPr lang="en-US" alt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 </a:t>
              </a:r>
            </a:p>
          </p:txBody>
        </p:sp>
        <p:sp>
          <p:nvSpPr>
            <p:cNvPr id="19" name="椭圆 18"/>
            <p:cNvSpPr/>
            <p:nvPr>
              <p:custDataLst>
                <p:tags r:id="rId16"/>
              </p:custDataLst>
            </p:nvPr>
          </p:nvSpPr>
          <p:spPr>
            <a:xfrm>
              <a:off x="9674" y="2495"/>
              <a:ext cx="1164" cy="1163"/>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400" b="1"/>
                <a:t>5</a:t>
              </a:r>
            </a:p>
          </p:txBody>
        </p:sp>
      </p:grpSp>
      <p:grpSp>
        <p:nvGrpSpPr>
          <p:cNvPr id="20" name="组合 19"/>
          <p:cNvGrpSpPr/>
          <p:nvPr>
            <p:custDataLst>
              <p:tags r:id="rId6"/>
            </p:custDataLst>
          </p:nvPr>
        </p:nvGrpSpPr>
        <p:grpSpPr>
          <a:xfrm>
            <a:off x="9065065" y="3555405"/>
            <a:ext cx="3692525" cy="738505"/>
            <a:chOff x="9674" y="2495"/>
            <a:chExt cx="5815" cy="1163"/>
          </a:xfrm>
        </p:grpSpPr>
        <p:sp>
          <p:nvSpPr>
            <p:cNvPr id="26" name="图形"/>
            <p:cNvSpPr txBox="1"/>
            <p:nvPr>
              <p:custDataLst>
                <p:tags r:id="rId13"/>
              </p:custDataLst>
            </p:nvPr>
          </p:nvSpPr>
          <p:spPr>
            <a:xfrm>
              <a:off x="11124" y="2691"/>
              <a:ext cx="4365" cy="775"/>
            </a:xfrm>
            <a:prstGeom prst="rect">
              <a:avLst/>
            </a:prstGeom>
            <a:noFill/>
          </p:spPr>
          <p:txBody>
            <a:bodyPr wrap="square" lIns="0" tIns="0" rIns="0" bIns="0" rtlCol="0">
              <a:spAutoFit/>
            </a:bodyPr>
            <a:lstStyle/>
            <a:p>
              <a:pPr algn="l"/>
              <a:r>
                <a:rPr 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未来展望</a:t>
              </a:r>
            </a:p>
          </p:txBody>
        </p:sp>
        <p:sp>
          <p:nvSpPr>
            <p:cNvPr id="27" name="椭圆 26"/>
            <p:cNvSpPr/>
            <p:nvPr>
              <p:custDataLst>
                <p:tags r:id="rId14"/>
              </p:custDataLst>
            </p:nvPr>
          </p:nvSpPr>
          <p:spPr>
            <a:xfrm>
              <a:off x="9674" y="2495"/>
              <a:ext cx="1164" cy="1163"/>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400" b="1"/>
                <a:t>6</a:t>
              </a:r>
            </a:p>
          </p:txBody>
        </p:sp>
      </p:grpSp>
      <p:grpSp>
        <p:nvGrpSpPr>
          <p:cNvPr id="28" name="组合 27"/>
          <p:cNvGrpSpPr/>
          <p:nvPr>
            <p:custDataLst>
              <p:tags r:id="rId7"/>
            </p:custDataLst>
          </p:nvPr>
        </p:nvGrpSpPr>
        <p:grpSpPr>
          <a:xfrm>
            <a:off x="5916165" y="4635405"/>
            <a:ext cx="2675890" cy="738505"/>
            <a:chOff x="9674" y="2495"/>
            <a:chExt cx="4214" cy="1163"/>
          </a:xfrm>
        </p:grpSpPr>
        <p:sp>
          <p:nvSpPr>
            <p:cNvPr id="29" name="图形"/>
            <p:cNvSpPr txBox="1"/>
            <p:nvPr>
              <p:custDataLst>
                <p:tags r:id="rId11"/>
              </p:custDataLst>
            </p:nvPr>
          </p:nvSpPr>
          <p:spPr>
            <a:xfrm>
              <a:off x="11124" y="2691"/>
              <a:ext cx="2764" cy="775"/>
            </a:xfrm>
            <a:prstGeom prst="rect">
              <a:avLst/>
            </a:prstGeom>
            <a:noFill/>
          </p:spPr>
          <p:txBody>
            <a:bodyPr wrap="square" lIns="0" tIns="0" rIns="0" bIns="0" rtlCol="0">
              <a:spAutoFit/>
            </a:bodyPr>
            <a:lstStyle/>
            <a:p>
              <a:pPr algn="l"/>
              <a:r>
                <a:rPr 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实训总结</a:t>
              </a:r>
              <a:r>
                <a:rPr lang="en-US" alt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 </a:t>
              </a:r>
            </a:p>
          </p:txBody>
        </p:sp>
        <p:sp>
          <p:nvSpPr>
            <p:cNvPr id="30" name="椭圆 29"/>
            <p:cNvSpPr/>
            <p:nvPr>
              <p:custDataLst>
                <p:tags r:id="rId12"/>
              </p:custDataLst>
            </p:nvPr>
          </p:nvSpPr>
          <p:spPr>
            <a:xfrm>
              <a:off x="9674" y="2495"/>
              <a:ext cx="1164" cy="1163"/>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400" b="1"/>
                <a:t>7</a:t>
              </a:r>
            </a:p>
          </p:txBody>
        </p:sp>
      </p:grpSp>
      <p:grpSp>
        <p:nvGrpSpPr>
          <p:cNvPr id="31" name="组合 30"/>
          <p:cNvGrpSpPr/>
          <p:nvPr>
            <p:custDataLst>
              <p:tags r:id="rId8"/>
            </p:custDataLst>
          </p:nvPr>
        </p:nvGrpSpPr>
        <p:grpSpPr>
          <a:xfrm>
            <a:off x="9065065" y="4635540"/>
            <a:ext cx="3692525" cy="738505"/>
            <a:chOff x="9674" y="2495"/>
            <a:chExt cx="5815" cy="1163"/>
          </a:xfrm>
        </p:grpSpPr>
        <p:sp>
          <p:nvSpPr>
            <p:cNvPr id="32" name="图形"/>
            <p:cNvSpPr txBox="1"/>
            <p:nvPr>
              <p:custDataLst>
                <p:tags r:id="rId9"/>
              </p:custDataLst>
            </p:nvPr>
          </p:nvSpPr>
          <p:spPr>
            <a:xfrm>
              <a:off x="11124" y="2691"/>
              <a:ext cx="4365" cy="775"/>
            </a:xfrm>
            <a:prstGeom prst="rect">
              <a:avLst/>
            </a:prstGeom>
            <a:noFill/>
          </p:spPr>
          <p:txBody>
            <a:bodyPr wrap="square" lIns="0" tIns="0" rIns="0" bIns="0" rtlCol="0">
              <a:spAutoFit/>
            </a:bodyPr>
            <a:lstStyle/>
            <a:p>
              <a:pPr algn="l"/>
              <a:r>
                <a:rPr lang="zh-CN" sz="32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团队成员</a:t>
              </a:r>
            </a:p>
          </p:txBody>
        </p:sp>
        <p:sp>
          <p:nvSpPr>
            <p:cNvPr id="33" name="椭圆 32"/>
            <p:cNvSpPr/>
            <p:nvPr>
              <p:custDataLst>
                <p:tags r:id="rId10"/>
              </p:custDataLst>
            </p:nvPr>
          </p:nvSpPr>
          <p:spPr>
            <a:xfrm>
              <a:off x="9674" y="2495"/>
              <a:ext cx="1164" cy="1163"/>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400" b="1"/>
                <a:t>8</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80"/>
                                        </p:tgtEl>
                                        <p:attrNameLst>
                                          <p:attrName>style.visibility</p:attrName>
                                        </p:attrNameLst>
                                      </p:cBhvr>
                                      <p:to>
                                        <p:strVal val="visible"/>
                                      </p:to>
                                    </p:set>
                                    <p:animEffect transition="in" filter="fade">
                                      <p:cBhvr>
                                        <p:cTn id="7" dur="1000"/>
                                        <p:tgtEl>
                                          <p:spTgt spid="980"/>
                                        </p:tgtEl>
                                      </p:cBhvr>
                                    </p:animEffect>
                                    <p:anim calcmode="lin" valueType="num">
                                      <p:cBhvr>
                                        <p:cTn id="8" dur="1000" fill="hold"/>
                                        <p:tgtEl>
                                          <p:spTgt spid="980"/>
                                        </p:tgtEl>
                                        <p:attrNameLst>
                                          <p:attrName>ppt_x</p:attrName>
                                        </p:attrNameLst>
                                      </p:cBhvr>
                                      <p:tavLst>
                                        <p:tav tm="0">
                                          <p:val>
                                            <p:strVal val="#ppt_x"/>
                                          </p:val>
                                        </p:tav>
                                        <p:tav tm="100000">
                                          <p:val>
                                            <p:strVal val="#ppt_x"/>
                                          </p:val>
                                        </p:tav>
                                      </p:tavLst>
                                    </p:anim>
                                    <p:anim calcmode="lin" valueType="num">
                                      <p:cBhvr>
                                        <p:cTn id="9" dur="1000" fill="hold"/>
                                        <p:tgtEl>
                                          <p:spTgt spid="98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64"/>
                                        </p:tgtEl>
                                        <p:attrNameLst>
                                          <p:attrName>style.visibility</p:attrName>
                                        </p:attrNameLst>
                                      </p:cBhvr>
                                      <p:to>
                                        <p:strVal val="visible"/>
                                      </p:to>
                                    </p:set>
                                    <p:animEffect transition="in" filter="fade">
                                      <p:cBhvr>
                                        <p:cTn id="12" dur="1000"/>
                                        <p:tgtEl>
                                          <p:spTgt spid="1064"/>
                                        </p:tgtEl>
                                      </p:cBhvr>
                                    </p:animEffect>
                                    <p:anim calcmode="lin" valueType="num">
                                      <p:cBhvr>
                                        <p:cTn id="13" dur="1000" fill="hold"/>
                                        <p:tgtEl>
                                          <p:spTgt spid="1064"/>
                                        </p:tgtEl>
                                        <p:attrNameLst>
                                          <p:attrName>ppt_x</p:attrName>
                                        </p:attrNameLst>
                                      </p:cBhvr>
                                      <p:tavLst>
                                        <p:tav tm="0">
                                          <p:val>
                                            <p:strVal val="#ppt_x"/>
                                          </p:val>
                                        </p:tav>
                                        <p:tav tm="100000">
                                          <p:val>
                                            <p:strVal val="#ppt_x"/>
                                          </p:val>
                                        </p:tav>
                                      </p:tavLst>
                                    </p:anim>
                                    <p:anim calcmode="lin" valueType="num">
                                      <p:cBhvr>
                                        <p:cTn id="14" dur="1000" fill="hold"/>
                                        <p:tgtEl>
                                          <p:spTgt spid="1064"/>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7"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par>
                                <p:cTn id="21" presetID="47"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par>
                                <p:cTn id="26" presetID="47"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par>
                                <p:cTn id="31" presetID="47"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par>
                                <p:cTn id="36" presetID="47"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par>
                                <p:cTn id="41" presetID="47"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47" presetClass="entr" presetSubtype="0" fill="hold"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1000"/>
                                        <p:tgtEl>
                                          <p:spTgt spid="28"/>
                                        </p:tgtEl>
                                      </p:cBhvr>
                                    </p:animEffect>
                                    <p:anim calcmode="lin" valueType="num">
                                      <p:cBhvr>
                                        <p:cTn id="49" dur="1000" fill="hold"/>
                                        <p:tgtEl>
                                          <p:spTgt spid="28"/>
                                        </p:tgtEl>
                                        <p:attrNameLst>
                                          <p:attrName>ppt_x</p:attrName>
                                        </p:attrNameLst>
                                      </p:cBhvr>
                                      <p:tavLst>
                                        <p:tav tm="0">
                                          <p:val>
                                            <p:strVal val="#ppt_x"/>
                                          </p:val>
                                        </p:tav>
                                        <p:tav tm="100000">
                                          <p:val>
                                            <p:strVal val="#ppt_x"/>
                                          </p:val>
                                        </p:tav>
                                      </p:tavLst>
                                    </p:anim>
                                    <p:anim calcmode="lin" valueType="num">
                                      <p:cBhvr>
                                        <p:cTn id="50" dur="1000" fill="hold"/>
                                        <p:tgtEl>
                                          <p:spTgt spid="28"/>
                                        </p:tgtEl>
                                        <p:attrNameLst>
                                          <p:attrName>ppt_y</p:attrName>
                                        </p:attrNameLst>
                                      </p:cBhvr>
                                      <p:tavLst>
                                        <p:tav tm="0">
                                          <p:val>
                                            <p:strVal val="#ppt_y-.1"/>
                                          </p:val>
                                        </p:tav>
                                        <p:tav tm="100000">
                                          <p:val>
                                            <p:strVal val="#ppt_y"/>
                                          </p:val>
                                        </p:tav>
                                      </p:tavLst>
                                    </p:anim>
                                  </p:childTnLst>
                                </p:cTn>
                              </p:par>
                              <p:par>
                                <p:cTn id="51" presetID="47" presetClass="entr" presetSubtype="0"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1000"/>
                                        <p:tgtEl>
                                          <p:spTgt spid="31"/>
                                        </p:tgtEl>
                                      </p:cBhvr>
                                    </p:animEffect>
                                    <p:anim calcmode="lin" valueType="num">
                                      <p:cBhvr>
                                        <p:cTn id="54" dur="1000" fill="hold"/>
                                        <p:tgtEl>
                                          <p:spTgt spid="31"/>
                                        </p:tgtEl>
                                        <p:attrNameLst>
                                          <p:attrName>ppt_x</p:attrName>
                                        </p:attrNameLst>
                                      </p:cBhvr>
                                      <p:tavLst>
                                        <p:tav tm="0">
                                          <p:val>
                                            <p:strVal val="#ppt_x"/>
                                          </p:val>
                                        </p:tav>
                                        <p:tav tm="100000">
                                          <p:val>
                                            <p:strVal val="#ppt_x"/>
                                          </p:val>
                                        </p:tav>
                                      </p:tavLst>
                                    </p:anim>
                                    <p:anim calcmode="lin" valueType="num">
                                      <p:cBhvr>
                                        <p:cTn id="55"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70000">
              <a:srgbClr val="B9B8F1">
                <a:alpha val="0"/>
              </a:srgbClr>
            </a:gs>
          </a:gsLst>
          <a:lin ang="18900000" scaled="0"/>
        </a:gradFill>
        <a:effectLst/>
      </p:bgPr>
    </p:bg>
    <p:spTree>
      <p:nvGrpSpPr>
        <p:cNvPr id="1" name=""/>
        <p:cNvGrpSpPr/>
        <p:nvPr/>
      </p:nvGrpSpPr>
      <p:grpSpPr>
        <a:xfrm>
          <a:off x="0" y="0"/>
          <a:ext cx="0" cy="0"/>
          <a:chOff x="0" y="0"/>
          <a:chExt cx="0" cy="0"/>
        </a:xfrm>
      </p:grpSpPr>
      <p:grpSp>
        <p:nvGrpSpPr>
          <p:cNvPr id="1097" name="图形"/>
          <p:cNvGrpSpPr/>
          <p:nvPr/>
        </p:nvGrpSpPr>
        <p:grpSpPr>
          <a:xfrm>
            <a:off x="0" y="-1069340"/>
            <a:ext cx="12516485" cy="7927340"/>
            <a:chOff x="0" y="-1684"/>
            <a:chExt cx="19711" cy="12484"/>
          </a:xfrm>
        </p:grpSpPr>
        <p:pic>
          <p:nvPicPr>
            <p:cNvPr id="1098" name="图形" descr="D:/包图网/5b601bfb6affe.png5b601bfb6affe"/>
            <p:cNvPicPr>
              <a:picLocks noChangeAspect="1"/>
            </p:cNvPicPr>
            <p:nvPr/>
          </p:nvPicPr>
          <p:blipFill>
            <a:blip r:embed="rId3"/>
            <a:srcRect t="-2777" b="-1468"/>
            <a:stretch>
              <a:fillRect/>
            </a:stretch>
          </p:blipFill>
          <p:spPr>
            <a:xfrm>
              <a:off x="0" y="4674"/>
              <a:ext cx="7780" cy="5896"/>
            </a:xfrm>
            <a:prstGeom prst="rect">
              <a:avLst/>
            </a:prstGeom>
          </p:spPr>
        </p:pic>
        <p:sp>
          <p:nvSpPr>
            <p:cNvPr id="1099" name="图形"/>
            <p:cNvSpPr/>
            <p:nvPr/>
          </p:nvSpPr>
          <p:spPr>
            <a:xfrm rot="8580000" flipV="1">
              <a:off x="17359" y="-1684"/>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1100" name="组合 138"/>
            <p:cNvGrpSpPr/>
            <p:nvPr/>
          </p:nvGrpSpPr>
          <p:grpSpPr>
            <a:xfrm>
              <a:off x="2320" y="2938"/>
              <a:ext cx="2821" cy="1006"/>
              <a:chOff x="1595" y="1487"/>
              <a:chExt cx="4594" cy="1639"/>
            </a:xfrm>
            <a:gradFill>
              <a:gsLst>
                <a:gs pos="0">
                  <a:srgbClr val="B9B8F1">
                    <a:alpha val="100000"/>
                  </a:srgbClr>
                </a:gs>
                <a:gs pos="94000">
                  <a:srgbClr val="B9B8F1">
                    <a:alpha val="0"/>
                  </a:srgbClr>
                </a:gs>
              </a:gsLst>
              <a:lin ang="10800000" scaled="0"/>
            </a:gradFill>
          </p:grpSpPr>
          <p:grpSp>
            <p:nvGrpSpPr>
              <p:cNvPr id="1101" name="组合 51"/>
              <p:cNvGrpSpPr/>
              <p:nvPr/>
            </p:nvGrpSpPr>
            <p:grpSpPr>
              <a:xfrm>
                <a:off x="1595" y="1487"/>
                <a:ext cx="4594" cy="226"/>
                <a:chOff x="1595" y="1487"/>
                <a:chExt cx="4594" cy="226"/>
              </a:xfrm>
              <a:grpFill/>
            </p:grpSpPr>
            <p:sp>
              <p:nvSpPr>
                <p:cNvPr id="1102"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03"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04"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05"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06"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07"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08"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109" name="组合 52"/>
              <p:cNvGrpSpPr/>
              <p:nvPr/>
            </p:nvGrpSpPr>
            <p:grpSpPr>
              <a:xfrm>
                <a:off x="1595" y="1958"/>
                <a:ext cx="4594" cy="226"/>
                <a:chOff x="1595" y="1487"/>
                <a:chExt cx="4594" cy="226"/>
              </a:xfrm>
              <a:grpFill/>
            </p:grpSpPr>
            <p:sp>
              <p:nvSpPr>
                <p:cNvPr id="1110"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11"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12"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13"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14"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15"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16"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117" name="组合 120"/>
              <p:cNvGrpSpPr/>
              <p:nvPr/>
            </p:nvGrpSpPr>
            <p:grpSpPr>
              <a:xfrm>
                <a:off x="1595" y="2429"/>
                <a:ext cx="4594" cy="226"/>
                <a:chOff x="1595" y="1487"/>
                <a:chExt cx="4594" cy="226"/>
              </a:xfrm>
              <a:grpFill/>
            </p:grpSpPr>
            <p:sp>
              <p:nvSpPr>
                <p:cNvPr id="1118"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19"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20"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21"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22"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23"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24"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125" name="组合 128"/>
              <p:cNvGrpSpPr/>
              <p:nvPr/>
            </p:nvGrpSpPr>
            <p:grpSpPr>
              <a:xfrm>
                <a:off x="1595" y="2900"/>
                <a:ext cx="4594" cy="226"/>
                <a:chOff x="1595" y="1487"/>
                <a:chExt cx="4594" cy="226"/>
              </a:xfrm>
              <a:grpFill/>
            </p:grpSpPr>
            <p:sp>
              <p:nvSpPr>
                <p:cNvPr id="1126"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27"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28"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29"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30"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31"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32"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sp>
          <p:nvSpPr>
            <p:cNvPr id="1133" name="图形"/>
            <p:cNvSpPr/>
            <p:nvPr/>
          </p:nvSpPr>
          <p:spPr>
            <a:xfrm>
              <a:off x="0" y="10796"/>
              <a:ext cx="4" cy="4"/>
            </a:xfrm>
            <a:custGeom>
              <a:avLst/>
              <a:gdLst/>
              <a:ahLst/>
              <a:cxnLst>
                <a:cxn ang="3">
                  <a:pos x="hc" y="t"/>
                </a:cxn>
                <a:cxn ang="cd2">
                  <a:pos x="l" y="vc"/>
                </a:cxn>
                <a:cxn ang="cd4">
                  <a:pos x="hc" y="b"/>
                </a:cxn>
                <a:cxn ang="0">
                  <a:pos x="r" y="vc"/>
                </a:cxn>
              </a:cxnLst>
              <a:rect l="l" t="t" r="r" b="b"/>
              <a:pathLst>
                <a:path w="4" h="4">
                  <a:moveTo>
                    <a:pt x="0" y="0"/>
                  </a:moveTo>
                  <a:lnTo>
                    <a:pt x="4" y="4"/>
                  </a:lnTo>
                  <a:lnTo>
                    <a:pt x="0" y="4"/>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34" name="图形"/>
            <p:cNvSpPr/>
            <p:nvPr/>
          </p:nvSpPr>
          <p:spPr>
            <a:xfrm>
              <a:off x="0" y="2210"/>
              <a:ext cx="11364" cy="8590"/>
            </a:xfrm>
            <a:custGeom>
              <a:avLst/>
              <a:gdLst/>
              <a:ahLst/>
              <a:cxnLst>
                <a:cxn ang="3">
                  <a:pos x="hc" y="t"/>
                </a:cxn>
                <a:cxn ang="cd2">
                  <a:pos x="l" y="vc"/>
                </a:cxn>
                <a:cxn ang="cd4">
                  <a:pos x="hc" y="b"/>
                </a:cxn>
                <a:cxn ang="0">
                  <a:pos x="r" y="vc"/>
                </a:cxn>
              </a:cxnLst>
              <a:rect l="l" t="t" r="r" b="b"/>
              <a:pathLst>
                <a:path w="11364" h="8590">
                  <a:moveTo>
                    <a:pt x="677" y="0"/>
                  </a:moveTo>
                  <a:cubicBezTo>
                    <a:pt x="949" y="-1"/>
                    <a:pt x="1204" y="66"/>
                    <a:pt x="1429" y="218"/>
                  </a:cubicBezTo>
                  <a:cubicBezTo>
                    <a:pt x="2008" y="798"/>
                    <a:pt x="1883" y="1992"/>
                    <a:pt x="2745" y="2676"/>
                  </a:cubicBezTo>
                  <a:cubicBezTo>
                    <a:pt x="3748" y="3184"/>
                    <a:pt x="4863" y="2726"/>
                    <a:pt x="6368" y="3236"/>
                  </a:cubicBezTo>
                  <a:cubicBezTo>
                    <a:pt x="7486" y="4177"/>
                    <a:pt x="7194" y="5103"/>
                    <a:pt x="7858" y="5815"/>
                  </a:cubicBezTo>
                  <a:cubicBezTo>
                    <a:pt x="8574" y="6232"/>
                    <a:pt x="9738" y="5636"/>
                    <a:pt x="10848" y="6384"/>
                  </a:cubicBezTo>
                  <a:cubicBezTo>
                    <a:pt x="11491" y="6818"/>
                    <a:pt x="11469" y="7655"/>
                    <a:pt x="11131" y="8564"/>
                  </a:cubicBezTo>
                  <a:lnTo>
                    <a:pt x="11121" y="8590"/>
                  </a:lnTo>
                  <a:lnTo>
                    <a:pt x="4" y="8590"/>
                  </a:lnTo>
                  <a:lnTo>
                    <a:pt x="0" y="8587"/>
                  </a:lnTo>
                  <a:lnTo>
                    <a:pt x="0" y="129"/>
                  </a:lnTo>
                  <a:lnTo>
                    <a:pt x="13" y="124"/>
                  </a:lnTo>
                  <a:cubicBezTo>
                    <a:pt x="240" y="45"/>
                    <a:pt x="464" y="1"/>
                    <a:pt x="677" y="0"/>
                  </a:cubicBezTo>
                  <a:close/>
                </a:path>
              </a:pathLst>
            </a:custGeom>
            <a:gradFill>
              <a:gsLst>
                <a:gs pos="0">
                  <a:srgbClr val="B9B8F1">
                    <a:alpha val="30000"/>
                  </a:srgbClr>
                </a:gs>
                <a:gs pos="100000">
                  <a:srgbClr val="B9B8F1">
                    <a:alpha val="0"/>
                  </a:srgb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1135" name="图形"/>
          <p:cNvSpPr txBox="1"/>
          <p:nvPr/>
        </p:nvSpPr>
        <p:spPr>
          <a:xfrm>
            <a:off x="5222242" y="3194052"/>
            <a:ext cx="6322695" cy="1241425"/>
          </a:xfrm>
          <a:prstGeom prst="rect">
            <a:avLst/>
          </a:prstGeom>
          <a:noFill/>
        </p:spPr>
        <p:txBody>
          <a:bodyPr wrap="square" lIns="0" tIns="0" rIns="0" bIns="0" rtlCol="0">
            <a:noAutofit/>
          </a:bodyPr>
          <a:lstStyle/>
          <a:p>
            <a:pPr algn="dist"/>
            <a:r>
              <a:rPr lang="zh-CN" sz="80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项目背景</a:t>
            </a:r>
          </a:p>
        </p:txBody>
      </p:sp>
      <p:sp>
        <p:nvSpPr>
          <p:cNvPr id="1136" name="图形"/>
          <p:cNvSpPr txBox="1"/>
          <p:nvPr/>
        </p:nvSpPr>
        <p:spPr>
          <a:xfrm>
            <a:off x="6608765" y="4516120"/>
            <a:ext cx="3549650" cy="323850"/>
          </a:xfrm>
          <a:prstGeom prst="rect">
            <a:avLst/>
          </a:prstGeom>
          <a:noFill/>
        </p:spPr>
        <p:txBody>
          <a:bodyPr wrap="square" lIns="0" tIns="0" rIns="0" bIns="0" rtlCol="0">
            <a:spAutoFit/>
          </a:bodyPr>
          <a:lstStyle/>
          <a:p>
            <a:pPr algn="dist">
              <a:lnSpc>
                <a:spcPct val="150000"/>
              </a:lnSpc>
            </a:pPr>
            <a:r>
              <a:rPr lang="en-US" sz="1400">
                <a:ln>
                  <a:noFill/>
                </a:ln>
                <a:solidFill>
                  <a:schemeClr val="tx1">
                    <a:lumMod val="65000"/>
                    <a:lumOff val="35000"/>
                    <a:alpha val="100000"/>
                  </a:schemeClr>
                </a:solidFill>
                <a:effectLst/>
                <a:latin typeface="Arial" panose="020B0604020202020204"/>
                <a:ea typeface="微软雅黑" panose="020B0503020204020204" pitchFamily="34" charset="-122"/>
                <a:cs typeface="思源黑体 Normal"/>
                <a:sym typeface="Arial" panose="020B0604020202020204"/>
              </a:rPr>
              <a:t>The Background</a:t>
            </a:r>
          </a:p>
        </p:txBody>
      </p:sp>
      <p:grpSp>
        <p:nvGrpSpPr>
          <p:cNvPr id="1137" name="图形"/>
          <p:cNvGrpSpPr/>
          <p:nvPr/>
        </p:nvGrpSpPr>
        <p:grpSpPr>
          <a:xfrm>
            <a:off x="7793357" y="1932305"/>
            <a:ext cx="3750945" cy="849630"/>
            <a:chOff x="12273" y="2943"/>
            <a:chExt cx="5907" cy="1338"/>
          </a:xfrm>
        </p:grpSpPr>
        <p:sp>
          <p:nvSpPr>
            <p:cNvPr id="1138" name="图形"/>
            <p:cNvSpPr/>
            <p:nvPr/>
          </p:nvSpPr>
          <p:spPr>
            <a:xfrm>
              <a:off x="12273"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第</a:t>
              </a:r>
            </a:p>
          </p:txBody>
        </p:sp>
        <p:sp>
          <p:nvSpPr>
            <p:cNvPr id="1139" name="图形"/>
            <p:cNvSpPr/>
            <p:nvPr/>
          </p:nvSpPr>
          <p:spPr>
            <a:xfrm>
              <a:off x="13796" y="2943"/>
              <a:ext cx="1338" cy="1338"/>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一</a:t>
              </a:r>
            </a:p>
          </p:txBody>
        </p:sp>
        <p:sp>
          <p:nvSpPr>
            <p:cNvPr id="1140" name="图形"/>
            <p:cNvSpPr/>
            <p:nvPr/>
          </p:nvSpPr>
          <p:spPr>
            <a:xfrm>
              <a:off x="15319"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部</a:t>
              </a:r>
            </a:p>
          </p:txBody>
        </p:sp>
        <p:sp>
          <p:nvSpPr>
            <p:cNvPr id="1141" name="图形"/>
            <p:cNvSpPr/>
            <p:nvPr/>
          </p:nvSpPr>
          <p:spPr>
            <a:xfrm>
              <a:off x="16842"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分</a:t>
              </a:r>
            </a:p>
          </p:txBody>
        </p:sp>
      </p:grpSp>
      <p:grpSp>
        <p:nvGrpSpPr>
          <p:cNvPr id="1142" name="图形"/>
          <p:cNvGrpSpPr/>
          <p:nvPr/>
        </p:nvGrpSpPr>
        <p:grpSpPr>
          <a:xfrm>
            <a:off x="8990331" y="5836920"/>
            <a:ext cx="2555240" cy="444500"/>
            <a:chOff x="14158" y="9192"/>
            <a:chExt cx="4024" cy="700"/>
          </a:xfrm>
        </p:grpSpPr>
        <p:sp>
          <p:nvSpPr>
            <p:cNvPr id="1143" name="图形"/>
            <p:cNvSpPr/>
            <p:nvPr/>
          </p:nvSpPr>
          <p:spPr>
            <a:xfrm>
              <a:off x="14158" y="9192"/>
              <a:ext cx="701" cy="701"/>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44" name="图形"/>
            <p:cNvSpPr/>
            <p:nvPr/>
          </p:nvSpPr>
          <p:spPr>
            <a:xfrm>
              <a:off x="15266"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45" name="图形"/>
            <p:cNvSpPr/>
            <p:nvPr/>
          </p:nvSpPr>
          <p:spPr>
            <a:xfrm>
              <a:off x="16374"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46" name="图形"/>
            <p:cNvSpPr/>
            <p:nvPr/>
          </p:nvSpPr>
          <p:spPr>
            <a:xfrm>
              <a:off x="17482"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9" name="组合 18"/>
          <p:cNvGrpSpPr/>
          <p:nvPr/>
        </p:nvGrpSpPr>
        <p:grpSpPr>
          <a:xfrm>
            <a:off x="9503410" y="508000"/>
            <a:ext cx="2338705" cy="1039495"/>
            <a:chOff x="14966" y="800"/>
            <a:chExt cx="3683" cy="1637"/>
          </a:xfrm>
        </p:grpSpPr>
        <p:pic>
          <p:nvPicPr>
            <p:cNvPr id="17" name="图片 16"/>
            <p:cNvPicPr>
              <a:picLocks noChangeAspect="1"/>
            </p:cNvPicPr>
            <p:nvPr/>
          </p:nvPicPr>
          <p:blipFill>
            <a:blip r:embed="rId4"/>
            <a:stretch>
              <a:fillRect/>
            </a:stretch>
          </p:blipFill>
          <p:spPr>
            <a:xfrm>
              <a:off x="14966" y="800"/>
              <a:ext cx="1381" cy="1381"/>
            </a:xfrm>
            <a:prstGeom prst="rect">
              <a:avLst/>
            </a:prstGeom>
          </p:spPr>
        </p:pic>
        <p:sp>
          <p:nvSpPr>
            <p:cNvPr id="18" name="文本框 17"/>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97"/>
                                        </p:tgtEl>
                                        <p:attrNameLst>
                                          <p:attrName>style.visibility</p:attrName>
                                        </p:attrNameLst>
                                      </p:cBhvr>
                                      <p:to>
                                        <p:strVal val="visible"/>
                                      </p:to>
                                    </p:set>
                                    <p:animEffect transition="in" filter="fade">
                                      <p:cBhvr>
                                        <p:cTn id="7" dur="500"/>
                                        <p:tgtEl>
                                          <p:spTgt spid="1097"/>
                                        </p:tgtEl>
                                      </p:cBhvr>
                                    </p:animEffect>
                                  </p:childTnLst>
                                </p:cTn>
                              </p:par>
                              <p:par>
                                <p:cTn id="8" presetID="10" presetClass="entr" presetSubtype="0" fill="hold" nodeType="withEffect">
                                  <p:stCondLst>
                                    <p:cond delay="0"/>
                                  </p:stCondLst>
                                  <p:childTnLst>
                                    <p:set>
                                      <p:cBhvr>
                                        <p:cTn id="9" dur="1" fill="hold">
                                          <p:stCondLst>
                                            <p:cond delay="0"/>
                                          </p:stCondLst>
                                        </p:cTn>
                                        <p:tgtEl>
                                          <p:spTgt spid="1142"/>
                                        </p:tgtEl>
                                        <p:attrNameLst>
                                          <p:attrName>style.visibility</p:attrName>
                                        </p:attrNameLst>
                                      </p:cBhvr>
                                      <p:to>
                                        <p:strVal val="visible"/>
                                      </p:to>
                                    </p:set>
                                    <p:animEffect transition="in" filter="fade">
                                      <p:cBhvr>
                                        <p:cTn id="10" dur="500"/>
                                        <p:tgtEl>
                                          <p:spTgt spid="1142"/>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000" fill="hold">
                                          <p:stCondLst>
                                            <p:cond delay="0"/>
                                          </p:stCondLst>
                                        </p:cTn>
                                        <p:tgtEl>
                                          <p:spTgt spid="1137"/>
                                        </p:tgtEl>
                                        <p:attrNameLst>
                                          <p:attrName>style.visibility</p:attrName>
                                        </p:attrNameLst>
                                      </p:cBhvr>
                                      <p:to>
                                        <p:strVal val="visible"/>
                                      </p:to>
                                    </p:set>
                                    <p:anim calcmode="lin" valueType="num">
                                      <p:cBhvr>
                                        <p:cTn id="14" dur="1000" fill="hold"/>
                                        <p:tgtEl>
                                          <p:spTgt spid="1137"/>
                                        </p:tgtEl>
                                        <p:attrNameLst>
                                          <p:attrName>ppt_w</p:attrName>
                                        </p:attrNameLst>
                                      </p:cBhvr>
                                      <p:tavLst>
                                        <p:tav tm="0">
                                          <p:val>
                                            <p:fltVal val="0"/>
                                          </p:val>
                                        </p:tav>
                                        <p:tav tm="100000">
                                          <p:val>
                                            <p:strVal val="#ppt_w"/>
                                          </p:val>
                                        </p:tav>
                                      </p:tavLst>
                                    </p:anim>
                                    <p:anim calcmode="lin" valueType="num">
                                      <p:cBhvr>
                                        <p:cTn id="15" dur="1000" fill="hold"/>
                                        <p:tgtEl>
                                          <p:spTgt spid="1137"/>
                                        </p:tgtEl>
                                        <p:attrNameLst>
                                          <p:attrName>ppt_h</p:attrName>
                                        </p:attrNameLst>
                                      </p:cBhvr>
                                      <p:tavLst>
                                        <p:tav tm="0">
                                          <p:val>
                                            <p:fltVal val="0"/>
                                          </p:val>
                                        </p:tav>
                                        <p:tav tm="100000">
                                          <p:val>
                                            <p:strVal val="#ppt_h"/>
                                          </p:val>
                                        </p:tav>
                                      </p:tavLst>
                                    </p:anim>
                                  </p:childTnLst>
                                </p:cTn>
                              </p:par>
                            </p:childTnLst>
                          </p:cTn>
                        </p:par>
                        <p:par>
                          <p:cTn id="16" fill="hold">
                            <p:stCondLst>
                              <p:cond delay="1500"/>
                            </p:stCondLst>
                            <p:childTnLst>
                              <p:par>
                                <p:cTn id="17" presetID="23" presetClass="entr" presetSubtype="16" fill="hold" nodeType="afterEffect">
                                  <p:stCondLst>
                                    <p:cond delay="0"/>
                                  </p:stCondLst>
                                  <p:childTnLst>
                                    <p:set>
                                      <p:cBhvr>
                                        <p:cTn id="18" dur="1000" fill="hold">
                                          <p:stCondLst>
                                            <p:cond delay="0"/>
                                          </p:stCondLst>
                                        </p:cTn>
                                        <p:tgtEl>
                                          <p:spTgt spid="1135"/>
                                        </p:tgtEl>
                                        <p:attrNameLst>
                                          <p:attrName>style.visibility</p:attrName>
                                        </p:attrNameLst>
                                      </p:cBhvr>
                                      <p:to>
                                        <p:strVal val="visible"/>
                                      </p:to>
                                    </p:set>
                                    <p:anim calcmode="lin" valueType="num">
                                      <p:cBhvr>
                                        <p:cTn id="19" dur="1000" fill="hold"/>
                                        <p:tgtEl>
                                          <p:spTgt spid="1135"/>
                                        </p:tgtEl>
                                        <p:attrNameLst>
                                          <p:attrName>ppt_w</p:attrName>
                                        </p:attrNameLst>
                                      </p:cBhvr>
                                      <p:tavLst>
                                        <p:tav tm="0">
                                          <p:val>
                                            <p:fltVal val="0"/>
                                          </p:val>
                                        </p:tav>
                                        <p:tav tm="100000">
                                          <p:val>
                                            <p:strVal val="#ppt_w"/>
                                          </p:val>
                                        </p:tav>
                                      </p:tavLst>
                                    </p:anim>
                                    <p:anim calcmode="lin" valueType="num">
                                      <p:cBhvr>
                                        <p:cTn id="20" dur="1000" fill="hold"/>
                                        <p:tgtEl>
                                          <p:spTgt spid="1135"/>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000" fill="hold">
                                          <p:stCondLst>
                                            <p:cond delay="0"/>
                                          </p:stCondLst>
                                        </p:cTn>
                                        <p:tgtEl>
                                          <p:spTgt spid="1136"/>
                                        </p:tgtEl>
                                        <p:attrNameLst>
                                          <p:attrName>style.visibility</p:attrName>
                                        </p:attrNameLst>
                                      </p:cBhvr>
                                      <p:to>
                                        <p:strVal val="visible"/>
                                      </p:to>
                                    </p:set>
                                    <p:anim calcmode="lin" valueType="num">
                                      <p:cBhvr>
                                        <p:cTn id="23" dur="1000" fill="hold"/>
                                        <p:tgtEl>
                                          <p:spTgt spid="1136"/>
                                        </p:tgtEl>
                                        <p:attrNameLst>
                                          <p:attrName>ppt_w</p:attrName>
                                        </p:attrNameLst>
                                      </p:cBhvr>
                                      <p:tavLst>
                                        <p:tav tm="0">
                                          <p:val>
                                            <p:fltVal val="0"/>
                                          </p:val>
                                        </p:tav>
                                        <p:tav tm="100000">
                                          <p:val>
                                            <p:strVal val="#ppt_w"/>
                                          </p:val>
                                        </p:tav>
                                      </p:tavLst>
                                    </p:anim>
                                    <p:anim calcmode="lin" valueType="num">
                                      <p:cBhvr>
                                        <p:cTn id="24" dur="1000" fill="hold"/>
                                        <p:tgtEl>
                                          <p:spTgt spid="11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5" name="文本框 1274"/>
          <p:cNvSpPr txBox="1"/>
          <p:nvPr/>
        </p:nvSpPr>
        <p:spPr>
          <a:xfrm>
            <a:off x="663575" y="894715"/>
            <a:ext cx="10803255" cy="521970"/>
          </a:xfrm>
        </p:spPr>
        <p:txBody>
          <a:bodyPr wrap="square">
            <a:spAutoFit/>
          </a:bodyPr>
          <a:lstStyle/>
          <a:p>
            <a:r>
              <a:rPr lang="en-US" sz="1600">
                <a:latin typeface="宋体" panose="02010600030101010101" pitchFamily="2" charset="-122"/>
                <a:ea typeface="宋体" panose="02010600030101010101" pitchFamily="2" charset="-122"/>
                <a:cs typeface="+mn-cs"/>
              </a:rPr>
              <a:t>    </a:t>
            </a:r>
            <a:r>
              <a:rPr lang="en-US" sz="2800">
                <a:latin typeface="宋体" panose="02010600030101010101" pitchFamily="2" charset="-122"/>
                <a:ea typeface="宋体" panose="02010600030101010101" pitchFamily="2" charset="-122"/>
                <a:cs typeface="+mn-cs"/>
              </a:rPr>
              <a:t> </a:t>
            </a:r>
            <a:endParaRPr sz="2800">
              <a:solidFill>
                <a:schemeClr val="tx1"/>
              </a:solidFill>
              <a:latin typeface="宋体" panose="02010600030101010101" pitchFamily="2" charset="-122"/>
              <a:ea typeface="宋体" panose="02010600030101010101" pitchFamily="2" charset="-122"/>
              <a:cs typeface="+mn-cs"/>
            </a:endParaRPr>
          </a:p>
        </p:txBody>
      </p:sp>
      <p:sp>
        <p:nvSpPr>
          <p:cNvPr id="1276" name="文本框 1275"/>
          <p:cNvSpPr txBox="1"/>
          <p:nvPr/>
        </p:nvSpPr>
        <p:spPr>
          <a:xfrm>
            <a:off x="465455" y="243205"/>
            <a:ext cx="3863340" cy="645160"/>
          </a:xfrm>
          <a:prstGeom prst="rect">
            <a:avLst/>
          </a:prstGeom>
          <a:ln w="12700">
            <a:prstDash val="solid"/>
            <a:miter lim="800000"/>
          </a:ln>
        </p:spPr>
        <p:txBody>
          <a:bodyPr wrap="square">
            <a:spAutoFit/>
          </a:bodyPr>
          <a:lstStyle/>
          <a:p>
            <a:r>
              <a:rPr lang="zh-CN" sz="3600" b="1">
                <a:solidFill>
                  <a:schemeClr val="tx1">
                    <a:alpha val="100000"/>
                  </a:schemeClr>
                </a:solidFill>
                <a:latin typeface="微软雅黑" panose="020B0503020204020204" pitchFamily="34" charset="-122"/>
                <a:ea typeface="微软雅黑" panose="020B0503020204020204" pitchFamily="34" charset="-122"/>
                <a:cs typeface="宋体" panose="02010600030101010101" pitchFamily="2" charset="-122"/>
              </a:rPr>
              <a:t>全球化导向</a:t>
            </a:r>
          </a:p>
        </p:txBody>
      </p:sp>
      <p:cxnSp>
        <p:nvCxnSpPr>
          <p:cNvPr id="1277" name="直接箭头连接符 1276"/>
          <p:cNvCxnSpPr/>
          <p:nvPr/>
        </p:nvCxnSpPr>
        <p:spPr>
          <a:xfrm>
            <a:off x="465667" y="894753"/>
            <a:ext cx="11199305" cy="11545"/>
          </a:xfrm>
          <a:prstGeom prst="straightConnector1">
            <a:avLst/>
          </a:prstGeom>
          <a:ln w="25400">
            <a:gradFill>
              <a:gsLst>
                <a:gs pos="90000">
                  <a:schemeClr val="tx2">
                    <a:lumMod val="25000"/>
                    <a:lumOff val="75000"/>
                    <a:alpha val="100000"/>
                  </a:schemeClr>
                </a:gs>
                <a:gs pos="100000">
                  <a:srgbClr val="7030A0">
                    <a:alpha val="100000"/>
                  </a:srgbClr>
                </a:gs>
              </a:gsLst>
              <a:lin ang="8100000" scaled="1"/>
            </a:gradFill>
            <a:prstDash val="solid"/>
          </a:ln>
        </p:spPr>
      </p:cxnSp>
      <p:pic>
        <p:nvPicPr>
          <p:cNvPr id="2" name="图片 1"/>
          <p:cNvPicPr>
            <a:picLocks noChangeAspect="1"/>
          </p:cNvPicPr>
          <p:nvPr/>
        </p:nvPicPr>
        <p:blipFill>
          <a:blip r:embed="rId3"/>
          <a:srcRect t="10905" r="-530" b="14516"/>
          <a:stretch>
            <a:fillRect/>
          </a:stretch>
        </p:blipFill>
        <p:spPr>
          <a:xfrm>
            <a:off x="4686618" y="912495"/>
            <a:ext cx="2818765" cy="2788285"/>
          </a:xfrm>
          <a:prstGeom prst="rect">
            <a:avLst/>
          </a:prstGeom>
        </p:spPr>
      </p:pic>
      <p:sp>
        <p:nvSpPr>
          <p:cNvPr id="3" name="下箭头 2"/>
          <p:cNvSpPr/>
          <p:nvPr/>
        </p:nvSpPr>
        <p:spPr>
          <a:xfrm rot="3840000">
            <a:off x="3851275" y="1856105"/>
            <a:ext cx="325120" cy="134556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下箭头 3"/>
          <p:cNvSpPr/>
          <p:nvPr/>
        </p:nvSpPr>
        <p:spPr>
          <a:xfrm>
            <a:off x="5963920" y="3700780"/>
            <a:ext cx="325120" cy="119634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下箭头 4"/>
          <p:cNvSpPr/>
          <p:nvPr/>
        </p:nvSpPr>
        <p:spPr>
          <a:xfrm rot="17340000">
            <a:off x="7972425" y="2007235"/>
            <a:ext cx="325120" cy="134556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4"/>
          <a:stretch>
            <a:fillRect/>
          </a:stretch>
        </p:blipFill>
        <p:spPr>
          <a:xfrm>
            <a:off x="465455" y="2691765"/>
            <a:ext cx="2554605" cy="1788160"/>
          </a:xfrm>
          <a:prstGeom prst="rect">
            <a:avLst/>
          </a:prstGeom>
        </p:spPr>
      </p:pic>
      <p:pic>
        <p:nvPicPr>
          <p:cNvPr id="8" name="图片 7"/>
          <p:cNvPicPr>
            <a:picLocks noChangeAspect="1"/>
          </p:cNvPicPr>
          <p:nvPr/>
        </p:nvPicPr>
        <p:blipFill>
          <a:blip r:embed="rId5"/>
          <a:stretch>
            <a:fillRect/>
          </a:stretch>
        </p:blipFill>
        <p:spPr>
          <a:xfrm>
            <a:off x="4761865" y="4961255"/>
            <a:ext cx="2743835" cy="1792605"/>
          </a:xfrm>
          <a:prstGeom prst="rect">
            <a:avLst/>
          </a:prstGeom>
        </p:spPr>
      </p:pic>
      <p:pic>
        <p:nvPicPr>
          <p:cNvPr id="9" name="图片 8"/>
          <p:cNvPicPr>
            <a:picLocks noChangeAspect="1"/>
          </p:cNvPicPr>
          <p:nvPr/>
        </p:nvPicPr>
        <p:blipFill>
          <a:blip r:embed="rId6"/>
          <a:srcRect l="3656" r="12751" b="4926"/>
          <a:stretch>
            <a:fillRect/>
          </a:stretch>
        </p:blipFill>
        <p:spPr>
          <a:xfrm>
            <a:off x="8965565" y="2482215"/>
            <a:ext cx="2962275" cy="19977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75"/>
                                        </p:tgtEl>
                                        <p:attrNameLst>
                                          <p:attrName>style.visibility</p:attrName>
                                        </p:attrNameLst>
                                      </p:cBhvr>
                                      <p:to>
                                        <p:strVal val="visible"/>
                                      </p:to>
                                    </p:set>
                                    <p:animEffect transition="in" filter="fade">
                                      <p:cBhvr>
                                        <p:cTn id="7" dur="500"/>
                                        <p:tgtEl>
                                          <p:spTgt spid="127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5" grpId="0"/>
      <p:bldP spid="3" grpId="0" bldLvl="0" animBg="1"/>
      <p:bldP spid="3" grpId="1" animBg="1"/>
      <p:bldP spid="4" grpId="0" bldLvl="0" animBg="1"/>
      <p:bldP spid="4" grpId="1" animBg="1"/>
      <p:bldP spid="5" grpId="0" bldLvl="0" animBg="1"/>
      <p:bldP spid="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5" name="文本框 1274"/>
          <p:cNvSpPr txBox="1"/>
          <p:nvPr/>
        </p:nvSpPr>
        <p:spPr>
          <a:xfrm>
            <a:off x="663575" y="894715"/>
            <a:ext cx="10803255" cy="2738120"/>
          </a:xfrm>
        </p:spPr>
        <p:txBody>
          <a:bodyPr wrap="square">
            <a:spAutoFit/>
          </a:bodyPr>
          <a:lstStyle/>
          <a:p>
            <a:r>
              <a:rPr lang="en-US" sz="1600">
                <a:latin typeface="宋体" panose="02010600030101010101" pitchFamily="2" charset="-122"/>
                <a:ea typeface="宋体" panose="02010600030101010101" pitchFamily="2" charset="-122"/>
                <a:cs typeface="+mn-cs"/>
              </a:rPr>
              <a:t>    </a:t>
            </a:r>
            <a:r>
              <a:rPr lang="en-US" sz="2800">
                <a:latin typeface="宋体" panose="02010600030101010101" pitchFamily="2" charset="-122"/>
                <a:ea typeface="宋体" panose="02010600030101010101" pitchFamily="2" charset="-122"/>
                <a:cs typeface="+mn-cs"/>
              </a:rPr>
              <a:t> </a:t>
            </a:r>
            <a:r>
              <a:rPr lang="en-US" altLang="zh-CN" sz="2800">
                <a:latin typeface="宋体" panose="02010600030101010101" pitchFamily="2" charset="-122"/>
                <a:ea typeface="宋体" panose="02010600030101010101" pitchFamily="2" charset="-122"/>
                <a:cs typeface="+mn-cs"/>
              </a:rPr>
              <a:t>2022 </a:t>
            </a:r>
            <a:r>
              <a:rPr lang="zh-CN" altLang="en-US" sz="2800">
                <a:latin typeface="宋体" panose="02010600030101010101" pitchFamily="2" charset="-122"/>
                <a:ea typeface="宋体" panose="02010600030101010101" pitchFamily="2" charset="-122"/>
                <a:cs typeface="+mn-cs"/>
              </a:rPr>
              <a:t>年全球语言服务市场规模已超</a:t>
            </a:r>
            <a:r>
              <a:rPr lang="en-US" altLang="zh-CN" sz="2800">
                <a:latin typeface="宋体" panose="02010600030101010101" pitchFamily="2" charset="-122"/>
                <a:ea typeface="宋体" panose="02010600030101010101" pitchFamily="2" charset="-122"/>
                <a:cs typeface="+mn-cs"/>
              </a:rPr>
              <a:t> </a:t>
            </a:r>
            <a:r>
              <a:rPr lang="en-US" altLang="zh-CN" sz="4400" b="1">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mn-cs"/>
              </a:rPr>
              <a:t>500 </a:t>
            </a:r>
            <a:r>
              <a:rPr lang="zh-CN" altLang="en-US" sz="4400" b="1">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mn-cs"/>
              </a:rPr>
              <a:t>亿</a:t>
            </a:r>
            <a:r>
              <a:rPr lang="zh-CN" altLang="en-US" sz="2800">
                <a:latin typeface="宋体" panose="02010600030101010101" pitchFamily="2" charset="-122"/>
                <a:ea typeface="宋体" panose="02010600030101010101" pitchFamily="2" charset="-122"/>
                <a:cs typeface="+mn-cs"/>
              </a:rPr>
              <a:t>美元，其中翻译软件及相关技术服务占比超</a:t>
            </a:r>
            <a:r>
              <a:rPr lang="en-US" altLang="zh-CN" sz="2800">
                <a:latin typeface="宋体" panose="02010600030101010101" pitchFamily="2" charset="-122"/>
                <a:ea typeface="宋体" panose="02010600030101010101" pitchFamily="2" charset="-122"/>
                <a:cs typeface="+mn-cs"/>
              </a:rPr>
              <a:t> 40%</a:t>
            </a:r>
            <a:r>
              <a:rPr lang="zh-CN" altLang="en-US" sz="2800">
                <a:latin typeface="宋体" panose="02010600030101010101" pitchFamily="2" charset="-122"/>
                <a:ea typeface="宋体" panose="02010600030101010101" pitchFamily="2" charset="-122"/>
                <a:cs typeface="+mn-cs"/>
              </a:rPr>
              <a:t>；预计到</a:t>
            </a:r>
            <a:r>
              <a:rPr lang="en-US" altLang="zh-CN" sz="2800">
                <a:latin typeface="宋体" panose="02010600030101010101" pitchFamily="2" charset="-122"/>
                <a:ea typeface="宋体" panose="02010600030101010101" pitchFamily="2" charset="-122"/>
                <a:cs typeface="+mn-cs"/>
              </a:rPr>
              <a:t> 2030 </a:t>
            </a:r>
            <a:r>
              <a:rPr lang="zh-CN" altLang="en-US" sz="2800">
                <a:latin typeface="宋体" panose="02010600030101010101" pitchFamily="2" charset="-122"/>
                <a:ea typeface="宋体" panose="02010600030101010101" pitchFamily="2" charset="-122"/>
                <a:cs typeface="+mn-cs"/>
              </a:rPr>
              <a:t>年，市场规模将突破</a:t>
            </a:r>
            <a:r>
              <a:rPr lang="en-US" altLang="zh-CN" sz="2800">
                <a:latin typeface="宋体" panose="02010600030101010101" pitchFamily="2" charset="-122"/>
                <a:ea typeface="宋体" panose="02010600030101010101" pitchFamily="2" charset="-122"/>
                <a:cs typeface="+mn-cs"/>
              </a:rPr>
              <a:t> </a:t>
            </a:r>
            <a:r>
              <a:rPr lang="en-US" altLang="zh-CN" sz="440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mn-cs"/>
              </a:rPr>
              <a:t>1000 </a:t>
            </a:r>
            <a:r>
              <a:rPr lang="zh-CN" altLang="en-US" sz="4400">
                <a:ln/>
                <a:solidFill>
                  <a:schemeClr val="accent1"/>
                </a:solidFill>
                <a:effectLst>
                  <a:outerShdw blurRad="38100" dist="25400" dir="5400000" algn="ctr" rotWithShape="0">
                    <a:srgbClr val="6E747A">
                      <a:alpha val="43000"/>
                    </a:srgbClr>
                  </a:outerShdw>
                </a:effectLst>
                <a:latin typeface="宋体" panose="02010600030101010101" pitchFamily="2" charset="-122"/>
                <a:ea typeface="宋体" panose="02010600030101010101" pitchFamily="2" charset="-122"/>
                <a:cs typeface="+mn-cs"/>
              </a:rPr>
              <a:t>亿</a:t>
            </a:r>
            <a:r>
              <a:rPr lang="zh-CN" altLang="en-US" sz="2800">
                <a:latin typeface="宋体" panose="02010600030101010101" pitchFamily="2" charset="-122"/>
                <a:ea typeface="宋体" panose="02010600030101010101" pitchFamily="2" charset="-122"/>
                <a:cs typeface="+mn-cs"/>
              </a:rPr>
              <a:t>美元，年复合增长率（</a:t>
            </a:r>
            <a:r>
              <a:rPr lang="en-US" altLang="zh-CN" sz="2800">
                <a:latin typeface="宋体" panose="02010600030101010101" pitchFamily="2" charset="-122"/>
                <a:ea typeface="宋体" panose="02010600030101010101" pitchFamily="2" charset="-122"/>
                <a:cs typeface="+mn-cs"/>
              </a:rPr>
              <a:t>CAGR</a:t>
            </a:r>
            <a:r>
              <a:rPr lang="zh-CN" altLang="en-US" sz="2800">
                <a:latin typeface="宋体" panose="02010600030101010101" pitchFamily="2" charset="-122"/>
                <a:ea typeface="宋体" panose="02010600030101010101" pitchFamily="2" charset="-122"/>
                <a:cs typeface="+mn-cs"/>
              </a:rPr>
              <a:t>）达</a:t>
            </a:r>
            <a:r>
              <a:rPr lang="en-US" altLang="zh-CN" sz="2800">
                <a:latin typeface="宋体" panose="02010600030101010101" pitchFamily="2" charset="-122"/>
                <a:ea typeface="宋体" panose="02010600030101010101" pitchFamily="2" charset="-122"/>
                <a:cs typeface="+mn-cs"/>
              </a:rPr>
              <a:t> 7.2%</a:t>
            </a:r>
            <a:r>
              <a:rPr lang="zh-CN" altLang="en-US" sz="2800">
                <a:latin typeface="宋体" panose="02010600030101010101" pitchFamily="2" charset="-122"/>
                <a:ea typeface="宋体" panose="02010600030101010101" pitchFamily="2" charset="-122"/>
                <a:cs typeface="+mn-cs"/>
              </a:rPr>
              <a:t>。这一统计数据深刻揭示了翻译软件和平台在市场上的巨大潜力以及对高质量翻译模型的巨大需求。</a:t>
            </a:r>
            <a:r>
              <a:rPr lang="en-US" sz="1600">
                <a:latin typeface="宋体" panose="02010600030101010101" pitchFamily="2" charset="-122"/>
                <a:ea typeface="宋体" panose="02010600030101010101" pitchFamily="2" charset="-122"/>
                <a:cs typeface="+mn-cs"/>
              </a:rPr>
              <a:t> </a:t>
            </a:r>
            <a:endParaRPr sz="2800">
              <a:solidFill>
                <a:schemeClr val="tx1"/>
              </a:solidFill>
              <a:latin typeface="宋体" panose="02010600030101010101" pitchFamily="2" charset="-122"/>
              <a:ea typeface="宋体" panose="02010600030101010101" pitchFamily="2" charset="-122"/>
              <a:cs typeface="+mn-cs"/>
            </a:endParaRPr>
          </a:p>
        </p:txBody>
      </p:sp>
      <p:sp>
        <p:nvSpPr>
          <p:cNvPr id="1276" name="文本框 1275"/>
          <p:cNvSpPr txBox="1"/>
          <p:nvPr/>
        </p:nvSpPr>
        <p:spPr>
          <a:xfrm>
            <a:off x="465455" y="221615"/>
            <a:ext cx="3863340" cy="645160"/>
          </a:xfrm>
          <a:prstGeom prst="rect">
            <a:avLst/>
          </a:prstGeom>
          <a:ln w="12700">
            <a:prstDash val="solid"/>
            <a:miter lim="800000"/>
          </a:ln>
        </p:spPr>
        <p:txBody>
          <a:bodyPr wrap="square">
            <a:spAutoFit/>
          </a:bodyPr>
          <a:lstStyle/>
          <a:p>
            <a:r>
              <a:rPr lang="zh-CN" sz="3600" b="1">
                <a:solidFill>
                  <a:schemeClr val="tx1">
                    <a:alpha val="100000"/>
                  </a:schemeClr>
                </a:solidFill>
                <a:latin typeface="微软雅黑" panose="020B0503020204020204" pitchFamily="34" charset="-122"/>
                <a:ea typeface="微软雅黑" panose="020B0503020204020204" pitchFamily="34" charset="-122"/>
                <a:cs typeface="宋体" panose="02010600030101010101" pitchFamily="2" charset="-122"/>
              </a:rPr>
              <a:t>中英翻译大有可为</a:t>
            </a:r>
          </a:p>
        </p:txBody>
      </p:sp>
      <p:cxnSp>
        <p:nvCxnSpPr>
          <p:cNvPr id="1277" name="直接箭头连接符 1276"/>
          <p:cNvCxnSpPr/>
          <p:nvPr/>
        </p:nvCxnSpPr>
        <p:spPr>
          <a:xfrm>
            <a:off x="465667" y="894753"/>
            <a:ext cx="11199305" cy="11545"/>
          </a:xfrm>
          <a:prstGeom prst="straightConnector1">
            <a:avLst/>
          </a:prstGeom>
          <a:ln w="25400">
            <a:gradFill>
              <a:gsLst>
                <a:gs pos="90000">
                  <a:schemeClr val="tx2">
                    <a:lumMod val="25000"/>
                    <a:lumOff val="75000"/>
                    <a:alpha val="100000"/>
                  </a:schemeClr>
                </a:gs>
                <a:gs pos="100000">
                  <a:srgbClr val="7030A0">
                    <a:alpha val="100000"/>
                  </a:srgbClr>
                </a:gs>
              </a:gsLst>
              <a:lin ang="8100000" scaled="1"/>
            </a:gradFill>
            <a:prstDash val="solid"/>
          </a:ln>
        </p:spPr>
      </p:cxnSp>
      <p:pic>
        <p:nvPicPr>
          <p:cNvPr id="6" name="图片 1" descr="IMG_256"/>
          <p:cNvPicPr>
            <a:picLocks noChangeAspect="1"/>
          </p:cNvPicPr>
          <p:nvPr/>
        </p:nvPicPr>
        <p:blipFill>
          <a:blip r:embed="rId3"/>
          <a:stretch>
            <a:fillRect/>
          </a:stretch>
        </p:blipFill>
        <p:spPr>
          <a:xfrm>
            <a:off x="2839720" y="3512185"/>
            <a:ext cx="6242685" cy="317246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75"/>
                                        </p:tgtEl>
                                        <p:attrNameLst>
                                          <p:attrName>style.visibility</p:attrName>
                                        </p:attrNameLst>
                                      </p:cBhvr>
                                      <p:to>
                                        <p:strVal val="visible"/>
                                      </p:to>
                                    </p:set>
                                    <p:animEffect transition="in" filter="fade">
                                      <p:cBhvr>
                                        <p:cTn id="7" dur="500"/>
                                        <p:tgtEl>
                                          <p:spTgt spid="1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755650" y="4728845"/>
            <a:ext cx="10579100" cy="1883410"/>
            <a:chOff x="1190" y="7447"/>
            <a:chExt cx="16660" cy="2966"/>
          </a:xfrm>
        </p:grpSpPr>
        <p:sp>
          <p:nvSpPr>
            <p:cNvPr id="1297" name="圆角矩形 1296"/>
            <p:cNvSpPr/>
            <p:nvPr>
              <p:custDataLst>
                <p:tags r:id="rId2"/>
              </p:custDataLst>
            </p:nvPr>
          </p:nvSpPr>
          <p:spPr>
            <a:xfrm>
              <a:off x="1190" y="7447"/>
              <a:ext cx="4411" cy="2892"/>
            </a:xfrm>
            <a:prstGeom prst="roundRect">
              <a:avLst/>
            </a:prstGeom>
            <a:gradFill rotWithShape="1">
              <a:gsLst>
                <a:gs pos="0">
                  <a:schemeClr val="accent4">
                    <a:alpha val="100000"/>
                  </a:schemeClr>
                </a:gs>
                <a:gs pos="100000">
                  <a:schemeClr val="bg1">
                    <a:alpha val="100000"/>
                  </a:schemeClr>
                </a:gs>
              </a:gsLst>
              <a:lin ang="16200000" scaled="1"/>
            </a:gradFill>
            <a:ln w="0"/>
          </p:spPr>
          <p:txBody>
            <a:bodyPr anchor="ctr"/>
            <a:lstStyle/>
            <a:p>
              <a:pPr algn="ctr"/>
              <a:endParaRPr/>
            </a:p>
          </p:txBody>
        </p:sp>
        <p:sp>
          <p:nvSpPr>
            <p:cNvPr id="1298" name="圆角矩形 1297"/>
            <p:cNvSpPr/>
            <p:nvPr>
              <p:custDataLst>
                <p:tags r:id="rId3"/>
              </p:custDataLst>
            </p:nvPr>
          </p:nvSpPr>
          <p:spPr>
            <a:xfrm>
              <a:off x="7420" y="7447"/>
              <a:ext cx="4411" cy="2892"/>
            </a:xfrm>
            <a:prstGeom prst="roundRect">
              <a:avLst/>
            </a:prstGeom>
            <a:gradFill rotWithShape="1">
              <a:gsLst>
                <a:gs pos="0">
                  <a:schemeClr val="accent3">
                    <a:lumMod val="75000"/>
                    <a:alpha val="100000"/>
                  </a:schemeClr>
                </a:gs>
                <a:gs pos="100000">
                  <a:schemeClr val="bg1">
                    <a:alpha val="100000"/>
                  </a:schemeClr>
                </a:gs>
              </a:gsLst>
              <a:lin ang="16200000" scaled="1"/>
            </a:gradFill>
            <a:ln w="0"/>
          </p:spPr>
          <p:txBody>
            <a:bodyPr anchor="ctr"/>
            <a:lstStyle/>
            <a:p>
              <a:pPr algn="ctr"/>
              <a:endParaRPr/>
            </a:p>
          </p:txBody>
        </p:sp>
        <p:sp>
          <p:nvSpPr>
            <p:cNvPr id="1299" name="圆角矩形 1298"/>
            <p:cNvSpPr/>
            <p:nvPr>
              <p:custDataLst>
                <p:tags r:id="rId4"/>
              </p:custDataLst>
            </p:nvPr>
          </p:nvSpPr>
          <p:spPr>
            <a:xfrm>
              <a:off x="13347" y="7447"/>
              <a:ext cx="4411" cy="2892"/>
            </a:xfrm>
            <a:prstGeom prst="roundRect">
              <a:avLst/>
            </a:prstGeom>
            <a:gradFill rotWithShape="1">
              <a:gsLst>
                <a:gs pos="0">
                  <a:schemeClr val="accent1">
                    <a:lumMod val="75000"/>
                    <a:alpha val="100000"/>
                  </a:schemeClr>
                </a:gs>
                <a:gs pos="100000">
                  <a:schemeClr val="bg1">
                    <a:alpha val="100000"/>
                  </a:schemeClr>
                </a:gs>
              </a:gsLst>
              <a:lin ang="16200000" scaled="1"/>
            </a:gradFill>
            <a:ln w="0"/>
          </p:spPr>
          <p:txBody>
            <a:bodyPr anchor="ctr"/>
            <a:lstStyle/>
            <a:p>
              <a:pPr algn="ctr"/>
              <a:endParaRPr/>
            </a:p>
          </p:txBody>
        </p:sp>
        <p:sp>
          <p:nvSpPr>
            <p:cNvPr id="1300" name="文本框 1299"/>
            <p:cNvSpPr txBox="1"/>
            <p:nvPr>
              <p:custDataLst>
                <p:tags r:id="rId5"/>
              </p:custDataLst>
            </p:nvPr>
          </p:nvSpPr>
          <p:spPr>
            <a:xfrm>
              <a:off x="13347" y="7846"/>
              <a:ext cx="4503" cy="2567"/>
            </a:xfrm>
            <a:prstGeom prst="rect">
              <a:avLst/>
            </a:prstGeom>
            <a:ln w="12700">
              <a:prstDash val="solid"/>
              <a:miter lim="800000"/>
            </a:ln>
          </p:spPr>
          <p:txBody>
            <a:bodyPr wrap="square">
              <a:spAutoFit/>
            </a:bodyPr>
            <a:lstStyle/>
            <a:p>
              <a:pPr algn="ctr"/>
              <a:r>
                <a:rPr lang="zh-CN" altLang="en-US" sz="2000" b="1">
                  <a:solidFill>
                    <a:schemeClr val="tx1">
                      <a:alpha val="100000"/>
                    </a:schemeClr>
                  </a:solidFill>
                  <a:latin typeface="宋体" panose="02010600030101010101" pitchFamily="2" charset="-122"/>
                  <a:ea typeface="宋体" panose="02010600030101010101" pitchFamily="2" charset="-122"/>
                </a:rPr>
                <a:t>当通过文件导入内容进行翻译时，可能会出现翻译后文件格式错乱、文本被加密或变为不可编辑格式的情况</a:t>
              </a:r>
            </a:p>
          </p:txBody>
        </p:sp>
        <p:sp>
          <p:nvSpPr>
            <p:cNvPr id="1301" name="文本框 1300"/>
            <p:cNvSpPr txBox="1"/>
            <p:nvPr>
              <p:custDataLst>
                <p:tags r:id="rId6"/>
              </p:custDataLst>
            </p:nvPr>
          </p:nvSpPr>
          <p:spPr>
            <a:xfrm>
              <a:off x="7536" y="7846"/>
              <a:ext cx="4226" cy="2567"/>
            </a:xfrm>
            <a:prstGeom prst="rect">
              <a:avLst/>
            </a:prstGeom>
            <a:ln w="12700">
              <a:prstDash val="solid"/>
              <a:miter lim="800000"/>
            </a:ln>
          </p:spPr>
          <p:txBody>
            <a:bodyPr wrap="square">
              <a:spAutoFit/>
            </a:bodyPr>
            <a:lstStyle/>
            <a:p>
              <a:pPr algn="ctr"/>
              <a:r>
                <a:rPr lang="zh-CN" sz="2000" b="1">
                  <a:latin typeface="宋体" panose="02010600030101010101" pitchFamily="2" charset="-122"/>
                  <a:ea typeface="宋体" panose="02010600030101010101" pitchFamily="2" charset="-122"/>
                </a:rPr>
                <a:t>为了追求语言的流畅和</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地道</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，百度翻译有时会过度意译，导致结果偏离原文意思</a:t>
              </a:r>
            </a:p>
          </p:txBody>
        </p:sp>
        <p:sp>
          <p:nvSpPr>
            <p:cNvPr id="1302" name="文本框 1301"/>
            <p:cNvSpPr txBox="1"/>
            <p:nvPr>
              <p:custDataLst>
                <p:tags r:id="rId7"/>
              </p:custDataLst>
            </p:nvPr>
          </p:nvSpPr>
          <p:spPr>
            <a:xfrm>
              <a:off x="1244" y="7846"/>
              <a:ext cx="4212" cy="2567"/>
            </a:xfrm>
            <a:prstGeom prst="rect">
              <a:avLst/>
            </a:prstGeom>
            <a:ln w="12700">
              <a:prstDash val="solid"/>
              <a:miter lim="800000"/>
            </a:ln>
          </p:spPr>
          <p:txBody>
            <a:bodyPr wrap="square">
              <a:spAutoFit/>
            </a:bodyPr>
            <a:lstStyle/>
            <a:p>
              <a:pPr algn="ctr"/>
              <a:r>
                <a:rPr lang="zh-CN" sz="2000" b="1">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黑盒模型，用户零控制，无法在速度与质量之间进行权衡选择，用户只能接受单一翻译结果</a:t>
              </a:r>
            </a:p>
          </p:txBody>
        </p:sp>
      </p:grpSp>
      <p:pic>
        <p:nvPicPr>
          <p:cNvPr id="1306" name="图片 1305"/>
          <p:cNvPicPr>
            <a:picLocks noChangeAspect="1"/>
          </p:cNvPicPr>
          <p:nvPr/>
        </p:nvPicPr>
        <p:blipFill>
          <a:blip r:embed="rId10"/>
          <a:stretch>
            <a:fillRect/>
          </a:stretch>
        </p:blipFill>
        <p:spPr>
          <a:xfrm>
            <a:off x="5226543" y="1910111"/>
            <a:ext cx="1677554" cy="1733967"/>
          </a:xfrm>
          <a:prstGeom prst="rect">
            <a:avLst/>
          </a:prstGeom>
        </p:spPr>
      </p:pic>
      <p:sp>
        <p:nvSpPr>
          <p:cNvPr id="1291" name="文本框 1290"/>
          <p:cNvSpPr txBox="1"/>
          <p:nvPr/>
        </p:nvSpPr>
        <p:spPr>
          <a:xfrm>
            <a:off x="473075" y="224155"/>
            <a:ext cx="4950460" cy="645160"/>
          </a:xfrm>
          <a:prstGeom prst="rect">
            <a:avLst/>
          </a:prstGeom>
          <a:ln w="12700">
            <a:prstDash val="solid"/>
            <a:miter lim="800000"/>
          </a:ln>
        </p:spPr>
        <p:txBody>
          <a:bodyPr wrap="square">
            <a:spAutoFit/>
          </a:bodyPr>
          <a:lstStyle/>
          <a:p>
            <a:r>
              <a:rPr lang="zh-CN" sz="3600" b="1">
                <a:solidFill>
                  <a:schemeClr val="tx1">
                    <a:alpha val="100000"/>
                  </a:schemeClr>
                </a:solidFill>
                <a:latin typeface="微软雅黑" panose="020B0503020204020204" pitchFamily="34" charset="-122"/>
                <a:ea typeface="微软雅黑" panose="020B0503020204020204" pitchFamily="34" charset="-122"/>
              </a:rPr>
              <a:t>已有翻译软件</a:t>
            </a:r>
            <a:r>
              <a:rPr lang="zh-CN" altLang="en-US" sz="3600" b="1">
                <a:solidFill>
                  <a:schemeClr val="tx1">
                    <a:alpha val="100000"/>
                  </a:schemeClr>
                </a:solidFill>
                <a:latin typeface="微软雅黑" panose="020B0503020204020204" pitchFamily="34" charset="-122"/>
                <a:ea typeface="微软雅黑" panose="020B0503020204020204" pitchFamily="34" charset="-122"/>
              </a:rPr>
              <a:t>各有不足</a:t>
            </a:r>
          </a:p>
        </p:txBody>
      </p:sp>
      <p:cxnSp>
        <p:nvCxnSpPr>
          <p:cNvPr id="1292" name="直接箭头连接符 1291"/>
          <p:cNvCxnSpPr/>
          <p:nvPr/>
        </p:nvCxnSpPr>
        <p:spPr>
          <a:xfrm>
            <a:off x="496782" y="915073"/>
            <a:ext cx="11199305" cy="11545"/>
          </a:xfrm>
          <a:prstGeom prst="straightConnector1">
            <a:avLst/>
          </a:prstGeom>
          <a:ln w="25400">
            <a:gradFill>
              <a:gsLst>
                <a:gs pos="90000">
                  <a:schemeClr val="tx2">
                    <a:lumMod val="25000"/>
                    <a:lumOff val="75000"/>
                    <a:alpha val="100000"/>
                  </a:schemeClr>
                </a:gs>
                <a:gs pos="100000">
                  <a:srgbClr val="7030A0">
                    <a:alpha val="100000"/>
                  </a:srgbClr>
                </a:gs>
              </a:gsLst>
              <a:lin ang="8100000" scaled="1"/>
            </a:gradFill>
            <a:prstDash val="solid"/>
          </a:ln>
        </p:spPr>
      </p:cxnSp>
      <p:grpSp>
        <p:nvGrpSpPr>
          <p:cNvPr id="19" name="组合 18"/>
          <p:cNvGrpSpPr/>
          <p:nvPr/>
        </p:nvGrpSpPr>
        <p:grpSpPr>
          <a:xfrm>
            <a:off x="5029200" y="1143000"/>
            <a:ext cx="2338705" cy="1039495"/>
            <a:chOff x="14966" y="800"/>
            <a:chExt cx="3683" cy="1637"/>
          </a:xfrm>
        </p:grpSpPr>
        <p:pic>
          <p:nvPicPr>
            <p:cNvPr id="17" name="图片 16"/>
            <p:cNvPicPr>
              <a:picLocks noChangeAspect="1"/>
            </p:cNvPicPr>
            <p:nvPr/>
          </p:nvPicPr>
          <p:blipFill>
            <a:blip r:embed="rId11"/>
            <a:stretch>
              <a:fillRect/>
            </a:stretch>
          </p:blipFill>
          <p:spPr>
            <a:xfrm>
              <a:off x="14966" y="800"/>
              <a:ext cx="1381" cy="1381"/>
            </a:xfrm>
            <a:prstGeom prst="rect">
              <a:avLst/>
            </a:prstGeom>
          </p:spPr>
        </p:pic>
        <p:sp>
          <p:nvSpPr>
            <p:cNvPr id="18" name="文本框 17"/>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pic>
        <p:nvPicPr>
          <p:cNvPr id="8" name="图片 7"/>
          <p:cNvPicPr>
            <a:picLocks noChangeAspect="1"/>
          </p:cNvPicPr>
          <p:nvPr/>
        </p:nvPicPr>
        <p:blipFill>
          <a:blip r:embed="rId12"/>
          <a:stretch>
            <a:fillRect/>
          </a:stretch>
        </p:blipFill>
        <p:spPr>
          <a:xfrm>
            <a:off x="790575" y="3429000"/>
            <a:ext cx="2766060" cy="998855"/>
          </a:xfrm>
          <a:prstGeom prst="rect">
            <a:avLst/>
          </a:prstGeom>
        </p:spPr>
      </p:pic>
      <p:pic>
        <p:nvPicPr>
          <p:cNvPr id="9" name="图片 8"/>
          <p:cNvPicPr>
            <a:picLocks noChangeAspect="1"/>
          </p:cNvPicPr>
          <p:nvPr/>
        </p:nvPicPr>
        <p:blipFill>
          <a:blip r:embed="rId13"/>
          <a:stretch>
            <a:fillRect/>
          </a:stretch>
        </p:blipFill>
        <p:spPr>
          <a:xfrm>
            <a:off x="4711700" y="3429000"/>
            <a:ext cx="2757805" cy="998855"/>
          </a:xfrm>
          <a:prstGeom prst="rect">
            <a:avLst/>
          </a:prstGeom>
        </p:spPr>
      </p:pic>
      <p:pic>
        <p:nvPicPr>
          <p:cNvPr id="10" name="图片 9"/>
          <p:cNvPicPr>
            <a:picLocks noChangeAspect="1"/>
          </p:cNvPicPr>
          <p:nvPr/>
        </p:nvPicPr>
        <p:blipFill>
          <a:blip r:embed="rId14"/>
          <a:stretch>
            <a:fillRect/>
          </a:stretch>
        </p:blipFill>
        <p:spPr>
          <a:xfrm>
            <a:off x="8475980" y="3429000"/>
            <a:ext cx="2790190" cy="9988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3" presetClass="entr" presetSubtype="16" fill="hold" nodeType="afterEffect">
                                  <p:stCondLst>
                                    <p:cond delay="0"/>
                                  </p:stCondLst>
                                  <p:childTnLst>
                                    <p:set>
                                      <p:cBhvr>
                                        <p:cTn id="12" dur="1" fill="hold">
                                          <p:stCondLst>
                                            <p:cond delay="0"/>
                                          </p:stCondLst>
                                        </p:cTn>
                                        <p:tgtEl>
                                          <p:spTgt spid="1306"/>
                                        </p:tgtEl>
                                        <p:attrNameLst>
                                          <p:attrName>style.visibility</p:attrName>
                                        </p:attrNameLst>
                                      </p:cBhvr>
                                      <p:to>
                                        <p:strVal val="visible"/>
                                      </p:to>
                                    </p:set>
                                    <p:anim calcmode="lin" valueType="num">
                                      <p:cBhvr>
                                        <p:cTn id="13" dur="500" fill="hold"/>
                                        <p:tgtEl>
                                          <p:spTgt spid="1306"/>
                                        </p:tgtEl>
                                        <p:attrNameLst>
                                          <p:attrName>ppt_w</p:attrName>
                                        </p:attrNameLst>
                                      </p:cBhvr>
                                      <p:tavLst>
                                        <p:tav tm="0">
                                          <p:val>
                                            <p:fltVal val="0"/>
                                          </p:val>
                                        </p:tav>
                                        <p:tav tm="100000">
                                          <p:val>
                                            <p:strVal val="#ppt_w"/>
                                          </p:val>
                                        </p:tav>
                                      </p:tavLst>
                                    </p:anim>
                                    <p:anim calcmode="lin" valueType="num">
                                      <p:cBhvr>
                                        <p:cTn id="14" dur="500" fill="hold"/>
                                        <p:tgtEl>
                                          <p:spTgt spid="130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70000">
              <a:srgbClr val="B9B8F1">
                <a:alpha val="0"/>
              </a:srgbClr>
            </a:gs>
          </a:gsLst>
          <a:lin ang="18900000" scaled="0"/>
        </a:gradFill>
        <a:effectLst/>
      </p:bgPr>
    </p:bg>
    <p:spTree>
      <p:nvGrpSpPr>
        <p:cNvPr id="1" name=""/>
        <p:cNvGrpSpPr/>
        <p:nvPr/>
      </p:nvGrpSpPr>
      <p:grpSpPr>
        <a:xfrm>
          <a:off x="0" y="0"/>
          <a:ext cx="0" cy="0"/>
          <a:chOff x="0" y="0"/>
          <a:chExt cx="0" cy="0"/>
        </a:xfrm>
      </p:grpSpPr>
      <p:grpSp>
        <p:nvGrpSpPr>
          <p:cNvPr id="1149" name="图形"/>
          <p:cNvGrpSpPr/>
          <p:nvPr/>
        </p:nvGrpSpPr>
        <p:grpSpPr>
          <a:xfrm>
            <a:off x="0" y="-1069340"/>
            <a:ext cx="12516485" cy="7927340"/>
            <a:chOff x="0" y="-1684"/>
            <a:chExt cx="19711" cy="12484"/>
          </a:xfrm>
        </p:grpSpPr>
        <p:pic>
          <p:nvPicPr>
            <p:cNvPr id="1150" name="图形" descr="D:/包图网/5b601bfb6affe.png5b601bfb6affe"/>
            <p:cNvPicPr>
              <a:picLocks noChangeAspect="1"/>
            </p:cNvPicPr>
            <p:nvPr/>
          </p:nvPicPr>
          <p:blipFill>
            <a:blip r:embed="rId3"/>
            <a:srcRect t="-2777" b="-1468"/>
            <a:stretch>
              <a:fillRect/>
            </a:stretch>
          </p:blipFill>
          <p:spPr>
            <a:xfrm>
              <a:off x="0" y="4674"/>
              <a:ext cx="7780" cy="5896"/>
            </a:xfrm>
            <a:prstGeom prst="rect">
              <a:avLst/>
            </a:prstGeom>
          </p:spPr>
        </p:pic>
        <p:sp>
          <p:nvSpPr>
            <p:cNvPr id="1151" name="图形"/>
            <p:cNvSpPr/>
            <p:nvPr/>
          </p:nvSpPr>
          <p:spPr>
            <a:xfrm rot="8580000" flipV="1">
              <a:off x="17359" y="-1684"/>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1152" name="组合 138"/>
            <p:cNvGrpSpPr/>
            <p:nvPr/>
          </p:nvGrpSpPr>
          <p:grpSpPr>
            <a:xfrm>
              <a:off x="2320" y="2938"/>
              <a:ext cx="2821" cy="1006"/>
              <a:chOff x="1595" y="1487"/>
              <a:chExt cx="4594" cy="1639"/>
            </a:xfrm>
            <a:gradFill>
              <a:gsLst>
                <a:gs pos="0">
                  <a:srgbClr val="B9B8F1">
                    <a:alpha val="100000"/>
                  </a:srgbClr>
                </a:gs>
                <a:gs pos="94000">
                  <a:srgbClr val="B9B8F1">
                    <a:alpha val="0"/>
                  </a:srgbClr>
                </a:gs>
              </a:gsLst>
              <a:lin ang="10800000" scaled="0"/>
            </a:gradFill>
          </p:grpSpPr>
          <p:grpSp>
            <p:nvGrpSpPr>
              <p:cNvPr id="1153" name="组合 51"/>
              <p:cNvGrpSpPr/>
              <p:nvPr/>
            </p:nvGrpSpPr>
            <p:grpSpPr>
              <a:xfrm>
                <a:off x="1595" y="1487"/>
                <a:ext cx="4594" cy="226"/>
                <a:chOff x="1595" y="1487"/>
                <a:chExt cx="4594" cy="226"/>
              </a:xfrm>
              <a:grpFill/>
            </p:grpSpPr>
            <p:sp>
              <p:nvSpPr>
                <p:cNvPr id="1154"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55"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56"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57"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58"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59"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60"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161" name="组合 52"/>
              <p:cNvGrpSpPr/>
              <p:nvPr/>
            </p:nvGrpSpPr>
            <p:grpSpPr>
              <a:xfrm>
                <a:off x="1595" y="1958"/>
                <a:ext cx="4594" cy="226"/>
                <a:chOff x="1595" y="1487"/>
                <a:chExt cx="4594" cy="226"/>
              </a:xfrm>
              <a:grpFill/>
            </p:grpSpPr>
            <p:sp>
              <p:nvSpPr>
                <p:cNvPr id="1162"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63"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64"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65"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66"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67"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68"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169" name="组合 120"/>
              <p:cNvGrpSpPr/>
              <p:nvPr/>
            </p:nvGrpSpPr>
            <p:grpSpPr>
              <a:xfrm>
                <a:off x="1595" y="2429"/>
                <a:ext cx="4594" cy="226"/>
                <a:chOff x="1595" y="1487"/>
                <a:chExt cx="4594" cy="226"/>
              </a:xfrm>
              <a:grpFill/>
            </p:grpSpPr>
            <p:sp>
              <p:nvSpPr>
                <p:cNvPr id="1170"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71"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72"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73"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74"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75"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76"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177" name="组合 128"/>
              <p:cNvGrpSpPr/>
              <p:nvPr/>
            </p:nvGrpSpPr>
            <p:grpSpPr>
              <a:xfrm>
                <a:off x="1595" y="2900"/>
                <a:ext cx="4594" cy="226"/>
                <a:chOff x="1595" y="1487"/>
                <a:chExt cx="4594" cy="226"/>
              </a:xfrm>
              <a:grpFill/>
            </p:grpSpPr>
            <p:sp>
              <p:nvSpPr>
                <p:cNvPr id="1178"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79"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80"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81"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82"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83"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84"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sp>
          <p:nvSpPr>
            <p:cNvPr id="1185" name="图形"/>
            <p:cNvSpPr/>
            <p:nvPr/>
          </p:nvSpPr>
          <p:spPr>
            <a:xfrm>
              <a:off x="0" y="10796"/>
              <a:ext cx="4" cy="4"/>
            </a:xfrm>
            <a:custGeom>
              <a:avLst/>
              <a:gdLst/>
              <a:ahLst/>
              <a:cxnLst>
                <a:cxn ang="3">
                  <a:pos x="hc" y="t"/>
                </a:cxn>
                <a:cxn ang="cd2">
                  <a:pos x="l" y="vc"/>
                </a:cxn>
                <a:cxn ang="cd4">
                  <a:pos x="hc" y="b"/>
                </a:cxn>
                <a:cxn ang="0">
                  <a:pos x="r" y="vc"/>
                </a:cxn>
              </a:cxnLst>
              <a:rect l="l" t="t" r="r" b="b"/>
              <a:pathLst>
                <a:path w="4" h="4">
                  <a:moveTo>
                    <a:pt x="0" y="0"/>
                  </a:moveTo>
                  <a:lnTo>
                    <a:pt x="4" y="4"/>
                  </a:lnTo>
                  <a:lnTo>
                    <a:pt x="0" y="4"/>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86" name="图形"/>
            <p:cNvSpPr/>
            <p:nvPr/>
          </p:nvSpPr>
          <p:spPr>
            <a:xfrm>
              <a:off x="0" y="2210"/>
              <a:ext cx="11364" cy="8590"/>
            </a:xfrm>
            <a:custGeom>
              <a:avLst/>
              <a:gdLst/>
              <a:ahLst/>
              <a:cxnLst>
                <a:cxn ang="3">
                  <a:pos x="hc" y="t"/>
                </a:cxn>
                <a:cxn ang="cd2">
                  <a:pos x="l" y="vc"/>
                </a:cxn>
                <a:cxn ang="cd4">
                  <a:pos x="hc" y="b"/>
                </a:cxn>
                <a:cxn ang="0">
                  <a:pos x="r" y="vc"/>
                </a:cxn>
              </a:cxnLst>
              <a:rect l="l" t="t" r="r" b="b"/>
              <a:pathLst>
                <a:path w="11364" h="8590">
                  <a:moveTo>
                    <a:pt x="677" y="0"/>
                  </a:moveTo>
                  <a:cubicBezTo>
                    <a:pt x="949" y="-1"/>
                    <a:pt x="1204" y="66"/>
                    <a:pt x="1429" y="218"/>
                  </a:cubicBezTo>
                  <a:cubicBezTo>
                    <a:pt x="2008" y="798"/>
                    <a:pt x="1883" y="1992"/>
                    <a:pt x="2745" y="2676"/>
                  </a:cubicBezTo>
                  <a:cubicBezTo>
                    <a:pt x="3748" y="3184"/>
                    <a:pt x="4863" y="2726"/>
                    <a:pt x="6368" y="3236"/>
                  </a:cubicBezTo>
                  <a:cubicBezTo>
                    <a:pt x="7486" y="4177"/>
                    <a:pt x="7194" y="5103"/>
                    <a:pt x="7858" y="5815"/>
                  </a:cubicBezTo>
                  <a:cubicBezTo>
                    <a:pt x="8574" y="6232"/>
                    <a:pt x="9738" y="5636"/>
                    <a:pt x="10848" y="6384"/>
                  </a:cubicBezTo>
                  <a:cubicBezTo>
                    <a:pt x="11491" y="6818"/>
                    <a:pt x="11469" y="7655"/>
                    <a:pt x="11131" y="8564"/>
                  </a:cubicBezTo>
                  <a:lnTo>
                    <a:pt x="11121" y="8590"/>
                  </a:lnTo>
                  <a:lnTo>
                    <a:pt x="4" y="8590"/>
                  </a:lnTo>
                  <a:lnTo>
                    <a:pt x="0" y="8587"/>
                  </a:lnTo>
                  <a:lnTo>
                    <a:pt x="0" y="129"/>
                  </a:lnTo>
                  <a:lnTo>
                    <a:pt x="13" y="124"/>
                  </a:lnTo>
                  <a:cubicBezTo>
                    <a:pt x="240" y="45"/>
                    <a:pt x="464" y="1"/>
                    <a:pt x="677" y="0"/>
                  </a:cubicBezTo>
                  <a:close/>
                </a:path>
              </a:pathLst>
            </a:custGeom>
            <a:gradFill>
              <a:gsLst>
                <a:gs pos="0">
                  <a:srgbClr val="B9B8F1">
                    <a:alpha val="30000"/>
                  </a:srgbClr>
                </a:gs>
                <a:gs pos="100000">
                  <a:srgbClr val="B9B8F1">
                    <a:alpha val="0"/>
                  </a:srgb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1187" name="图形"/>
          <p:cNvSpPr txBox="1"/>
          <p:nvPr/>
        </p:nvSpPr>
        <p:spPr>
          <a:xfrm>
            <a:off x="5222242" y="3194052"/>
            <a:ext cx="6322695" cy="1241425"/>
          </a:xfrm>
          <a:prstGeom prst="rect">
            <a:avLst/>
          </a:prstGeom>
          <a:noFill/>
        </p:spPr>
        <p:txBody>
          <a:bodyPr wrap="square" lIns="0" tIns="0" rIns="0" bIns="0" rtlCol="0">
            <a:noAutofit/>
          </a:bodyPr>
          <a:lstStyle/>
          <a:p>
            <a:pPr algn="dist"/>
            <a:r>
              <a:rPr lang="zh-CN" sz="80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项目介绍</a:t>
            </a:r>
          </a:p>
        </p:txBody>
      </p:sp>
      <p:sp>
        <p:nvSpPr>
          <p:cNvPr id="1188" name="图形"/>
          <p:cNvSpPr txBox="1"/>
          <p:nvPr/>
        </p:nvSpPr>
        <p:spPr>
          <a:xfrm>
            <a:off x="6602096" y="4516120"/>
            <a:ext cx="3536950" cy="323850"/>
          </a:xfrm>
          <a:prstGeom prst="rect">
            <a:avLst/>
          </a:prstGeom>
          <a:noFill/>
        </p:spPr>
        <p:txBody>
          <a:bodyPr wrap="square" lIns="0" tIns="0" rIns="0" bIns="0" rtlCol="0">
            <a:spAutoFit/>
          </a:bodyPr>
          <a:lstStyle/>
          <a:p>
            <a:pPr algn="dist">
              <a:lnSpc>
                <a:spcPct val="150000"/>
              </a:lnSpc>
            </a:pPr>
            <a:r>
              <a:rPr lang="en-US" sz="1400">
                <a:ln>
                  <a:noFill/>
                </a:ln>
                <a:solidFill>
                  <a:schemeClr val="tx1">
                    <a:lumMod val="65000"/>
                    <a:lumOff val="35000"/>
                    <a:alpha val="100000"/>
                  </a:schemeClr>
                </a:solidFill>
                <a:effectLst/>
                <a:latin typeface="Arial" panose="020B0604020202020204"/>
                <a:ea typeface="微软雅黑" panose="020B0503020204020204" pitchFamily="34" charset="-122"/>
                <a:cs typeface="思源黑体 Normal"/>
                <a:sym typeface="Arial" panose="020B0604020202020204"/>
              </a:rPr>
              <a:t>The Project Introductiond</a:t>
            </a:r>
          </a:p>
        </p:txBody>
      </p:sp>
      <p:grpSp>
        <p:nvGrpSpPr>
          <p:cNvPr id="1189" name="图形"/>
          <p:cNvGrpSpPr/>
          <p:nvPr/>
        </p:nvGrpSpPr>
        <p:grpSpPr>
          <a:xfrm>
            <a:off x="7793357" y="1932305"/>
            <a:ext cx="3750945" cy="849630"/>
            <a:chOff x="12273" y="2943"/>
            <a:chExt cx="5907" cy="1338"/>
          </a:xfrm>
        </p:grpSpPr>
        <p:sp>
          <p:nvSpPr>
            <p:cNvPr id="1190" name="图形"/>
            <p:cNvSpPr/>
            <p:nvPr/>
          </p:nvSpPr>
          <p:spPr>
            <a:xfrm>
              <a:off x="12273"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第</a:t>
              </a:r>
            </a:p>
          </p:txBody>
        </p:sp>
        <p:sp>
          <p:nvSpPr>
            <p:cNvPr id="1191" name="图形"/>
            <p:cNvSpPr/>
            <p:nvPr/>
          </p:nvSpPr>
          <p:spPr>
            <a:xfrm>
              <a:off x="13796" y="2943"/>
              <a:ext cx="1338" cy="1338"/>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sz="3600" b="1">
                  <a:latin typeface="宋体" panose="02010600030101010101" pitchFamily="2" charset="-122"/>
                  <a:ea typeface="宋体" panose="02010600030101010101" pitchFamily="2" charset="-122"/>
                  <a:cs typeface="思源黑体 Normal"/>
                  <a:sym typeface="Arial" panose="020B0604020202020204"/>
                </a:rPr>
                <a:t>二</a:t>
              </a:r>
            </a:p>
          </p:txBody>
        </p:sp>
        <p:sp>
          <p:nvSpPr>
            <p:cNvPr id="1192" name="图形"/>
            <p:cNvSpPr/>
            <p:nvPr/>
          </p:nvSpPr>
          <p:spPr>
            <a:xfrm>
              <a:off x="15319"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部</a:t>
              </a:r>
            </a:p>
          </p:txBody>
        </p:sp>
        <p:sp>
          <p:nvSpPr>
            <p:cNvPr id="1193" name="图形"/>
            <p:cNvSpPr/>
            <p:nvPr/>
          </p:nvSpPr>
          <p:spPr>
            <a:xfrm>
              <a:off x="16842"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分</a:t>
              </a:r>
            </a:p>
          </p:txBody>
        </p:sp>
      </p:grpSp>
      <p:grpSp>
        <p:nvGrpSpPr>
          <p:cNvPr id="1194" name="图形"/>
          <p:cNvGrpSpPr/>
          <p:nvPr/>
        </p:nvGrpSpPr>
        <p:grpSpPr>
          <a:xfrm>
            <a:off x="8990331" y="5836920"/>
            <a:ext cx="2555240" cy="444500"/>
            <a:chOff x="14158" y="9192"/>
            <a:chExt cx="4024" cy="700"/>
          </a:xfrm>
        </p:grpSpPr>
        <p:sp>
          <p:nvSpPr>
            <p:cNvPr id="1195" name="图形"/>
            <p:cNvSpPr/>
            <p:nvPr/>
          </p:nvSpPr>
          <p:spPr>
            <a:xfrm>
              <a:off x="14158" y="9192"/>
              <a:ext cx="701" cy="701"/>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96" name="图形"/>
            <p:cNvSpPr/>
            <p:nvPr/>
          </p:nvSpPr>
          <p:spPr>
            <a:xfrm>
              <a:off x="15266"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97" name="图形"/>
            <p:cNvSpPr/>
            <p:nvPr/>
          </p:nvSpPr>
          <p:spPr>
            <a:xfrm>
              <a:off x="16374"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98" name="图形"/>
            <p:cNvSpPr/>
            <p:nvPr/>
          </p:nvSpPr>
          <p:spPr>
            <a:xfrm>
              <a:off x="17482"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9" name="组合 18"/>
          <p:cNvGrpSpPr/>
          <p:nvPr/>
        </p:nvGrpSpPr>
        <p:grpSpPr>
          <a:xfrm>
            <a:off x="9503410" y="508000"/>
            <a:ext cx="2338705" cy="1039495"/>
            <a:chOff x="14966" y="800"/>
            <a:chExt cx="3683" cy="1637"/>
          </a:xfrm>
        </p:grpSpPr>
        <p:pic>
          <p:nvPicPr>
            <p:cNvPr id="17" name="图片 16"/>
            <p:cNvPicPr>
              <a:picLocks noChangeAspect="1"/>
            </p:cNvPicPr>
            <p:nvPr/>
          </p:nvPicPr>
          <p:blipFill>
            <a:blip r:embed="rId4"/>
            <a:stretch>
              <a:fillRect/>
            </a:stretch>
          </p:blipFill>
          <p:spPr>
            <a:xfrm>
              <a:off x="14966" y="800"/>
              <a:ext cx="1381" cy="1381"/>
            </a:xfrm>
            <a:prstGeom prst="rect">
              <a:avLst/>
            </a:prstGeom>
          </p:spPr>
        </p:pic>
        <p:sp>
          <p:nvSpPr>
            <p:cNvPr id="18" name="文本框 17"/>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49"/>
                                        </p:tgtEl>
                                        <p:attrNameLst>
                                          <p:attrName>style.visibility</p:attrName>
                                        </p:attrNameLst>
                                      </p:cBhvr>
                                      <p:to>
                                        <p:strVal val="visible"/>
                                      </p:to>
                                    </p:set>
                                    <p:animEffect transition="in" filter="fade">
                                      <p:cBhvr>
                                        <p:cTn id="7" dur="500"/>
                                        <p:tgtEl>
                                          <p:spTgt spid="1149"/>
                                        </p:tgtEl>
                                      </p:cBhvr>
                                    </p:animEffect>
                                  </p:childTnLst>
                                </p:cTn>
                              </p:par>
                              <p:par>
                                <p:cTn id="8" presetID="10" presetClass="entr" presetSubtype="0" fill="hold" nodeType="withEffect">
                                  <p:stCondLst>
                                    <p:cond delay="0"/>
                                  </p:stCondLst>
                                  <p:childTnLst>
                                    <p:set>
                                      <p:cBhvr>
                                        <p:cTn id="9" dur="1" fill="hold">
                                          <p:stCondLst>
                                            <p:cond delay="0"/>
                                          </p:stCondLst>
                                        </p:cTn>
                                        <p:tgtEl>
                                          <p:spTgt spid="1194"/>
                                        </p:tgtEl>
                                        <p:attrNameLst>
                                          <p:attrName>style.visibility</p:attrName>
                                        </p:attrNameLst>
                                      </p:cBhvr>
                                      <p:to>
                                        <p:strVal val="visible"/>
                                      </p:to>
                                    </p:set>
                                    <p:animEffect transition="in" filter="fade">
                                      <p:cBhvr>
                                        <p:cTn id="10" dur="500"/>
                                        <p:tgtEl>
                                          <p:spTgt spid="1194"/>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 fill="hold">
                                          <p:stCondLst>
                                            <p:cond delay="0"/>
                                          </p:stCondLst>
                                        </p:cTn>
                                        <p:tgtEl>
                                          <p:spTgt spid="1189"/>
                                        </p:tgtEl>
                                        <p:attrNameLst>
                                          <p:attrName>style.visibility</p:attrName>
                                        </p:attrNameLst>
                                      </p:cBhvr>
                                      <p:to>
                                        <p:strVal val="visible"/>
                                      </p:to>
                                    </p:set>
                                    <p:anim calcmode="lin" valueType="num">
                                      <p:cBhvr>
                                        <p:cTn id="14" dur="500" fill="hold"/>
                                        <p:tgtEl>
                                          <p:spTgt spid="1189"/>
                                        </p:tgtEl>
                                        <p:attrNameLst>
                                          <p:attrName>ppt_w</p:attrName>
                                        </p:attrNameLst>
                                      </p:cBhvr>
                                      <p:tavLst>
                                        <p:tav tm="0">
                                          <p:val>
                                            <p:fltVal val="0"/>
                                          </p:val>
                                        </p:tav>
                                        <p:tav tm="100000">
                                          <p:val>
                                            <p:strVal val="#ppt_w"/>
                                          </p:val>
                                        </p:tav>
                                      </p:tavLst>
                                    </p:anim>
                                    <p:anim calcmode="lin" valueType="num">
                                      <p:cBhvr>
                                        <p:cTn id="15" dur="500" fill="hold"/>
                                        <p:tgtEl>
                                          <p:spTgt spid="1189"/>
                                        </p:tgtEl>
                                        <p:attrNameLst>
                                          <p:attrName>ppt_h</p:attrName>
                                        </p:attrNameLst>
                                      </p:cBhvr>
                                      <p:tavLst>
                                        <p:tav tm="0">
                                          <p:val>
                                            <p:fltVal val="0"/>
                                          </p:val>
                                        </p:tav>
                                        <p:tav tm="100000">
                                          <p:val>
                                            <p:strVal val="#ppt_h"/>
                                          </p:val>
                                        </p:tav>
                                      </p:tavLst>
                                    </p:anim>
                                  </p:childTnLst>
                                </p:cTn>
                              </p:par>
                            </p:childTnLst>
                          </p:cTn>
                        </p:par>
                        <p:par>
                          <p:cTn id="16" fill="hold">
                            <p:stCondLst>
                              <p:cond delay="1000"/>
                            </p:stCondLst>
                            <p:childTnLst>
                              <p:par>
                                <p:cTn id="17" presetID="23" presetClass="entr" presetSubtype="16" fill="hold" nodeType="afterEffect">
                                  <p:stCondLst>
                                    <p:cond delay="0"/>
                                  </p:stCondLst>
                                  <p:childTnLst>
                                    <p:set>
                                      <p:cBhvr>
                                        <p:cTn id="18" dur="1000" fill="hold">
                                          <p:stCondLst>
                                            <p:cond delay="0"/>
                                          </p:stCondLst>
                                        </p:cTn>
                                        <p:tgtEl>
                                          <p:spTgt spid="1187"/>
                                        </p:tgtEl>
                                        <p:attrNameLst>
                                          <p:attrName>style.visibility</p:attrName>
                                        </p:attrNameLst>
                                      </p:cBhvr>
                                      <p:to>
                                        <p:strVal val="visible"/>
                                      </p:to>
                                    </p:set>
                                    <p:anim calcmode="lin" valueType="num">
                                      <p:cBhvr>
                                        <p:cTn id="19" dur="1000" fill="hold"/>
                                        <p:tgtEl>
                                          <p:spTgt spid="1187"/>
                                        </p:tgtEl>
                                        <p:attrNameLst>
                                          <p:attrName>ppt_w</p:attrName>
                                        </p:attrNameLst>
                                      </p:cBhvr>
                                      <p:tavLst>
                                        <p:tav tm="0">
                                          <p:val>
                                            <p:fltVal val="0"/>
                                          </p:val>
                                        </p:tav>
                                        <p:tav tm="100000">
                                          <p:val>
                                            <p:strVal val="#ppt_w"/>
                                          </p:val>
                                        </p:tav>
                                      </p:tavLst>
                                    </p:anim>
                                    <p:anim calcmode="lin" valueType="num">
                                      <p:cBhvr>
                                        <p:cTn id="20" dur="1000" fill="hold"/>
                                        <p:tgtEl>
                                          <p:spTgt spid="1187"/>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000" fill="hold">
                                          <p:stCondLst>
                                            <p:cond delay="0"/>
                                          </p:stCondLst>
                                        </p:cTn>
                                        <p:tgtEl>
                                          <p:spTgt spid="1188"/>
                                        </p:tgtEl>
                                        <p:attrNameLst>
                                          <p:attrName>style.visibility</p:attrName>
                                        </p:attrNameLst>
                                      </p:cBhvr>
                                      <p:to>
                                        <p:strVal val="visible"/>
                                      </p:to>
                                    </p:set>
                                    <p:anim calcmode="lin" valueType="num">
                                      <p:cBhvr>
                                        <p:cTn id="23" dur="1000" fill="hold"/>
                                        <p:tgtEl>
                                          <p:spTgt spid="1188"/>
                                        </p:tgtEl>
                                        <p:attrNameLst>
                                          <p:attrName>ppt_w</p:attrName>
                                        </p:attrNameLst>
                                      </p:cBhvr>
                                      <p:tavLst>
                                        <p:tav tm="0">
                                          <p:val>
                                            <p:fltVal val="0"/>
                                          </p:val>
                                        </p:tav>
                                        <p:tav tm="100000">
                                          <p:val>
                                            <p:strVal val="#ppt_w"/>
                                          </p:val>
                                        </p:tav>
                                      </p:tavLst>
                                    </p:anim>
                                    <p:anim calcmode="lin" valueType="num">
                                      <p:cBhvr>
                                        <p:cTn id="24" dur="1000" fill="hold"/>
                                        <p:tgtEl>
                                          <p:spTgt spid="118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 name="图形"/>
          <p:cNvGrpSpPr/>
          <p:nvPr/>
        </p:nvGrpSpPr>
        <p:grpSpPr>
          <a:xfrm>
            <a:off x="-477520" y="-918210"/>
            <a:ext cx="4231640" cy="2447290"/>
            <a:chOff x="-752" y="-1446"/>
            <a:chExt cx="6664" cy="3854"/>
          </a:xfrm>
        </p:grpSpPr>
        <p:sp>
          <p:nvSpPr>
            <p:cNvPr id="48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83" name="图形"/>
            <p:cNvSpPr txBox="1"/>
            <p:nvPr/>
          </p:nvSpPr>
          <p:spPr>
            <a:xfrm>
              <a:off x="1354" y="611"/>
              <a:ext cx="4558" cy="918"/>
            </a:xfrm>
            <a:prstGeom prst="rect">
              <a:avLst/>
            </a:prstGeom>
            <a:noFill/>
          </p:spPr>
          <p:txBody>
            <a:bodyPr wrap="square" lIns="0" tIns="0" rIns="0" bIns="0" rtlCol="0">
              <a:noAutofit/>
            </a:bodyPr>
            <a:lstStyle/>
            <a:p>
              <a:pPr algn="dist"/>
              <a:r>
                <a:rPr lang="zh-CN" altLang="en-US" sz="3600" b="1">
                  <a:solidFill>
                    <a:schemeClr val="tx1">
                      <a:lumMod val="75000"/>
                      <a:lumOff val="25000"/>
                    </a:schemeClr>
                  </a:solidFill>
                  <a:latin typeface="微软雅黑" panose="020B0503020204020204" pitchFamily="34" charset="-122"/>
                  <a:ea typeface="微软雅黑" panose="020B0503020204020204" pitchFamily="34" charset="-122"/>
                  <a:cs typeface="思源黑体 Normal" panose="020B0400000000000000" charset="-122"/>
                  <a:sym typeface="Arial" panose="020B0604020202020204"/>
                </a:rPr>
                <a:t>六大功能</a:t>
              </a:r>
            </a:p>
          </p:txBody>
        </p:sp>
        <p:sp>
          <p:nvSpPr>
            <p:cNvPr id="484"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485" name="图形"/>
          <p:cNvGrpSpPr/>
          <p:nvPr>
            <p:custDataLst>
              <p:tags r:id="rId1"/>
            </p:custDataLst>
          </p:nvPr>
        </p:nvGrpSpPr>
        <p:grpSpPr>
          <a:xfrm>
            <a:off x="837566" y="1637030"/>
            <a:ext cx="10483849" cy="4142740"/>
            <a:chOff x="1345" y="3020"/>
            <a:chExt cx="16510" cy="6524"/>
          </a:xfrm>
        </p:grpSpPr>
        <p:sp>
          <p:nvSpPr>
            <p:cNvPr id="486" name="图形"/>
            <p:cNvSpPr/>
            <p:nvPr>
              <p:custDataLst>
                <p:tags r:id="rId2"/>
              </p:custDataLst>
            </p:nvPr>
          </p:nvSpPr>
          <p:spPr>
            <a:xfrm>
              <a:off x="1382" y="3020"/>
              <a:ext cx="1878" cy="2894"/>
            </a:xfrm>
            <a:custGeom>
              <a:avLst/>
              <a:gdLst>
                <a:gd name="connsiteX0" fmla="*/ 405114 w 947195"/>
                <a:gd name="connsiteY0" fmla="*/ 0 h 810228"/>
                <a:gd name="connsiteX1" fmla="*/ 947195 w 947195"/>
                <a:gd name="connsiteY1" fmla="*/ 0 h 810228"/>
                <a:gd name="connsiteX2" fmla="*/ 947195 w 947195"/>
                <a:gd name="connsiteY2" fmla="*/ 810228 h 810228"/>
                <a:gd name="connsiteX3" fmla="*/ 405114 w 947195"/>
                <a:gd name="connsiteY3" fmla="*/ 810228 h 810228"/>
                <a:gd name="connsiteX4" fmla="*/ 0 w 947195"/>
                <a:gd name="connsiteY4" fmla="*/ 405114 h 810228"/>
                <a:gd name="connsiteX5" fmla="*/ 405114 w 947195"/>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7195" h="810228">
                  <a:moveTo>
                    <a:pt x="405114" y="0"/>
                  </a:moveTo>
                  <a:lnTo>
                    <a:pt x="947195" y="0"/>
                  </a:lnTo>
                  <a:lnTo>
                    <a:pt x="947195" y="810228"/>
                  </a:lnTo>
                  <a:lnTo>
                    <a:pt x="405114" y="810228"/>
                  </a:lnTo>
                  <a:cubicBezTo>
                    <a:pt x="181376" y="810228"/>
                    <a:pt x="0" y="628852"/>
                    <a:pt x="0" y="405114"/>
                  </a:cubicBezTo>
                  <a:cubicBezTo>
                    <a:pt x="0" y="181376"/>
                    <a:pt x="181376" y="0"/>
                    <a:pt x="405114" y="0"/>
                  </a:cubicBezTo>
                  <a:close/>
                </a:path>
              </a:pathLst>
            </a:custGeom>
            <a:noFill/>
            <a:ln w="38100" cap="flat">
              <a:solidFill>
                <a:srgbClr val="F7B75D"/>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87" name="图形"/>
            <p:cNvSpPr/>
            <p:nvPr>
              <p:custDataLst>
                <p:tags r:id="rId3"/>
              </p:custDataLst>
            </p:nvPr>
          </p:nvSpPr>
          <p:spPr>
            <a:xfrm>
              <a:off x="3444" y="3020"/>
              <a:ext cx="5691" cy="2894"/>
            </a:xfrm>
            <a:custGeom>
              <a:avLst/>
              <a:gdLst>
                <a:gd name="connsiteX0" fmla="*/ 0 w 2733556"/>
                <a:gd name="connsiteY0" fmla="*/ 0 h 810228"/>
                <a:gd name="connsiteX1" fmla="*/ 2328442 w 2733556"/>
                <a:gd name="connsiteY1" fmla="*/ 0 h 810228"/>
                <a:gd name="connsiteX2" fmla="*/ 2733556 w 2733556"/>
                <a:gd name="connsiteY2" fmla="*/ 405114 h 810228"/>
                <a:gd name="connsiteX3" fmla="*/ 2328442 w 2733556"/>
                <a:gd name="connsiteY3" fmla="*/ 810228 h 810228"/>
                <a:gd name="connsiteX4" fmla="*/ 0 w 2733556"/>
                <a:gd name="connsiteY4" fmla="*/ 810228 h 810228"/>
                <a:gd name="connsiteX5" fmla="*/ 0 w 2733556"/>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3556" h="810228">
                  <a:moveTo>
                    <a:pt x="0" y="0"/>
                  </a:moveTo>
                  <a:lnTo>
                    <a:pt x="2328442" y="0"/>
                  </a:lnTo>
                  <a:cubicBezTo>
                    <a:pt x="2552180" y="0"/>
                    <a:pt x="2733556" y="181376"/>
                    <a:pt x="2733556" y="405114"/>
                  </a:cubicBezTo>
                  <a:cubicBezTo>
                    <a:pt x="2733556" y="628852"/>
                    <a:pt x="2552180" y="810228"/>
                    <a:pt x="2328442" y="810228"/>
                  </a:cubicBezTo>
                  <a:lnTo>
                    <a:pt x="0" y="810228"/>
                  </a:lnTo>
                  <a:lnTo>
                    <a:pt x="0" y="0"/>
                  </a:lnTo>
                  <a:close/>
                </a:path>
              </a:pathLst>
            </a:custGeom>
            <a:noFill/>
            <a:ln w="38100" cap="flat">
              <a:solidFill>
                <a:srgbClr val="F7B75D"/>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88" name="图形"/>
            <p:cNvSpPr/>
            <p:nvPr>
              <p:custDataLst>
                <p:tags r:id="rId4"/>
              </p:custDataLst>
            </p:nvPr>
          </p:nvSpPr>
          <p:spPr>
            <a:xfrm>
              <a:off x="10057" y="3066"/>
              <a:ext cx="1878" cy="2894"/>
            </a:xfrm>
            <a:custGeom>
              <a:avLst/>
              <a:gdLst>
                <a:gd name="connsiteX0" fmla="*/ 405114 w 947195"/>
                <a:gd name="connsiteY0" fmla="*/ 0 h 810228"/>
                <a:gd name="connsiteX1" fmla="*/ 947195 w 947195"/>
                <a:gd name="connsiteY1" fmla="*/ 0 h 810228"/>
                <a:gd name="connsiteX2" fmla="*/ 947195 w 947195"/>
                <a:gd name="connsiteY2" fmla="*/ 810228 h 810228"/>
                <a:gd name="connsiteX3" fmla="*/ 405114 w 947195"/>
                <a:gd name="connsiteY3" fmla="*/ 810228 h 810228"/>
                <a:gd name="connsiteX4" fmla="*/ 0 w 947195"/>
                <a:gd name="connsiteY4" fmla="*/ 405114 h 810228"/>
                <a:gd name="connsiteX5" fmla="*/ 405114 w 947195"/>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7195" h="810228">
                  <a:moveTo>
                    <a:pt x="405114" y="0"/>
                  </a:moveTo>
                  <a:lnTo>
                    <a:pt x="947195" y="0"/>
                  </a:lnTo>
                  <a:lnTo>
                    <a:pt x="947195" y="810228"/>
                  </a:lnTo>
                  <a:lnTo>
                    <a:pt x="405114" y="810228"/>
                  </a:lnTo>
                  <a:cubicBezTo>
                    <a:pt x="181376" y="810228"/>
                    <a:pt x="0" y="628852"/>
                    <a:pt x="0" y="405114"/>
                  </a:cubicBezTo>
                  <a:cubicBezTo>
                    <a:pt x="0" y="181376"/>
                    <a:pt x="181376" y="0"/>
                    <a:pt x="405114" y="0"/>
                  </a:cubicBezTo>
                  <a:close/>
                </a:path>
              </a:pathLst>
            </a:custGeom>
            <a:noFill/>
            <a:ln w="38100" cap="flat">
              <a:solidFill>
                <a:srgbClr val="566CD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89" name="图形"/>
            <p:cNvSpPr/>
            <p:nvPr>
              <p:custDataLst>
                <p:tags r:id="rId5"/>
              </p:custDataLst>
            </p:nvPr>
          </p:nvSpPr>
          <p:spPr>
            <a:xfrm>
              <a:off x="12118" y="3066"/>
              <a:ext cx="5691" cy="2894"/>
            </a:xfrm>
            <a:custGeom>
              <a:avLst/>
              <a:gdLst>
                <a:gd name="connsiteX0" fmla="*/ 0 w 2733556"/>
                <a:gd name="connsiteY0" fmla="*/ 0 h 810228"/>
                <a:gd name="connsiteX1" fmla="*/ 2328442 w 2733556"/>
                <a:gd name="connsiteY1" fmla="*/ 0 h 810228"/>
                <a:gd name="connsiteX2" fmla="*/ 2733556 w 2733556"/>
                <a:gd name="connsiteY2" fmla="*/ 405114 h 810228"/>
                <a:gd name="connsiteX3" fmla="*/ 2328442 w 2733556"/>
                <a:gd name="connsiteY3" fmla="*/ 810228 h 810228"/>
                <a:gd name="connsiteX4" fmla="*/ 0 w 2733556"/>
                <a:gd name="connsiteY4" fmla="*/ 810228 h 810228"/>
                <a:gd name="connsiteX5" fmla="*/ 0 w 2733556"/>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3556" h="810228">
                  <a:moveTo>
                    <a:pt x="0" y="0"/>
                  </a:moveTo>
                  <a:lnTo>
                    <a:pt x="2328442" y="0"/>
                  </a:lnTo>
                  <a:cubicBezTo>
                    <a:pt x="2552180" y="0"/>
                    <a:pt x="2733556" y="181376"/>
                    <a:pt x="2733556" y="405114"/>
                  </a:cubicBezTo>
                  <a:cubicBezTo>
                    <a:pt x="2733556" y="628852"/>
                    <a:pt x="2552180" y="810228"/>
                    <a:pt x="2328442" y="810228"/>
                  </a:cubicBezTo>
                  <a:lnTo>
                    <a:pt x="0" y="810228"/>
                  </a:lnTo>
                  <a:lnTo>
                    <a:pt x="0" y="0"/>
                  </a:lnTo>
                  <a:close/>
                </a:path>
              </a:pathLst>
            </a:custGeom>
            <a:noFill/>
            <a:ln w="38100" cap="flat">
              <a:solidFill>
                <a:srgbClr val="566CD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90" name="图形"/>
            <p:cNvSpPr/>
            <p:nvPr>
              <p:custDataLst>
                <p:tags r:id="rId6"/>
              </p:custDataLst>
            </p:nvPr>
          </p:nvSpPr>
          <p:spPr>
            <a:xfrm>
              <a:off x="1345" y="6578"/>
              <a:ext cx="1878" cy="2894"/>
            </a:xfrm>
            <a:custGeom>
              <a:avLst/>
              <a:gdLst>
                <a:gd name="connsiteX0" fmla="*/ 405114 w 947195"/>
                <a:gd name="connsiteY0" fmla="*/ 0 h 810228"/>
                <a:gd name="connsiteX1" fmla="*/ 947195 w 947195"/>
                <a:gd name="connsiteY1" fmla="*/ 0 h 810228"/>
                <a:gd name="connsiteX2" fmla="*/ 947195 w 947195"/>
                <a:gd name="connsiteY2" fmla="*/ 810228 h 810228"/>
                <a:gd name="connsiteX3" fmla="*/ 405114 w 947195"/>
                <a:gd name="connsiteY3" fmla="*/ 810228 h 810228"/>
                <a:gd name="connsiteX4" fmla="*/ 0 w 947195"/>
                <a:gd name="connsiteY4" fmla="*/ 405114 h 810228"/>
                <a:gd name="connsiteX5" fmla="*/ 405114 w 947195"/>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7195" h="810228">
                  <a:moveTo>
                    <a:pt x="405114" y="0"/>
                  </a:moveTo>
                  <a:lnTo>
                    <a:pt x="947195" y="0"/>
                  </a:lnTo>
                  <a:lnTo>
                    <a:pt x="947195" y="810228"/>
                  </a:lnTo>
                  <a:lnTo>
                    <a:pt x="405114" y="810228"/>
                  </a:lnTo>
                  <a:cubicBezTo>
                    <a:pt x="181376" y="810228"/>
                    <a:pt x="0" y="628852"/>
                    <a:pt x="0" y="405114"/>
                  </a:cubicBezTo>
                  <a:cubicBezTo>
                    <a:pt x="0" y="181376"/>
                    <a:pt x="181376" y="0"/>
                    <a:pt x="405114" y="0"/>
                  </a:cubicBezTo>
                  <a:close/>
                </a:path>
              </a:pathLst>
            </a:custGeom>
            <a:noFill/>
            <a:ln w="38100" cap="flat">
              <a:solidFill>
                <a:srgbClr val="566CD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91" name="图形"/>
            <p:cNvSpPr/>
            <p:nvPr>
              <p:custDataLst>
                <p:tags r:id="rId7"/>
              </p:custDataLst>
            </p:nvPr>
          </p:nvSpPr>
          <p:spPr>
            <a:xfrm>
              <a:off x="3406" y="6578"/>
              <a:ext cx="5691" cy="2894"/>
            </a:xfrm>
            <a:custGeom>
              <a:avLst/>
              <a:gdLst>
                <a:gd name="connsiteX0" fmla="*/ 0 w 2733556"/>
                <a:gd name="connsiteY0" fmla="*/ 0 h 810228"/>
                <a:gd name="connsiteX1" fmla="*/ 2328442 w 2733556"/>
                <a:gd name="connsiteY1" fmla="*/ 0 h 810228"/>
                <a:gd name="connsiteX2" fmla="*/ 2733556 w 2733556"/>
                <a:gd name="connsiteY2" fmla="*/ 405114 h 810228"/>
                <a:gd name="connsiteX3" fmla="*/ 2328442 w 2733556"/>
                <a:gd name="connsiteY3" fmla="*/ 810228 h 810228"/>
                <a:gd name="connsiteX4" fmla="*/ 0 w 2733556"/>
                <a:gd name="connsiteY4" fmla="*/ 810228 h 810228"/>
                <a:gd name="connsiteX5" fmla="*/ 0 w 2733556"/>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3556" h="810228">
                  <a:moveTo>
                    <a:pt x="0" y="0"/>
                  </a:moveTo>
                  <a:lnTo>
                    <a:pt x="2328442" y="0"/>
                  </a:lnTo>
                  <a:cubicBezTo>
                    <a:pt x="2552180" y="0"/>
                    <a:pt x="2733556" y="181376"/>
                    <a:pt x="2733556" y="405114"/>
                  </a:cubicBezTo>
                  <a:cubicBezTo>
                    <a:pt x="2733556" y="628852"/>
                    <a:pt x="2552180" y="810228"/>
                    <a:pt x="2328442" y="810228"/>
                  </a:cubicBezTo>
                  <a:lnTo>
                    <a:pt x="0" y="810228"/>
                  </a:lnTo>
                  <a:lnTo>
                    <a:pt x="0" y="0"/>
                  </a:lnTo>
                  <a:close/>
                </a:path>
              </a:pathLst>
            </a:custGeom>
            <a:noFill/>
            <a:ln w="38100" cap="flat">
              <a:solidFill>
                <a:srgbClr val="566CD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92" name="图形"/>
            <p:cNvSpPr/>
            <p:nvPr>
              <p:custDataLst>
                <p:tags r:id="rId8"/>
              </p:custDataLst>
            </p:nvPr>
          </p:nvSpPr>
          <p:spPr>
            <a:xfrm>
              <a:off x="10103" y="6650"/>
              <a:ext cx="1878" cy="2894"/>
            </a:xfrm>
            <a:custGeom>
              <a:avLst/>
              <a:gdLst>
                <a:gd name="connsiteX0" fmla="*/ 405114 w 947195"/>
                <a:gd name="connsiteY0" fmla="*/ 0 h 810228"/>
                <a:gd name="connsiteX1" fmla="*/ 947195 w 947195"/>
                <a:gd name="connsiteY1" fmla="*/ 0 h 810228"/>
                <a:gd name="connsiteX2" fmla="*/ 947195 w 947195"/>
                <a:gd name="connsiteY2" fmla="*/ 810228 h 810228"/>
                <a:gd name="connsiteX3" fmla="*/ 405114 w 947195"/>
                <a:gd name="connsiteY3" fmla="*/ 810228 h 810228"/>
                <a:gd name="connsiteX4" fmla="*/ 0 w 947195"/>
                <a:gd name="connsiteY4" fmla="*/ 405114 h 810228"/>
                <a:gd name="connsiteX5" fmla="*/ 405114 w 947195"/>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7195" h="810228">
                  <a:moveTo>
                    <a:pt x="405114" y="0"/>
                  </a:moveTo>
                  <a:lnTo>
                    <a:pt x="947195" y="0"/>
                  </a:lnTo>
                  <a:lnTo>
                    <a:pt x="947195" y="810228"/>
                  </a:lnTo>
                  <a:lnTo>
                    <a:pt x="405114" y="810228"/>
                  </a:lnTo>
                  <a:cubicBezTo>
                    <a:pt x="181376" y="810228"/>
                    <a:pt x="0" y="628852"/>
                    <a:pt x="0" y="405114"/>
                  </a:cubicBezTo>
                  <a:cubicBezTo>
                    <a:pt x="0" y="181376"/>
                    <a:pt x="181376" y="0"/>
                    <a:pt x="405114" y="0"/>
                  </a:cubicBezTo>
                  <a:close/>
                </a:path>
              </a:pathLst>
            </a:custGeom>
            <a:noFill/>
            <a:ln w="38100" cap="flat">
              <a:solidFill>
                <a:srgbClr val="F7B75D"/>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93" name="图形"/>
            <p:cNvSpPr/>
            <p:nvPr>
              <p:custDataLst>
                <p:tags r:id="rId9"/>
              </p:custDataLst>
            </p:nvPr>
          </p:nvSpPr>
          <p:spPr>
            <a:xfrm>
              <a:off x="12164" y="6650"/>
              <a:ext cx="5691" cy="2894"/>
            </a:xfrm>
            <a:custGeom>
              <a:avLst/>
              <a:gdLst>
                <a:gd name="connsiteX0" fmla="*/ 0 w 2733556"/>
                <a:gd name="connsiteY0" fmla="*/ 0 h 810228"/>
                <a:gd name="connsiteX1" fmla="*/ 2328442 w 2733556"/>
                <a:gd name="connsiteY1" fmla="*/ 0 h 810228"/>
                <a:gd name="connsiteX2" fmla="*/ 2733556 w 2733556"/>
                <a:gd name="connsiteY2" fmla="*/ 405114 h 810228"/>
                <a:gd name="connsiteX3" fmla="*/ 2328442 w 2733556"/>
                <a:gd name="connsiteY3" fmla="*/ 810228 h 810228"/>
                <a:gd name="connsiteX4" fmla="*/ 0 w 2733556"/>
                <a:gd name="connsiteY4" fmla="*/ 810228 h 810228"/>
                <a:gd name="connsiteX5" fmla="*/ 0 w 2733556"/>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3556" h="810228">
                  <a:moveTo>
                    <a:pt x="0" y="0"/>
                  </a:moveTo>
                  <a:lnTo>
                    <a:pt x="2328442" y="0"/>
                  </a:lnTo>
                  <a:cubicBezTo>
                    <a:pt x="2552180" y="0"/>
                    <a:pt x="2733556" y="181376"/>
                    <a:pt x="2733556" y="405114"/>
                  </a:cubicBezTo>
                  <a:cubicBezTo>
                    <a:pt x="2733556" y="628852"/>
                    <a:pt x="2552180" y="810228"/>
                    <a:pt x="2328442" y="810228"/>
                  </a:cubicBezTo>
                  <a:lnTo>
                    <a:pt x="0" y="810228"/>
                  </a:lnTo>
                  <a:lnTo>
                    <a:pt x="0" y="0"/>
                  </a:lnTo>
                  <a:close/>
                </a:path>
              </a:pathLst>
            </a:custGeom>
            <a:noFill/>
            <a:ln w="38100" cap="flat">
              <a:solidFill>
                <a:srgbClr val="F7B75D"/>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94" name="图形"/>
            <p:cNvSpPr>
              <a:spLocks noChangeAspect="1"/>
            </p:cNvSpPr>
            <p:nvPr>
              <p:custDataLst>
                <p:tags r:id="rId10"/>
              </p:custDataLst>
            </p:nvPr>
          </p:nvSpPr>
          <p:spPr bwMode="auto">
            <a:xfrm>
              <a:off x="1985" y="7520"/>
              <a:ext cx="960" cy="960"/>
            </a:xfrm>
            <a:custGeom>
              <a:avLst/>
              <a:gdLst>
                <a:gd name="T0" fmla="*/ 2542 w 10445"/>
                <a:gd name="T1" fmla="*/ 6888 h 10447"/>
                <a:gd name="T2" fmla="*/ 0 w 10445"/>
                <a:gd name="T3" fmla="*/ 4347 h 10447"/>
                <a:gd name="T4" fmla="*/ 0 w 10445"/>
                <a:gd name="T5" fmla="*/ 4345 h 10447"/>
                <a:gd name="T6" fmla="*/ 676 w 10445"/>
                <a:gd name="T7" fmla="*/ 3669 h 10447"/>
                <a:gd name="T8" fmla="*/ 1460 w 10445"/>
                <a:gd name="T9" fmla="*/ 3513 h 10447"/>
                <a:gd name="T10" fmla="*/ 3171 w 10445"/>
                <a:gd name="T11" fmla="*/ 4221 h 10447"/>
                <a:gd name="T12" fmla="*/ 3173 w 10445"/>
                <a:gd name="T13" fmla="*/ 4221 h 10447"/>
                <a:gd name="T14" fmla="*/ 6475 w 10445"/>
                <a:gd name="T15" fmla="*/ 1675 h 10447"/>
                <a:gd name="T16" fmla="*/ 6475 w 10445"/>
                <a:gd name="T17" fmla="*/ 1674 h 10447"/>
                <a:gd name="T18" fmla="*/ 5591 w 10445"/>
                <a:gd name="T19" fmla="*/ 790 h 10447"/>
                <a:gd name="T20" fmla="*/ 5591 w 10445"/>
                <a:gd name="T21" fmla="*/ 789 h 10447"/>
                <a:gd name="T22" fmla="*/ 6099 w 10445"/>
                <a:gd name="T23" fmla="*/ 282 h 10447"/>
                <a:gd name="T24" fmla="*/ 7116 w 10445"/>
                <a:gd name="T25" fmla="*/ 282 h 10447"/>
                <a:gd name="T26" fmla="*/ 7624 w 10445"/>
                <a:gd name="T27" fmla="*/ 789 h 10447"/>
                <a:gd name="T28" fmla="*/ 7626 w 10445"/>
                <a:gd name="T29" fmla="*/ 787 h 10447"/>
                <a:gd name="T30" fmla="*/ 9659 w 10445"/>
                <a:gd name="T31" fmla="*/ 2820 h 10447"/>
                <a:gd name="T32" fmla="*/ 9656 w 10445"/>
                <a:gd name="T33" fmla="*/ 2823 h 10447"/>
                <a:gd name="T34" fmla="*/ 10164 w 10445"/>
                <a:gd name="T35" fmla="*/ 3330 h 10447"/>
                <a:gd name="T36" fmla="*/ 10164 w 10445"/>
                <a:gd name="T37" fmla="*/ 4348 h 10447"/>
                <a:gd name="T38" fmla="*/ 9656 w 10445"/>
                <a:gd name="T39" fmla="*/ 4855 h 10447"/>
                <a:gd name="T40" fmla="*/ 9655 w 10445"/>
                <a:gd name="T41" fmla="*/ 4855 h 10447"/>
                <a:gd name="T42" fmla="*/ 8770 w 10445"/>
                <a:gd name="T43" fmla="*/ 3972 h 10447"/>
                <a:gd name="T44" fmla="*/ 8769 w 10445"/>
                <a:gd name="T45" fmla="*/ 3972 h 10447"/>
                <a:gd name="T46" fmla="*/ 6222 w 10445"/>
                <a:gd name="T47" fmla="*/ 7273 h 10447"/>
                <a:gd name="T48" fmla="*/ 6222 w 10445"/>
                <a:gd name="T49" fmla="*/ 7274 h 10447"/>
                <a:gd name="T50" fmla="*/ 6931 w 10445"/>
                <a:gd name="T51" fmla="*/ 8987 h 10447"/>
                <a:gd name="T52" fmla="*/ 6775 w 10445"/>
                <a:gd name="T53" fmla="*/ 9770 h 10447"/>
                <a:gd name="T54" fmla="*/ 6099 w 10445"/>
                <a:gd name="T55" fmla="*/ 10447 h 10447"/>
                <a:gd name="T56" fmla="*/ 6097 w 10445"/>
                <a:gd name="T57" fmla="*/ 10447 h 10447"/>
                <a:gd name="T58" fmla="*/ 3559 w 10445"/>
                <a:gd name="T59" fmla="*/ 7905 h 10447"/>
                <a:gd name="T60" fmla="*/ 3558 w 10445"/>
                <a:gd name="T61" fmla="*/ 7905 h 10447"/>
                <a:gd name="T62" fmla="*/ 1020 w 10445"/>
                <a:gd name="T63" fmla="*/ 10443 h 10447"/>
                <a:gd name="T64" fmla="*/ 3 w 10445"/>
                <a:gd name="T65" fmla="*/ 10443 h 10447"/>
                <a:gd name="T66" fmla="*/ 3 w 10445"/>
                <a:gd name="T67" fmla="*/ 9427 h 10447"/>
                <a:gd name="T68" fmla="*/ 2541 w 10445"/>
                <a:gd name="T69" fmla="*/ 6888 h 10447"/>
                <a:gd name="T70" fmla="*/ 2542 w 10445"/>
                <a:gd name="T71" fmla="*/ 6888 h 10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445" h="10447">
                  <a:moveTo>
                    <a:pt x="2542" y="6888"/>
                  </a:moveTo>
                  <a:lnTo>
                    <a:pt x="0" y="4347"/>
                  </a:lnTo>
                  <a:lnTo>
                    <a:pt x="0" y="4345"/>
                  </a:lnTo>
                  <a:lnTo>
                    <a:pt x="676" y="3669"/>
                  </a:lnTo>
                  <a:cubicBezTo>
                    <a:pt x="883" y="3463"/>
                    <a:pt x="1191" y="3402"/>
                    <a:pt x="1460" y="3513"/>
                  </a:cubicBezTo>
                  <a:lnTo>
                    <a:pt x="3171" y="4221"/>
                  </a:lnTo>
                  <a:lnTo>
                    <a:pt x="3173" y="4221"/>
                  </a:lnTo>
                  <a:lnTo>
                    <a:pt x="6475" y="1675"/>
                  </a:lnTo>
                  <a:lnTo>
                    <a:pt x="6475" y="1674"/>
                  </a:lnTo>
                  <a:lnTo>
                    <a:pt x="5591" y="790"/>
                  </a:lnTo>
                  <a:lnTo>
                    <a:pt x="5591" y="789"/>
                  </a:lnTo>
                  <a:lnTo>
                    <a:pt x="6099" y="282"/>
                  </a:lnTo>
                  <a:cubicBezTo>
                    <a:pt x="6380" y="0"/>
                    <a:pt x="6835" y="0"/>
                    <a:pt x="7116" y="282"/>
                  </a:cubicBezTo>
                  <a:lnTo>
                    <a:pt x="7624" y="789"/>
                  </a:lnTo>
                  <a:lnTo>
                    <a:pt x="7626" y="787"/>
                  </a:lnTo>
                  <a:lnTo>
                    <a:pt x="9659" y="2820"/>
                  </a:lnTo>
                  <a:lnTo>
                    <a:pt x="9656" y="2823"/>
                  </a:lnTo>
                  <a:lnTo>
                    <a:pt x="10164" y="3330"/>
                  </a:lnTo>
                  <a:cubicBezTo>
                    <a:pt x="10445" y="3612"/>
                    <a:pt x="10445" y="4067"/>
                    <a:pt x="10164" y="4348"/>
                  </a:cubicBezTo>
                  <a:lnTo>
                    <a:pt x="9656" y="4855"/>
                  </a:lnTo>
                  <a:lnTo>
                    <a:pt x="9655" y="4855"/>
                  </a:lnTo>
                  <a:lnTo>
                    <a:pt x="8770" y="3972"/>
                  </a:lnTo>
                  <a:lnTo>
                    <a:pt x="8769" y="3972"/>
                  </a:lnTo>
                  <a:lnTo>
                    <a:pt x="6222" y="7273"/>
                  </a:lnTo>
                  <a:lnTo>
                    <a:pt x="6222" y="7274"/>
                  </a:lnTo>
                  <a:lnTo>
                    <a:pt x="6931" y="8987"/>
                  </a:lnTo>
                  <a:cubicBezTo>
                    <a:pt x="7043" y="9255"/>
                    <a:pt x="6981" y="9564"/>
                    <a:pt x="6775" y="9770"/>
                  </a:cubicBezTo>
                  <a:lnTo>
                    <a:pt x="6099" y="10447"/>
                  </a:lnTo>
                  <a:lnTo>
                    <a:pt x="6097" y="10447"/>
                  </a:lnTo>
                  <a:lnTo>
                    <a:pt x="3559" y="7905"/>
                  </a:lnTo>
                  <a:lnTo>
                    <a:pt x="3558" y="7905"/>
                  </a:lnTo>
                  <a:lnTo>
                    <a:pt x="1020" y="10443"/>
                  </a:lnTo>
                  <a:lnTo>
                    <a:pt x="3" y="10443"/>
                  </a:lnTo>
                  <a:lnTo>
                    <a:pt x="3" y="9427"/>
                  </a:lnTo>
                  <a:lnTo>
                    <a:pt x="2541" y="6888"/>
                  </a:lnTo>
                  <a:lnTo>
                    <a:pt x="2542" y="6888"/>
                  </a:lnTo>
                  <a:close/>
                </a:path>
              </a:pathLst>
            </a:custGeom>
            <a:solidFill>
              <a:srgbClr val="566CD3"/>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495" name="图形"/>
            <p:cNvSpPr>
              <a:spLocks noChangeAspect="1"/>
            </p:cNvSpPr>
            <p:nvPr>
              <p:custDataLst>
                <p:tags r:id="rId11"/>
              </p:custDataLst>
            </p:nvPr>
          </p:nvSpPr>
          <p:spPr bwMode="auto">
            <a:xfrm>
              <a:off x="1937" y="4111"/>
              <a:ext cx="960" cy="720"/>
            </a:xfrm>
            <a:custGeom>
              <a:avLst/>
              <a:gdLst>
                <a:gd name="T0" fmla="*/ 10375 w 10375"/>
                <a:gd name="T1" fmla="*/ 6809 h 7782"/>
                <a:gd name="T2" fmla="*/ 10375 w 10375"/>
                <a:gd name="T3" fmla="*/ 7133 h 7782"/>
                <a:gd name="T4" fmla="*/ 9726 w 10375"/>
                <a:gd name="T5" fmla="*/ 7782 h 7782"/>
                <a:gd name="T6" fmla="*/ 649 w 10375"/>
                <a:gd name="T7" fmla="*/ 7782 h 7782"/>
                <a:gd name="T8" fmla="*/ 0 w 10375"/>
                <a:gd name="T9" fmla="*/ 7133 h 7782"/>
                <a:gd name="T10" fmla="*/ 0 w 10375"/>
                <a:gd name="T11" fmla="*/ 649 h 7782"/>
                <a:gd name="T12" fmla="*/ 649 w 10375"/>
                <a:gd name="T13" fmla="*/ 0 h 7782"/>
                <a:gd name="T14" fmla="*/ 4150 w 10375"/>
                <a:gd name="T15" fmla="*/ 0 h 7782"/>
                <a:gd name="T16" fmla="*/ 5188 w 10375"/>
                <a:gd name="T17" fmla="*/ 973 h 7782"/>
                <a:gd name="T18" fmla="*/ 9338 w 10375"/>
                <a:gd name="T19" fmla="*/ 973 h 7782"/>
                <a:gd name="T20" fmla="*/ 10375 w 10375"/>
                <a:gd name="T21" fmla="*/ 1945 h 7782"/>
                <a:gd name="T22" fmla="*/ 10375 w 10375"/>
                <a:gd name="T23" fmla="*/ 6809 h 7782"/>
                <a:gd name="T24" fmla="*/ 5188 w 10375"/>
                <a:gd name="T25" fmla="*/ 2594 h 7782"/>
                <a:gd name="T26" fmla="*/ 4701 w 10375"/>
                <a:gd name="T27" fmla="*/ 3080 h 7782"/>
                <a:gd name="T28" fmla="*/ 4701 w 10375"/>
                <a:gd name="T29" fmla="*/ 4053 h 7782"/>
                <a:gd name="T30" fmla="*/ 3729 w 10375"/>
                <a:gd name="T31" fmla="*/ 4053 h 7782"/>
                <a:gd name="T32" fmla="*/ 3243 w 10375"/>
                <a:gd name="T33" fmla="*/ 4539 h 7782"/>
                <a:gd name="T34" fmla="*/ 3729 w 10375"/>
                <a:gd name="T35" fmla="*/ 5025 h 7782"/>
                <a:gd name="T36" fmla="*/ 4701 w 10375"/>
                <a:gd name="T37" fmla="*/ 5025 h 7782"/>
                <a:gd name="T38" fmla="*/ 4701 w 10375"/>
                <a:gd name="T39" fmla="*/ 5998 h 7782"/>
                <a:gd name="T40" fmla="*/ 5188 w 10375"/>
                <a:gd name="T41" fmla="*/ 6484 h 7782"/>
                <a:gd name="T42" fmla="*/ 5674 w 10375"/>
                <a:gd name="T43" fmla="*/ 5998 h 7782"/>
                <a:gd name="T44" fmla="*/ 5674 w 10375"/>
                <a:gd name="T45" fmla="*/ 5025 h 7782"/>
                <a:gd name="T46" fmla="*/ 6646 w 10375"/>
                <a:gd name="T47" fmla="*/ 5025 h 7782"/>
                <a:gd name="T48" fmla="*/ 7132 w 10375"/>
                <a:gd name="T49" fmla="*/ 4539 h 7782"/>
                <a:gd name="T50" fmla="*/ 6646 w 10375"/>
                <a:gd name="T51" fmla="*/ 4053 h 7782"/>
                <a:gd name="T52" fmla="*/ 5674 w 10375"/>
                <a:gd name="T53" fmla="*/ 4053 h 7782"/>
                <a:gd name="T54" fmla="*/ 5674 w 10375"/>
                <a:gd name="T55" fmla="*/ 3080 h 7782"/>
                <a:gd name="T56" fmla="*/ 5188 w 10375"/>
                <a:gd name="T57" fmla="*/ 2594 h 7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375" h="7782">
                  <a:moveTo>
                    <a:pt x="10375" y="6809"/>
                  </a:moveTo>
                  <a:lnTo>
                    <a:pt x="10375" y="7133"/>
                  </a:lnTo>
                  <a:cubicBezTo>
                    <a:pt x="10375" y="7490"/>
                    <a:pt x="10085" y="7782"/>
                    <a:pt x="9726" y="7782"/>
                  </a:cubicBezTo>
                  <a:lnTo>
                    <a:pt x="649" y="7782"/>
                  </a:lnTo>
                  <a:cubicBezTo>
                    <a:pt x="291" y="7782"/>
                    <a:pt x="0" y="7492"/>
                    <a:pt x="0" y="7133"/>
                  </a:cubicBezTo>
                  <a:lnTo>
                    <a:pt x="0" y="649"/>
                  </a:lnTo>
                  <a:cubicBezTo>
                    <a:pt x="0" y="292"/>
                    <a:pt x="290" y="0"/>
                    <a:pt x="649" y="0"/>
                  </a:cubicBezTo>
                  <a:lnTo>
                    <a:pt x="4150" y="0"/>
                  </a:lnTo>
                  <a:lnTo>
                    <a:pt x="5188" y="973"/>
                  </a:lnTo>
                  <a:lnTo>
                    <a:pt x="9338" y="973"/>
                  </a:lnTo>
                  <a:cubicBezTo>
                    <a:pt x="9908" y="973"/>
                    <a:pt x="10375" y="1410"/>
                    <a:pt x="10375" y="1945"/>
                  </a:cubicBezTo>
                  <a:lnTo>
                    <a:pt x="10375" y="6809"/>
                  </a:lnTo>
                  <a:close/>
                  <a:moveTo>
                    <a:pt x="5188" y="2594"/>
                  </a:moveTo>
                  <a:cubicBezTo>
                    <a:pt x="4919" y="2594"/>
                    <a:pt x="4701" y="2811"/>
                    <a:pt x="4701" y="3080"/>
                  </a:cubicBezTo>
                  <a:lnTo>
                    <a:pt x="4701" y="4053"/>
                  </a:lnTo>
                  <a:lnTo>
                    <a:pt x="3729" y="4053"/>
                  </a:lnTo>
                  <a:cubicBezTo>
                    <a:pt x="3460" y="4053"/>
                    <a:pt x="3243" y="4270"/>
                    <a:pt x="3243" y="4539"/>
                  </a:cubicBezTo>
                  <a:cubicBezTo>
                    <a:pt x="3243" y="4808"/>
                    <a:pt x="3460" y="5025"/>
                    <a:pt x="3729" y="5025"/>
                  </a:cubicBezTo>
                  <a:lnTo>
                    <a:pt x="4701" y="5025"/>
                  </a:lnTo>
                  <a:lnTo>
                    <a:pt x="4701" y="5998"/>
                  </a:lnTo>
                  <a:cubicBezTo>
                    <a:pt x="4701" y="6266"/>
                    <a:pt x="4919" y="6484"/>
                    <a:pt x="5188" y="6484"/>
                  </a:cubicBezTo>
                  <a:cubicBezTo>
                    <a:pt x="5456" y="6484"/>
                    <a:pt x="5674" y="6266"/>
                    <a:pt x="5674" y="5998"/>
                  </a:cubicBezTo>
                  <a:lnTo>
                    <a:pt x="5674" y="5025"/>
                  </a:lnTo>
                  <a:lnTo>
                    <a:pt x="6646" y="5025"/>
                  </a:lnTo>
                  <a:cubicBezTo>
                    <a:pt x="6915" y="5025"/>
                    <a:pt x="7132" y="4808"/>
                    <a:pt x="7132" y="4539"/>
                  </a:cubicBezTo>
                  <a:cubicBezTo>
                    <a:pt x="7132" y="4270"/>
                    <a:pt x="6915" y="4053"/>
                    <a:pt x="6646" y="4053"/>
                  </a:cubicBezTo>
                  <a:lnTo>
                    <a:pt x="5674" y="4053"/>
                  </a:lnTo>
                  <a:lnTo>
                    <a:pt x="5674" y="3080"/>
                  </a:lnTo>
                  <a:cubicBezTo>
                    <a:pt x="5674" y="2811"/>
                    <a:pt x="5456" y="2594"/>
                    <a:pt x="5188" y="2594"/>
                  </a:cubicBezTo>
                  <a:close/>
                </a:path>
              </a:pathLst>
            </a:custGeom>
            <a:solidFill>
              <a:srgbClr val="F7B75D"/>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496" name="图形"/>
            <p:cNvSpPr>
              <a:spLocks noChangeAspect="1"/>
            </p:cNvSpPr>
            <p:nvPr>
              <p:custDataLst>
                <p:tags r:id="rId12"/>
              </p:custDataLst>
            </p:nvPr>
          </p:nvSpPr>
          <p:spPr bwMode="auto">
            <a:xfrm>
              <a:off x="10637" y="7568"/>
              <a:ext cx="960" cy="914"/>
            </a:xfrm>
            <a:custGeom>
              <a:avLst/>
              <a:gdLst>
                <a:gd name="T0" fmla="*/ 6806 w 10375"/>
                <a:gd name="T1" fmla="*/ 593 h 9878"/>
                <a:gd name="T2" fmla="*/ 8636 w 10375"/>
                <a:gd name="T3" fmla="*/ 473 h 9878"/>
                <a:gd name="T4" fmla="*/ 8756 w 10375"/>
                <a:gd name="T5" fmla="*/ 2303 h 9878"/>
                <a:gd name="T6" fmla="*/ 8604 w 10375"/>
                <a:gd name="T7" fmla="*/ 2450 h 9878"/>
                <a:gd name="T8" fmla="*/ 7716 w 10375"/>
                <a:gd name="T9" fmla="*/ 3338 h 9878"/>
                <a:gd name="T10" fmla="*/ 5882 w 10375"/>
                <a:gd name="T11" fmla="*/ 1503 h 9878"/>
                <a:gd name="T12" fmla="*/ 6800 w 10375"/>
                <a:gd name="T13" fmla="*/ 585 h 9878"/>
                <a:gd name="T14" fmla="*/ 6806 w 10375"/>
                <a:gd name="T15" fmla="*/ 593 h 9878"/>
                <a:gd name="T16" fmla="*/ 3131 w 10375"/>
                <a:gd name="T17" fmla="*/ 7921 h 9878"/>
                <a:gd name="T18" fmla="*/ 3131 w 10375"/>
                <a:gd name="T19" fmla="*/ 7923 h 9878"/>
                <a:gd name="T20" fmla="*/ 1298 w 10375"/>
                <a:gd name="T21" fmla="*/ 7923 h 9878"/>
                <a:gd name="T22" fmla="*/ 1298 w 10375"/>
                <a:gd name="T23" fmla="*/ 6088 h 9878"/>
                <a:gd name="T24" fmla="*/ 1299 w 10375"/>
                <a:gd name="T25" fmla="*/ 6088 h 9878"/>
                <a:gd name="T26" fmla="*/ 5425 w 10375"/>
                <a:gd name="T27" fmla="*/ 1962 h 9878"/>
                <a:gd name="T28" fmla="*/ 7259 w 10375"/>
                <a:gd name="T29" fmla="*/ 3797 h 9878"/>
                <a:gd name="T30" fmla="*/ 3131 w 10375"/>
                <a:gd name="T31" fmla="*/ 7921 h 9878"/>
                <a:gd name="T32" fmla="*/ 649 w 10375"/>
                <a:gd name="T33" fmla="*/ 8580 h 9878"/>
                <a:gd name="T34" fmla="*/ 9726 w 10375"/>
                <a:gd name="T35" fmla="*/ 8580 h 9878"/>
                <a:gd name="T36" fmla="*/ 10375 w 10375"/>
                <a:gd name="T37" fmla="*/ 9229 h 9878"/>
                <a:gd name="T38" fmla="*/ 9726 w 10375"/>
                <a:gd name="T39" fmla="*/ 9878 h 9878"/>
                <a:gd name="T40" fmla="*/ 649 w 10375"/>
                <a:gd name="T41" fmla="*/ 9878 h 9878"/>
                <a:gd name="T42" fmla="*/ 0 w 10375"/>
                <a:gd name="T43" fmla="*/ 9229 h 9878"/>
                <a:gd name="T44" fmla="*/ 649 w 10375"/>
                <a:gd name="T45" fmla="*/ 8580 h 9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375" h="9878">
                  <a:moveTo>
                    <a:pt x="6806" y="593"/>
                  </a:moveTo>
                  <a:cubicBezTo>
                    <a:pt x="7279" y="54"/>
                    <a:pt x="8098" y="0"/>
                    <a:pt x="8636" y="473"/>
                  </a:cubicBezTo>
                  <a:cubicBezTo>
                    <a:pt x="9175" y="945"/>
                    <a:pt x="9229" y="1764"/>
                    <a:pt x="8756" y="2303"/>
                  </a:cubicBezTo>
                  <a:cubicBezTo>
                    <a:pt x="8710" y="2357"/>
                    <a:pt x="8659" y="2405"/>
                    <a:pt x="8604" y="2450"/>
                  </a:cubicBezTo>
                  <a:lnTo>
                    <a:pt x="7716" y="3338"/>
                  </a:lnTo>
                  <a:lnTo>
                    <a:pt x="5882" y="1503"/>
                  </a:lnTo>
                  <a:lnTo>
                    <a:pt x="6800" y="585"/>
                  </a:lnTo>
                  <a:lnTo>
                    <a:pt x="6806" y="593"/>
                  </a:lnTo>
                  <a:close/>
                  <a:moveTo>
                    <a:pt x="3131" y="7921"/>
                  </a:moveTo>
                  <a:lnTo>
                    <a:pt x="3131" y="7923"/>
                  </a:lnTo>
                  <a:lnTo>
                    <a:pt x="1298" y="7923"/>
                  </a:lnTo>
                  <a:lnTo>
                    <a:pt x="1298" y="6088"/>
                  </a:lnTo>
                  <a:lnTo>
                    <a:pt x="1299" y="6088"/>
                  </a:lnTo>
                  <a:lnTo>
                    <a:pt x="5425" y="1962"/>
                  </a:lnTo>
                  <a:lnTo>
                    <a:pt x="7259" y="3797"/>
                  </a:lnTo>
                  <a:lnTo>
                    <a:pt x="3131" y="7921"/>
                  </a:lnTo>
                  <a:close/>
                  <a:moveTo>
                    <a:pt x="649" y="8580"/>
                  </a:moveTo>
                  <a:lnTo>
                    <a:pt x="9726" y="8580"/>
                  </a:lnTo>
                  <a:cubicBezTo>
                    <a:pt x="10084" y="8580"/>
                    <a:pt x="10375" y="8870"/>
                    <a:pt x="10375" y="9229"/>
                  </a:cubicBezTo>
                  <a:cubicBezTo>
                    <a:pt x="10375" y="9587"/>
                    <a:pt x="10085" y="9878"/>
                    <a:pt x="9726" y="9878"/>
                  </a:cubicBezTo>
                  <a:lnTo>
                    <a:pt x="649" y="9878"/>
                  </a:lnTo>
                  <a:cubicBezTo>
                    <a:pt x="291" y="9878"/>
                    <a:pt x="0" y="9588"/>
                    <a:pt x="0" y="9229"/>
                  </a:cubicBezTo>
                  <a:cubicBezTo>
                    <a:pt x="0" y="8870"/>
                    <a:pt x="290" y="8580"/>
                    <a:pt x="649" y="8580"/>
                  </a:cubicBezTo>
                  <a:close/>
                </a:path>
              </a:pathLst>
            </a:custGeom>
            <a:solidFill>
              <a:srgbClr val="F7B75D"/>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497" name="图形"/>
            <p:cNvSpPr>
              <a:spLocks noChangeAspect="1"/>
            </p:cNvSpPr>
            <p:nvPr>
              <p:custDataLst>
                <p:tags r:id="rId13"/>
              </p:custDataLst>
            </p:nvPr>
          </p:nvSpPr>
          <p:spPr bwMode="auto">
            <a:xfrm>
              <a:off x="10649" y="3973"/>
              <a:ext cx="960" cy="858"/>
            </a:xfrm>
            <a:custGeom>
              <a:avLst/>
              <a:gdLst>
                <a:gd name="T0" fmla="*/ 7200 w 14400"/>
                <a:gd name="T1" fmla="*/ 0 h 12876"/>
                <a:gd name="T2" fmla="*/ 4050 w 14400"/>
                <a:gd name="T3" fmla="*/ 3150 h 12876"/>
                <a:gd name="T4" fmla="*/ 6897 w 14400"/>
                <a:gd name="T5" fmla="*/ 8051 h 12876"/>
                <a:gd name="T6" fmla="*/ 7502 w 14400"/>
                <a:gd name="T7" fmla="*/ 8051 h 12876"/>
                <a:gd name="T8" fmla="*/ 10350 w 14400"/>
                <a:gd name="T9" fmla="*/ 3150 h 12876"/>
                <a:gd name="T10" fmla="*/ 7200 w 14400"/>
                <a:gd name="T11" fmla="*/ 0 h 12876"/>
                <a:gd name="T12" fmla="*/ 503 w 14400"/>
                <a:gd name="T13" fmla="*/ 5399 h 12876"/>
                <a:gd name="T14" fmla="*/ 0 w 14400"/>
                <a:gd name="T15" fmla="*/ 6142 h 12876"/>
                <a:gd name="T16" fmla="*/ 0 w 14400"/>
                <a:gd name="T17" fmla="*/ 12400 h 12876"/>
                <a:gd name="T18" fmla="*/ 549 w 14400"/>
                <a:gd name="T19" fmla="*/ 12771 h 12876"/>
                <a:gd name="T20" fmla="*/ 4000 w 14400"/>
                <a:gd name="T21" fmla="*/ 11200 h 12876"/>
                <a:gd name="T22" fmla="*/ 4000 w 14400"/>
                <a:gd name="T23" fmla="*/ 5373 h 12876"/>
                <a:gd name="T24" fmla="*/ 3469 w 14400"/>
                <a:gd name="T25" fmla="*/ 4213 h 12876"/>
                <a:gd name="T26" fmla="*/ 503 w 14400"/>
                <a:gd name="T27" fmla="*/ 5399 h 12876"/>
                <a:gd name="T28" fmla="*/ 7200 w 14400"/>
                <a:gd name="T29" fmla="*/ 8992 h 12876"/>
                <a:gd name="T30" fmla="*/ 6287 w 14400"/>
                <a:gd name="T31" fmla="*/ 8568 h 12876"/>
                <a:gd name="T32" fmla="*/ 4800 w 14400"/>
                <a:gd name="T33" fmla="*/ 6650 h 12876"/>
                <a:gd name="T34" fmla="*/ 4800 w 14400"/>
                <a:gd name="T35" fmla="*/ 11200 h 12876"/>
                <a:gd name="T36" fmla="*/ 9600 w 14400"/>
                <a:gd name="T37" fmla="*/ 12800 h 12876"/>
                <a:gd name="T38" fmla="*/ 9600 w 14400"/>
                <a:gd name="T39" fmla="*/ 6650 h 12876"/>
                <a:gd name="T40" fmla="*/ 8113 w 14400"/>
                <a:gd name="T41" fmla="*/ 8568 h 12876"/>
                <a:gd name="T42" fmla="*/ 7200 w 14400"/>
                <a:gd name="T43" fmla="*/ 8992 h 12876"/>
                <a:gd name="T44" fmla="*/ 13851 w 14400"/>
                <a:gd name="T45" fmla="*/ 4029 h 12876"/>
                <a:gd name="T46" fmla="*/ 10400 w 14400"/>
                <a:gd name="T47" fmla="*/ 5600 h 12876"/>
                <a:gd name="T48" fmla="*/ 10400 w 14400"/>
                <a:gd name="T49" fmla="*/ 12800 h 12876"/>
                <a:gd name="T50" fmla="*/ 13897 w 14400"/>
                <a:gd name="T51" fmla="*/ 11401 h 12876"/>
                <a:gd name="T52" fmla="*/ 14400 w 14400"/>
                <a:gd name="T53" fmla="*/ 10659 h 12876"/>
                <a:gd name="T54" fmla="*/ 14400 w 14400"/>
                <a:gd name="T55" fmla="*/ 4401 h 12876"/>
                <a:gd name="T56" fmla="*/ 13851 w 14400"/>
                <a:gd name="T57" fmla="*/ 4029 h 12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400" h="12876">
                  <a:moveTo>
                    <a:pt x="7200" y="0"/>
                  </a:moveTo>
                  <a:cubicBezTo>
                    <a:pt x="5460" y="0"/>
                    <a:pt x="4050" y="1410"/>
                    <a:pt x="4050" y="3150"/>
                  </a:cubicBezTo>
                  <a:cubicBezTo>
                    <a:pt x="4050" y="4557"/>
                    <a:pt x="6109" y="7120"/>
                    <a:pt x="6897" y="8051"/>
                  </a:cubicBezTo>
                  <a:cubicBezTo>
                    <a:pt x="7057" y="8239"/>
                    <a:pt x="7343" y="8239"/>
                    <a:pt x="7502" y="8051"/>
                  </a:cubicBezTo>
                  <a:cubicBezTo>
                    <a:pt x="8291" y="7120"/>
                    <a:pt x="10350" y="4557"/>
                    <a:pt x="10350" y="3150"/>
                  </a:cubicBezTo>
                  <a:cubicBezTo>
                    <a:pt x="10350" y="1410"/>
                    <a:pt x="8940" y="0"/>
                    <a:pt x="7200" y="0"/>
                  </a:cubicBezTo>
                  <a:close/>
                  <a:moveTo>
                    <a:pt x="503" y="5399"/>
                  </a:moveTo>
                  <a:cubicBezTo>
                    <a:pt x="199" y="5520"/>
                    <a:pt x="0" y="5814"/>
                    <a:pt x="0" y="6142"/>
                  </a:cubicBezTo>
                  <a:lnTo>
                    <a:pt x="0" y="12400"/>
                  </a:lnTo>
                  <a:cubicBezTo>
                    <a:pt x="0" y="12683"/>
                    <a:pt x="286" y="12876"/>
                    <a:pt x="549" y="12771"/>
                  </a:cubicBezTo>
                  <a:lnTo>
                    <a:pt x="4000" y="11200"/>
                  </a:lnTo>
                  <a:lnTo>
                    <a:pt x="4000" y="5373"/>
                  </a:lnTo>
                  <a:cubicBezTo>
                    <a:pt x="3779" y="4974"/>
                    <a:pt x="3598" y="4585"/>
                    <a:pt x="3469" y="4213"/>
                  </a:cubicBezTo>
                  <a:lnTo>
                    <a:pt x="503" y="5399"/>
                  </a:lnTo>
                  <a:close/>
                  <a:moveTo>
                    <a:pt x="7200" y="8992"/>
                  </a:moveTo>
                  <a:cubicBezTo>
                    <a:pt x="6848" y="8992"/>
                    <a:pt x="6516" y="8837"/>
                    <a:pt x="6287" y="8568"/>
                  </a:cubicBezTo>
                  <a:cubicBezTo>
                    <a:pt x="5796" y="7988"/>
                    <a:pt x="5273" y="7327"/>
                    <a:pt x="4800" y="6650"/>
                  </a:cubicBezTo>
                  <a:lnTo>
                    <a:pt x="4800" y="11200"/>
                  </a:lnTo>
                  <a:lnTo>
                    <a:pt x="9600" y="12800"/>
                  </a:lnTo>
                  <a:lnTo>
                    <a:pt x="9600" y="6650"/>
                  </a:lnTo>
                  <a:cubicBezTo>
                    <a:pt x="9127" y="7327"/>
                    <a:pt x="8605" y="7988"/>
                    <a:pt x="8113" y="8568"/>
                  </a:cubicBezTo>
                  <a:cubicBezTo>
                    <a:pt x="7885" y="8837"/>
                    <a:pt x="7552" y="8992"/>
                    <a:pt x="7200" y="8992"/>
                  </a:cubicBezTo>
                  <a:close/>
                  <a:moveTo>
                    <a:pt x="13851" y="4029"/>
                  </a:moveTo>
                  <a:lnTo>
                    <a:pt x="10400" y="5600"/>
                  </a:lnTo>
                  <a:lnTo>
                    <a:pt x="10400" y="12800"/>
                  </a:lnTo>
                  <a:lnTo>
                    <a:pt x="13897" y="11401"/>
                  </a:lnTo>
                  <a:cubicBezTo>
                    <a:pt x="14201" y="11280"/>
                    <a:pt x="14400" y="10986"/>
                    <a:pt x="14400" y="10659"/>
                  </a:cubicBezTo>
                  <a:lnTo>
                    <a:pt x="14400" y="4401"/>
                  </a:lnTo>
                  <a:cubicBezTo>
                    <a:pt x="14400" y="4118"/>
                    <a:pt x="14114" y="3924"/>
                    <a:pt x="13851" y="4029"/>
                  </a:cubicBezTo>
                  <a:close/>
                </a:path>
              </a:pathLst>
            </a:custGeom>
            <a:solidFill>
              <a:srgbClr val="566CD3"/>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grpSp>
          <p:nvGrpSpPr>
            <p:cNvPr id="498" name="组合 44"/>
            <p:cNvGrpSpPr/>
            <p:nvPr>
              <p:custDataLst>
                <p:tags r:id="rId14"/>
              </p:custDataLst>
            </p:nvPr>
          </p:nvGrpSpPr>
          <p:grpSpPr>
            <a:xfrm>
              <a:off x="3688" y="6747"/>
              <a:ext cx="5223" cy="2419"/>
              <a:chOff x="3688" y="6720"/>
              <a:chExt cx="5223" cy="2419"/>
            </a:xfrm>
          </p:grpSpPr>
          <p:sp>
            <p:nvSpPr>
              <p:cNvPr id="499" name="图形"/>
              <p:cNvSpPr txBox="1"/>
              <p:nvPr>
                <p:custDataLst>
                  <p:tags r:id="rId24"/>
                </p:custDataLst>
              </p:nvPr>
            </p:nvSpPr>
            <p:spPr>
              <a:xfrm flipH="1">
                <a:off x="3689" y="6720"/>
                <a:ext cx="5222" cy="8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tx1">
                        <a:lumMod val="75000"/>
                        <a:lumOff val="25000"/>
                      </a:schemeClr>
                    </a:solidFill>
                    <a:effectLst/>
                    <a:uLnTx/>
                    <a:uFillTx/>
                    <a:latin typeface="宋体" panose="02010600030101010101" pitchFamily="2" charset="-122"/>
                    <a:ea typeface="宋体" panose="02010600030101010101" pitchFamily="2" charset="-122"/>
                    <a:cs typeface="思源黑体 Normal" panose="020B0400000000000000" charset="-122"/>
                    <a:sym typeface="Arial" panose="020B0604020202020204"/>
                  </a:rPr>
                  <a:t>单句圈中功能</a:t>
                </a:r>
              </a:p>
            </p:txBody>
          </p:sp>
          <p:sp>
            <p:nvSpPr>
              <p:cNvPr id="500" name="图形"/>
              <p:cNvSpPr txBox="1"/>
              <p:nvPr>
                <p:custDataLst>
                  <p:tags r:id="rId25"/>
                </p:custDataLst>
              </p:nvPr>
            </p:nvSpPr>
            <p:spPr>
              <a:xfrm flipH="1">
                <a:off x="3688" y="7493"/>
                <a:ext cx="5223" cy="1646"/>
              </a:xfrm>
              <a:prstGeom prst="rect">
                <a:avLst/>
              </a:prstGeom>
              <a:noFill/>
            </p:spPr>
            <p:txBody>
              <a:bodyPr wrap="square">
                <a:noAutofit/>
              </a:bodyPr>
              <a:lstStyle/>
              <a:p>
                <a:pPr>
                  <a:lnSpc>
                    <a:spcPct val="100000"/>
                  </a:lnSpc>
                </a:pPr>
                <a:r>
                  <a:rPr lang="zh-CN" altLang="en-US" sz="2000">
                    <a:solidFill>
                      <a:schemeClr val="tx1">
                        <a:lumMod val="65000"/>
                        <a:lumOff val="3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支持用户将译文指定句子选中后高亮显示并提供语音朗读功能</a:t>
                </a:r>
              </a:p>
            </p:txBody>
          </p:sp>
        </p:grpSp>
        <p:grpSp>
          <p:nvGrpSpPr>
            <p:cNvPr id="501" name="组合 45"/>
            <p:cNvGrpSpPr/>
            <p:nvPr>
              <p:custDataLst>
                <p:tags r:id="rId15"/>
              </p:custDataLst>
            </p:nvPr>
          </p:nvGrpSpPr>
          <p:grpSpPr>
            <a:xfrm>
              <a:off x="3444" y="3151"/>
              <a:ext cx="5638" cy="2764"/>
              <a:chOff x="3444" y="6754"/>
              <a:chExt cx="5638" cy="2764"/>
            </a:xfrm>
          </p:grpSpPr>
          <p:sp>
            <p:nvSpPr>
              <p:cNvPr id="502" name="图形"/>
              <p:cNvSpPr txBox="1"/>
              <p:nvPr>
                <p:custDataLst>
                  <p:tags r:id="rId22"/>
                </p:custDataLst>
              </p:nvPr>
            </p:nvSpPr>
            <p:spPr>
              <a:xfrm flipH="1">
                <a:off x="3525" y="6754"/>
                <a:ext cx="5557" cy="8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tx1">
                        <a:lumMod val="75000"/>
                        <a:lumOff val="2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多模态输入翻译功能</a:t>
                </a:r>
              </a:p>
            </p:txBody>
          </p:sp>
          <p:sp>
            <p:nvSpPr>
              <p:cNvPr id="503" name="图形"/>
              <p:cNvSpPr txBox="1"/>
              <p:nvPr>
                <p:custDataLst>
                  <p:tags r:id="rId23"/>
                </p:custDataLst>
              </p:nvPr>
            </p:nvSpPr>
            <p:spPr>
              <a:xfrm flipH="1">
                <a:off x="3444" y="7546"/>
                <a:ext cx="5408" cy="1972"/>
              </a:xfrm>
              <a:prstGeom prst="rect">
                <a:avLst/>
              </a:prstGeom>
              <a:noFill/>
            </p:spPr>
            <p:txBody>
              <a:bodyPr wrap="square">
                <a:noAutofit/>
              </a:bodyPr>
              <a:lstStyle/>
              <a:p>
                <a:pPr>
                  <a:lnSpc>
                    <a:spcPct val="100000"/>
                  </a:lnSpc>
                </a:pPr>
                <a:r>
                  <a:rPr kumimoji="0" lang="zh-CN" altLang="en-US" sz="2000" b="0" i="0" u="none" strike="noStrike" kern="1200" cap="none" spc="0" normalizeH="0" baseline="0" noProof="0" dirty="0">
                    <a:ln>
                      <a:noFill/>
                    </a:ln>
                    <a:solidFill>
                      <a:schemeClr val="tx1">
                        <a:lumMod val="75000"/>
                        <a:lumOff val="25000"/>
                      </a:schemeClr>
                    </a:solidFill>
                    <a:effectLst/>
                    <a:uLnTx/>
                    <a:uFillTx/>
                    <a:latin typeface="宋体" panose="02010600030101010101" pitchFamily="2" charset="-122"/>
                    <a:ea typeface="宋体" panose="02010600030101010101" pitchFamily="2" charset="-122"/>
                    <a:cs typeface="思源黑体 Normal" panose="020B0400000000000000" charset="-122"/>
                    <a:sym typeface="Arial" panose="020B0604020202020204"/>
                  </a:rPr>
                  <a:t>支持用户自主选择输入文本、图片或文件格式，支持多模态输入，并及时获得翻译结果</a:t>
                </a:r>
              </a:p>
            </p:txBody>
          </p:sp>
        </p:grpSp>
        <p:grpSp>
          <p:nvGrpSpPr>
            <p:cNvPr id="504" name="组合 48"/>
            <p:cNvGrpSpPr/>
            <p:nvPr>
              <p:custDataLst>
                <p:tags r:id="rId16"/>
              </p:custDataLst>
            </p:nvPr>
          </p:nvGrpSpPr>
          <p:grpSpPr>
            <a:xfrm>
              <a:off x="12372" y="6747"/>
              <a:ext cx="5096" cy="2419"/>
              <a:chOff x="3540" y="6720"/>
              <a:chExt cx="5096" cy="2419"/>
            </a:xfrm>
          </p:grpSpPr>
          <p:sp>
            <p:nvSpPr>
              <p:cNvPr id="505" name="图形"/>
              <p:cNvSpPr txBox="1"/>
              <p:nvPr>
                <p:custDataLst>
                  <p:tags r:id="rId20"/>
                </p:custDataLst>
              </p:nvPr>
            </p:nvSpPr>
            <p:spPr>
              <a:xfrm flipH="1">
                <a:off x="3540" y="6720"/>
                <a:ext cx="5096" cy="8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tx1">
                        <a:lumMod val="75000"/>
                        <a:lumOff val="2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历史记录查看功能</a:t>
                </a:r>
              </a:p>
            </p:txBody>
          </p:sp>
          <p:sp>
            <p:nvSpPr>
              <p:cNvPr id="506" name="图形"/>
              <p:cNvSpPr txBox="1"/>
              <p:nvPr>
                <p:custDataLst>
                  <p:tags r:id="rId21"/>
                </p:custDataLst>
              </p:nvPr>
            </p:nvSpPr>
            <p:spPr>
              <a:xfrm flipH="1">
                <a:off x="3540" y="7493"/>
                <a:ext cx="5096" cy="1646"/>
              </a:xfrm>
              <a:prstGeom prst="rect">
                <a:avLst/>
              </a:prstGeom>
              <a:noFill/>
            </p:spPr>
            <p:txBody>
              <a:bodyPr wrap="square">
                <a:noAutofit/>
              </a:bodyPr>
              <a:lstStyle/>
              <a:p>
                <a:pPr>
                  <a:lnSpc>
                    <a:spcPct val="100000"/>
                  </a:lnSpc>
                </a:pPr>
                <a:r>
                  <a:rPr lang="zh-CN" altLang="en-US" sz="2000">
                    <a:solidFill>
                      <a:schemeClr val="tx1">
                        <a:lumMod val="65000"/>
                        <a:lumOff val="3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支持用户翻阅最近的翻译历史记录，并定向查询，支持用户复制历史记录原文译文，和批量删除功能</a:t>
                </a:r>
              </a:p>
            </p:txBody>
          </p:sp>
        </p:grpSp>
        <p:grpSp>
          <p:nvGrpSpPr>
            <p:cNvPr id="507" name="组合 51"/>
            <p:cNvGrpSpPr/>
            <p:nvPr>
              <p:custDataLst>
                <p:tags r:id="rId17"/>
              </p:custDataLst>
            </p:nvPr>
          </p:nvGrpSpPr>
          <p:grpSpPr>
            <a:xfrm>
              <a:off x="12247" y="3171"/>
              <a:ext cx="5345" cy="2416"/>
              <a:chOff x="3415" y="6774"/>
              <a:chExt cx="5345" cy="2416"/>
            </a:xfrm>
          </p:grpSpPr>
          <p:sp>
            <p:nvSpPr>
              <p:cNvPr id="508" name="图形"/>
              <p:cNvSpPr txBox="1"/>
              <p:nvPr>
                <p:custDataLst>
                  <p:tags r:id="rId18"/>
                </p:custDataLst>
              </p:nvPr>
            </p:nvSpPr>
            <p:spPr>
              <a:xfrm flipH="1">
                <a:off x="3540" y="6774"/>
                <a:ext cx="5096" cy="8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tx1">
                        <a:lumMod val="75000"/>
                        <a:lumOff val="2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模型自主选用功能</a:t>
                </a:r>
              </a:p>
            </p:txBody>
          </p:sp>
          <p:sp>
            <p:nvSpPr>
              <p:cNvPr id="509" name="图形"/>
              <p:cNvSpPr txBox="1"/>
              <p:nvPr>
                <p:custDataLst>
                  <p:tags r:id="rId19"/>
                </p:custDataLst>
              </p:nvPr>
            </p:nvSpPr>
            <p:spPr>
              <a:xfrm flipH="1">
                <a:off x="3415" y="7546"/>
                <a:ext cx="5345" cy="1644"/>
              </a:xfrm>
              <a:prstGeom prst="rect">
                <a:avLst/>
              </a:prstGeom>
              <a:noFill/>
            </p:spPr>
            <p:txBody>
              <a:bodyPr wrap="square">
                <a:noAutofit/>
              </a:bodyPr>
              <a:lstStyle/>
              <a:p>
                <a:pPr>
                  <a:lnSpc>
                    <a:spcPct val="100000"/>
                  </a:lnSpc>
                </a:pPr>
                <a:r>
                  <a:rPr lang="zh-CN" altLang="en-US" sz="2000">
                    <a:solidFill>
                      <a:schemeClr val="tx1">
                        <a:lumMod val="65000"/>
                        <a:lumOff val="3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支持用户自主选用不同的翻译模型，共包含四种选择，高速模型、高精度模型、</a:t>
                </a:r>
                <a:r>
                  <a:rPr lang="en-US" altLang="zh-CN" sz="2000">
                    <a:solidFill>
                      <a:schemeClr val="tx1">
                        <a:lumMod val="65000"/>
                        <a:lumOff val="3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deepseek</a:t>
                </a:r>
                <a:r>
                  <a:rPr lang="zh-CN" altLang="en-US" sz="2000">
                    <a:solidFill>
                      <a:schemeClr val="tx1">
                        <a:lumMod val="65000"/>
                        <a:lumOff val="3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和通义千问大模型</a:t>
                </a:r>
              </a:p>
            </p:txBody>
          </p:sp>
        </p:gr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485"/>
                                        </p:tgtEl>
                                        <p:attrNameLst>
                                          <p:attrName>style.visibility</p:attrName>
                                        </p:attrNameLst>
                                      </p:cBhvr>
                                      <p:to>
                                        <p:strVal val="visible"/>
                                      </p:to>
                                    </p:set>
                                    <p:anim calcmode="lin" valueType="num">
                                      <p:cBhvr>
                                        <p:cTn id="7" dur="1000" fill="hold"/>
                                        <p:tgtEl>
                                          <p:spTgt spid="485"/>
                                        </p:tgtEl>
                                        <p:attrNameLst>
                                          <p:attrName>ppt_w</p:attrName>
                                        </p:attrNameLst>
                                      </p:cBhvr>
                                      <p:tavLst>
                                        <p:tav tm="0">
                                          <p:val>
                                            <p:strVal val="#ppt_w+.3"/>
                                          </p:val>
                                        </p:tav>
                                        <p:tav tm="100000">
                                          <p:val>
                                            <p:strVal val="#ppt_w"/>
                                          </p:val>
                                        </p:tav>
                                      </p:tavLst>
                                    </p:anim>
                                    <p:anim calcmode="lin" valueType="num">
                                      <p:cBhvr>
                                        <p:cTn id="8" dur="1000" fill="hold"/>
                                        <p:tgtEl>
                                          <p:spTgt spid="485"/>
                                        </p:tgtEl>
                                        <p:attrNameLst>
                                          <p:attrName>ppt_h</p:attrName>
                                        </p:attrNameLst>
                                      </p:cBhvr>
                                      <p:tavLst>
                                        <p:tav tm="0">
                                          <p:val>
                                            <p:strVal val="#ppt_h"/>
                                          </p:val>
                                        </p:tav>
                                        <p:tav tm="100000">
                                          <p:val>
                                            <p:strVal val="#ppt_h"/>
                                          </p:val>
                                        </p:tav>
                                      </p:tavLst>
                                    </p:anim>
                                    <p:animEffect transition="in" filter="fade">
                                      <p:cBhvr>
                                        <p:cTn id="9" dur="1000"/>
                                        <p:tgtEl>
                                          <p:spTgt spid="485"/>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 name="图形"/>
          <p:cNvGrpSpPr/>
          <p:nvPr/>
        </p:nvGrpSpPr>
        <p:grpSpPr>
          <a:xfrm>
            <a:off x="-477520" y="-918210"/>
            <a:ext cx="4231640" cy="2447290"/>
            <a:chOff x="-752" y="-1446"/>
            <a:chExt cx="6664" cy="3854"/>
          </a:xfrm>
        </p:grpSpPr>
        <p:sp>
          <p:nvSpPr>
            <p:cNvPr id="48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83" name="图形"/>
            <p:cNvSpPr txBox="1"/>
            <p:nvPr/>
          </p:nvSpPr>
          <p:spPr>
            <a:xfrm>
              <a:off x="1354" y="611"/>
              <a:ext cx="4558" cy="918"/>
            </a:xfrm>
            <a:prstGeom prst="rect">
              <a:avLst/>
            </a:prstGeom>
            <a:noFill/>
          </p:spPr>
          <p:txBody>
            <a:bodyPr wrap="square" lIns="0" tIns="0" rIns="0" bIns="0" rtlCol="0">
              <a:noAutofit/>
            </a:bodyPr>
            <a:lstStyle/>
            <a:p>
              <a:pPr algn="dist"/>
              <a:r>
                <a:rPr lang="zh-CN" altLang="en-US" sz="3600" b="1">
                  <a:solidFill>
                    <a:schemeClr val="tx1">
                      <a:lumMod val="75000"/>
                      <a:lumOff val="25000"/>
                    </a:schemeClr>
                  </a:solidFill>
                  <a:latin typeface="微软雅黑" panose="020B0503020204020204" pitchFamily="34" charset="-122"/>
                  <a:ea typeface="微软雅黑" panose="020B0503020204020204" pitchFamily="34" charset="-122"/>
                  <a:cs typeface="思源黑体 Normal" panose="020B0400000000000000" charset="-122"/>
                  <a:sym typeface="Arial" panose="020B0604020202020204"/>
                </a:rPr>
                <a:t>六大功能</a:t>
              </a:r>
            </a:p>
          </p:txBody>
        </p:sp>
        <p:sp>
          <p:nvSpPr>
            <p:cNvPr id="484"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485" name="图形"/>
          <p:cNvGrpSpPr/>
          <p:nvPr>
            <p:custDataLst>
              <p:tags r:id="rId1"/>
            </p:custDataLst>
          </p:nvPr>
        </p:nvGrpSpPr>
        <p:grpSpPr>
          <a:xfrm>
            <a:off x="723266" y="2028825"/>
            <a:ext cx="10431144" cy="3902710"/>
            <a:chOff x="1382" y="3020"/>
            <a:chExt cx="16427" cy="6146"/>
          </a:xfrm>
        </p:grpSpPr>
        <p:sp>
          <p:nvSpPr>
            <p:cNvPr id="486" name="图形"/>
            <p:cNvSpPr/>
            <p:nvPr>
              <p:custDataLst>
                <p:tags r:id="rId2"/>
              </p:custDataLst>
            </p:nvPr>
          </p:nvSpPr>
          <p:spPr>
            <a:xfrm>
              <a:off x="1382" y="3020"/>
              <a:ext cx="1878" cy="2894"/>
            </a:xfrm>
            <a:custGeom>
              <a:avLst/>
              <a:gdLst>
                <a:gd name="connsiteX0" fmla="*/ 405114 w 947195"/>
                <a:gd name="connsiteY0" fmla="*/ 0 h 810228"/>
                <a:gd name="connsiteX1" fmla="*/ 947195 w 947195"/>
                <a:gd name="connsiteY1" fmla="*/ 0 h 810228"/>
                <a:gd name="connsiteX2" fmla="*/ 947195 w 947195"/>
                <a:gd name="connsiteY2" fmla="*/ 810228 h 810228"/>
                <a:gd name="connsiteX3" fmla="*/ 405114 w 947195"/>
                <a:gd name="connsiteY3" fmla="*/ 810228 h 810228"/>
                <a:gd name="connsiteX4" fmla="*/ 0 w 947195"/>
                <a:gd name="connsiteY4" fmla="*/ 405114 h 810228"/>
                <a:gd name="connsiteX5" fmla="*/ 405114 w 947195"/>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7195" h="810228">
                  <a:moveTo>
                    <a:pt x="405114" y="0"/>
                  </a:moveTo>
                  <a:lnTo>
                    <a:pt x="947195" y="0"/>
                  </a:lnTo>
                  <a:lnTo>
                    <a:pt x="947195" y="810228"/>
                  </a:lnTo>
                  <a:lnTo>
                    <a:pt x="405114" y="810228"/>
                  </a:lnTo>
                  <a:cubicBezTo>
                    <a:pt x="181376" y="810228"/>
                    <a:pt x="0" y="628852"/>
                    <a:pt x="0" y="405114"/>
                  </a:cubicBezTo>
                  <a:cubicBezTo>
                    <a:pt x="0" y="181376"/>
                    <a:pt x="181376" y="0"/>
                    <a:pt x="405114" y="0"/>
                  </a:cubicBezTo>
                  <a:close/>
                </a:path>
              </a:pathLst>
            </a:custGeom>
            <a:noFill/>
            <a:ln w="38100" cap="flat">
              <a:solidFill>
                <a:srgbClr val="F7B75D"/>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87" name="图形"/>
            <p:cNvSpPr/>
            <p:nvPr>
              <p:custDataLst>
                <p:tags r:id="rId3"/>
              </p:custDataLst>
            </p:nvPr>
          </p:nvSpPr>
          <p:spPr>
            <a:xfrm>
              <a:off x="3444" y="3020"/>
              <a:ext cx="5691" cy="2894"/>
            </a:xfrm>
            <a:custGeom>
              <a:avLst/>
              <a:gdLst>
                <a:gd name="connsiteX0" fmla="*/ 0 w 2733556"/>
                <a:gd name="connsiteY0" fmla="*/ 0 h 810228"/>
                <a:gd name="connsiteX1" fmla="*/ 2328442 w 2733556"/>
                <a:gd name="connsiteY1" fmla="*/ 0 h 810228"/>
                <a:gd name="connsiteX2" fmla="*/ 2733556 w 2733556"/>
                <a:gd name="connsiteY2" fmla="*/ 405114 h 810228"/>
                <a:gd name="connsiteX3" fmla="*/ 2328442 w 2733556"/>
                <a:gd name="connsiteY3" fmla="*/ 810228 h 810228"/>
                <a:gd name="connsiteX4" fmla="*/ 0 w 2733556"/>
                <a:gd name="connsiteY4" fmla="*/ 810228 h 810228"/>
                <a:gd name="connsiteX5" fmla="*/ 0 w 2733556"/>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3556" h="810228">
                  <a:moveTo>
                    <a:pt x="0" y="0"/>
                  </a:moveTo>
                  <a:lnTo>
                    <a:pt x="2328442" y="0"/>
                  </a:lnTo>
                  <a:cubicBezTo>
                    <a:pt x="2552180" y="0"/>
                    <a:pt x="2733556" y="181376"/>
                    <a:pt x="2733556" y="405114"/>
                  </a:cubicBezTo>
                  <a:cubicBezTo>
                    <a:pt x="2733556" y="628852"/>
                    <a:pt x="2552180" y="810228"/>
                    <a:pt x="2328442" y="810228"/>
                  </a:cubicBezTo>
                  <a:lnTo>
                    <a:pt x="0" y="810228"/>
                  </a:lnTo>
                  <a:lnTo>
                    <a:pt x="0" y="0"/>
                  </a:lnTo>
                  <a:close/>
                </a:path>
              </a:pathLst>
            </a:custGeom>
            <a:noFill/>
            <a:ln w="38100" cap="flat">
              <a:solidFill>
                <a:srgbClr val="F7B75D"/>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88" name="图形"/>
            <p:cNvSpPr/>
            <p:nvPr>
              <p:custDataLst>
                <p:tags r:id="rId4"/>
              </p:custDataLst>
            </p:nvPr>
          </p:nvSpPr>
          <p:spPr>
            <a:xfrm>
              <a:off x="10057" y="3066"/>
              <a:ext cx="1878" cy="2894"/>
            </a:xfrm>
            <a:custGeom>
              <a:avLst/>
              <a:gdLst>
                <a:gd name="connsiteX0" fmla="*/ 405114 w 947195"/>
                <a:gd name="connsiteY0" fmla="*/ 0 h 810228"/>
                <a:gd name="connsiteX1" fmla="*/ 947195 w 947195"/>
                <a:gd name="connsiteY1" fmla="*/ 0 h 810228"/>
                <a:gd name="connsiteX2" fmla="*/ 947195 w 947195"/>
                <a:gd name="connsiteY2" fmla="*/ 810228 h 810228"/>
                <a:gd name="connsiteX3" fmla="*/ 405114 w 947195"/>
                <a:gd name="connsiteY3" fmla="*/ 810228 h 810228"/>
                <a:gd name="connsiteX4" fmla="*/ 0 w 947195"/>
                <a:gd name="connsiteY4" fmla="*/ 405114 h 810228"/>
                <a:gd name="connsiteX5" fmla="*/ 405114 w 947195"/>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7195" h="810228">
                  <a:moveTo>
                    <a:pt x="405114" y="0"/>
                  </a:moveTo>
                  <a:lnTo>
                    <a:pt x="947195" y="0"/>
                  </a:lnTo>
                  <a:lnTo>
                    <a:pt x="947195" y="810228"/>
                  </a:lnTo>
                  <a:lnTo>
                    <a:pt x="405114" y="810228"/>
                  </a:lnTo>
                  <a:cubicBezTo>
                    <a:pt x="181376" y="810228"/>
                    <a:pt x="0" y="628852"/>
                    <a:pt x="0" y="405114"/>
                  </a:cubicBezTo>
                  <a:cubicBezTo>
                    <a:pt x="0" y="181376"/>
                    <a:pt x="181376" y="0"/>
                    <a:pt x="405114" y="0"/>
                  </a:cubicBezTo>
                  <a:close/>
                </a:path>
              </a:pathLst>
            </a:custGeom>
            <a:noFill/>
            <a:ln w="38100" cap="flat">
              <a:solidFill>
                <a:srgbClr val="566CD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89" name="图形"/>
            <p:cNvSpPr/>
            <p:nvPr>
              <p:custDataLst>
                <p:tags r:id="rId5"/>
              </p:custDataLst>
            </p:nvPr>
          </p:nvSpPr>
          <p:spPr>
            <a:xfrm>
              <a:off x="12118" y="3066"/>
              <a:ext cx="5691" cy="2894"/>
            </a:xfrm>
            <a:custGeom>
              <a:avLst/>
              <a:gdLst>
                <a:gd name="connsiteX0" fmla="*/ 0 w 2733556"/>
                <a:gd name="connsiteY0" fmla="*/ 0 h 810228"/>
                <a:gd name="connsiteX1" fmla="*/ 2328442 w 2733556"/>
                <a:gd name="connsiteY1" fmla="*/ 0 h 810228"/>
                <a:gd name="connsiteX2" fmla="*/ 2733556 w 2733556"/>
                <a:gd name="connsiteY2" fmla="*/ 405114 h 810228"/>
                <a:gd name="connsiteX3" fmla="*/ 2328442 w 2733556"/>
                <a:gd name="connsiteY3" fmla="*/ 810228 h 810228"/>
                <a:gd name="connsiteX4" fmla="*/ 0 w 2733556"/>
                <a:gd name="connsiteY4" fmla="*/ 810228 h 810228"/>
                <a:gd name="connsiteX5" fmla="*/ 0 w 2733556"/>
                <a:gd name="connsiteY5" fmla="*/ 0 h 810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3556" h="810228">
                  <a:moveTo>
                    <a:pt x="0" y="0"/>
                  </a:moveTo>
                  <a:lnTo>
                    <a:pt x="2328442" y="0"/>
                  </a:lnTo>
                  <a:cubicBezTo>
                    <a:pt x="2552180" y="0"/>
                    <a:pt x="2733556" y="181376"/>
                    <a:pt x="2733556" y="405114"/>
                  </a:cubicBezTo>
                  <a:cubicBezTo>
                    <a:pt x="2733556" y="628852"/>
                    <a:pt x="2552180" y="810228"/>
                    <a:pt x="2328442" y="810228"/>
                  </a:cubicBezTo>
                  <a:lnTo>
                    <a:pt x="0" y="810228"/>
                  </a:lnTo>
                  <a:lnTo>
                    <a:pt x="0" y="0"/>
                  </a:lnTo>
                  <a:close/>
                </a:path>
              </a:pathLst>
            </a:custGeom>
            <a:noFill/>
            <a:ln w="38100" cap="flat">
              <a:solidFill>
                <a:srgbClr val="566CD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495" name="图形"/>
            <p:cNvSpPr>
              <a:spLocks noChangeAspect="1"/>
            </p:cNvSpPr>
            <p:nvPr>
              <p:custDataLst>
                <p:tags r:id="rId6"/>
              </p:custDataLst>
            </p:nvPr>
          </p:nvSpPr>
          <p:spPr bwMode="auto">
            <a:xfrm>
              <a:off x="1937" y="4111"/>
              <a:ext cx="960" cy="720"/>
            </a:xfrm>
            <a:custGeom>
              <a:avLst/>
              <a:gdLst>
                <a:gd name="T0" fmla="*/ 10375 w 10375"/>
                <a:gd name="T1" fmla="*/ 6809 h 7782"/>
                <a:gd name="T2" fmla="*/ 10375 w 10375"/>
                <a:gd name="T3" fmla="*/ 7133 h 7782"/>
                <a:gd name="T4" fmla="*/ 9726 w 10375"/>
                <a:gd name="T5" fmla="*/ 7782 h 7782"/>
                <a:gd name="T6" fmla="*/ 649 w 10375"/>
                <a:gd name="T7" fmla="*/ 7782 h 7782"/>
                <a:gd name="T8" fmla="*/ 0 w 10375"/>
                <a:gd name="T9" fmla="*/ 7133 h 7782"/>
                <a:gd name="T10" fmla="*/ 0 w 10375"/>
                <a:gd name="T11" fmla="*/ 649 h 7782"/>
                <a:gd name="T12" fmla="*/ 649 w 10375"/>
                <a:gd name="T13" fmla="*/ 0 h 7782"/>
                <a:gd name="T14" fmla="*/ 4150 w 10375"/>
                <a:gd name="T15" fmla="*/ 0 h 7782"/>
                <a:gd name="T16" fmla="*/ 5188 w 10375"/>
                <a:gd name="T17" fmla="*/ 973 h 7782"/>
                <a:gd name="T18" fmla="*/ 9338 w 10375"/>
                <a:gd name="T19" fmla="*/ 973 h 7782"/>
                <a:gd name="T20" fmla="*/ 10375 w 10375"/>
                <a:gd name="T21" fmla="*/ 1945 h 7782"/>
                <a:gd name="T22" fmla="*/ 10375 w 10375"/>
                <a:gd name="T23" fmla="*/ 6809 h 7782"/>
                <a:gd name="T24" fmla="*/ 5188 w 10375"/>
                <a:gd name="T25" fmla="*/ 2594 h 7782"/>
                <a:gd name="T26" fmla="*/ 4701 w 10375"/>
                <a:gd name="T27" fmla="*/ 3080 h 7782"/>
                <a:gd name="T28" fmla="*/ 4701 w 10375"/>
                <a:gd name="T29" fmla="*/ 4053 h 7782"/>
                <a:gd name="T30" fmla="*/ 3729 w 10375"/>
                <a:gd name="T31" fmla="*/ 4053 h 7782"/>
                <a:gd name="T32" fmla="*/ 3243 w 10375"/>
                <a:gd name="T33" fmla="*/ 4539 h 7782"/>
                <a:gd name="T34" fmla="*/ 3729 w 10375"/>
                <a:gd name="T35" fmla="*/ 5025 h 7782"/>
                <a:gd name="T36" fmla="*/ 4701 w 10375"/>
                <a:gd name="T37" fmla="*/ 5025 h 7782"/>
                <a:gd name="T38" fmla="*/ 4701 w 10375"/>
                <a:gd name="T39" fmla="*/ 5998 h 7782"/>
                <a:gd name="T40" fmla="*/ 5188 w 10375"/>
                <a:gd name="T41" fmla="*/ 6484 h 7782"/>
                <a:gd name="T42" fmla="*/ 5674 w 10375"/>
                <a:gd name="T43" fmla="*/ 5998 h 7782"/>
                <a:gd name="T44" fmla="*/ 5674 w 10375"/>
                <a:gd name="T45" fmla="*/ 5025 h 7782"/>
                <a:gd name="T46" fmla="*/ 6646 w 10375"/>
                <a:gd name="T47" fmla="*/ 5025 h 7782"/>
                <a:gd name="T48" fmla="*/ 7132 w 10375"/>
                <a:gd name="T49" fmla="*/ 4539 h 7782"/>
                <a:gd name="T50" fmla="*/ 6646 w 10375"/>
                <a:gd name="T51" fmla="*/ 4053 h 7782"/>
                <a:gd name="T52" fmla="*/ 5674 w 10375"/>
                <a:gd name="T53" fmla="*/ 4053 h 7782"/>
                <a:gd name="T54" fmla="*/ 5674 w 10375"/>
                <a:gd name="T55" fmla="*/ 3080 h 7782"/>
                <a:gd name="T56" fmla="*/ 5188 w 10375"/>
                <a:gd name="T57" fmla="*/ 2594 h 7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375" h="7782">
                  <a:moveTo>
                    <a:pt x="10375" y="6809"/>
                  </a:moveTo>
                  <a:lnTo>
                    <a:pt x="10375" y="7133"/>
                  </a:lnTo>
                  <a:cubicBezTo>
                    <a:pt x="10375" y="7490"/>
                    <a:pt x="10085" y="7782"/>
                    <a:pt x="9726" y="7782"/>
                  </a:cubicBezTo>
                  <a:lnTo>
                    <a:pt x="649" y="7782"/>
                  </a:lnTo>
                  <a:cubicBezTo>
                    <a:pt x="291" y="7782"/>
                    <a:pt x="0" y="7492"/>
                    <a:pt x="0" y="7133"/>
                  </a:cubicBezTo>
                  <a:lnTo>
                    <a:pt x="0" y="649"/>
                  </a:lnTo>
                  <a:cubicBezTo>
                    <a:pt x="0" y="292"/>
                    <a:pt x="290" y="0"/>
                    <a:pt x="649" y="0"/>
                  </a:cubicBezTo>
                  <a:lnTo>
                    <a:pt x="4150" y="0"/>
                  </a:lnTo>
                  <a:lnTo>
                    <a:pt x="5188" y="973"/>
                  </a:lnTo>
                  <a:lnTo>
                    <a:pt x="9338" y="973"/>
                  </a:lnTo>
                  <a:cubicBezTo>
                    <a:pt x="9908" y="973"/>
                    <a:pt x="10375" y="1410"/>
                    <a:pt x="10375" y="1945"/>
                  </a:cubicBezTo>
                  <a:lnTo>
                    <a:pt x="10375" y="6809"/>
                  </a:lnTo>
                  <a:close/>
                  <a:moveTo>
                    <a:pt x="5188" y="2594"/>
                  </a:moveTo>
                  <a:cubicBezTo>
                    <a:pt x="4919" y="2594"/>
                    <a:pt x="4701" y="2811"/>
                    <a:pt x="4701" y="3080"/>
                  </a:cubicBezTo>
                  <a:lnTo>
                    <a:pt x="4701" y="4053"/>
                  </a:lnTo>
                  <a:lnTo>
                    <a:pt x="3729" y="4053"/>
                  </a:lnTo>
                  <a:cubicBezTo>
                    <a:pt x="3460" y="4053"/>
                    <a:pt x="3243" y="4270"/>
                    <a:pt x="3243" y="4539"/>
                  </a:cubicBezTo>
                  <a:cubicBezTo>
                    <a:pt x="3243" y="4808"/>
                    <a:pt x="3460" y="5025"/>
                    <a:pt x="3729" y="5025"/>
                  </a:cubicBezTo>
                  <a:lnTo>
                    <a:pt x="4701" y="5025"/>
                  </a:lnTo>
                  <a:lnTo>
                    <a:pt x="4701" y="5998"/>
                  </a:lnTo>
                  <a:cubicBezTo>
                    <a:pt x="4701" y="6266"/>
                    <a:pt x="4919" y="6484"/>
                    <a:pt x="5188" y="6484"/>
                  </a:cubicBezTo>
                  <a:cubicBezTo>
                    <a:pt x="5456" y="6484"/>
                    <a:pt x="5674" y="6266"/>
                    <a:pt x="5674" y="5998"/>
                  </a:cubicBezTo>
                  <a:lnTo>
                    <a:pt x="5674" y="5025"/>
                  </a:lnTo>
                  <a:lnTo>
                    <a:pt x="6646" y="5025"/>
                  </a:lnTo>
                  <a:cubicBezTo>
                    <a:pt x="6915" y="5025"/>
                    <a:pt x="7132" y="4808"/>
                    <a:pt x="7132" y="4539"/>
                  </a:cubicBezTo>
                  <a:cubicBezTo>
                    <a:pt x="7132" y="4270"/>
                    <a:pt x="6915" y="4053"/>
                    <a:pt x="6646" y="4053"/>
                  </a:cubicBezTo>
                  <a:lnTo>
                    <a:pt x="5674" y="4053"/>
                  </a:lnTo>
                  <a:lnTo>
                    <a:pt x="5674" y="3080"/>
                  </a:lnTo>
                  <a:cubicBezTo>
                    <a:pt x="5674" y="2811"/>
                    <a:pt x="5456" y="2594"/>
                    <a:pt x="5188" y="2594"/>
                  </a:cubicBezTo>
                  <a:close/>
                </a:path>
              </a:pathLst>
            </a:custGeom>
            <a:solidFill>
              <a:srgbClr val="F7B75D"/>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497" name="图形"/>
            <p:cNvSpPr>
              <a:spLocks noChangeAspect="1"/>
            </p:cNvSpPr>
            <p:nvPr>
              <p:custDataLst>
                <p:tags r:id="rId7"/>
              </p:custDataLst>
            </p:nvPr>
          </p:nvSpPr>
          <p:spPr bwMode="auto">
            <a:xfrm>
              <a:off x="10649" y="3973"/>
              <a:ext cx="960" cy="858"/>
            </a:xfrm>
            <a:custGeom>
              <a:avLst/>
              <a:gdLst>
                <a:gd name="T0" fmla="*/ 7200 w 14400"/>
                <a:gd name="T1" fmla="*/ 0 h 12876"/>
                <a:gd name="T2" fmla="*/ 4050 w 14400"/>
                <a:gd name="T3" fmla="*/ 3150 h 12876"/>
                <a:gd name="T4" fmla="*/ 6897 w 14400"/>
                <a:gd name="T5" fmla="*/ 8051 h 12876"/>
                <a:gd name="T6" fmla="*/ 7502 w 14400"/>
                <a:gd name="T7" fmla="*/ 8051 h 12876"/>
                <a:gd name="T8" fmla="*/ 10350 w 14400"/>
                <a:gd name="T9" fmla="*/ 3150 h 12876"/>
                <a:gd name="T10" fmla="*/ 7200 w 14400"/>
                <a:gd name="T11" fmla="*/ 0 h 12876"/>
                <a:gd name="T12" fmla="*/ 503 w 14400"/>
                <a:gd name="T13" fmla="*/ 5399 h 12876"/>
                <a:gd name="T14" fmla="*/ 0 w 14400"/>
                <a:gd name="T15" fmla="*/ 6142 h 12876"/>
                <a:gd name="T16" fmla="*/ 0 w 14400"/>
                <a:gd name="T17" fmla="*/ 12400 h 12876"/>
                <a:gd name="T18" fmla="*/ 549 w 14400"/>
                <a:gd name="T19" fmla="*/ 12771 h 12876"/>
                <a:gd name="T20" fmla="*/ 4000 w 14400"/>
                <a:gd name="T21" fmla="*/ 11200 h 12876"/>
                <a:gd name="T22" fmla="*/ 4000 w 14400"/>
                <a:gd name="T23" fmla="*/ 5373 h 12876"/>
                <a:gd name="T24" fmla="*/ 3469 w 14400"/>
                <a:gd name="T25" fmla="*/ 4213 h 12876"/>
                <a:gd name="T26" fmla="*/ 503 w 14400"/>
                <a:gd name="T27" fmla="*/ 5399 h 12876"/>
                <a:gd name="T28" fmla="*/ 7200 w 14400"/>
                <a:gd name="T29" fmla="*/ 8992 h 12876"/>
                <a:gd name="T30" fmla="*/ 6287 w 14400"/>
                <a:gd name="T31" fmla="*/ 8568 h 12876"/>
                <a:gd name="T32" fmla="*/ 4800 w 14400"/>
                <a:gd name="T33" fmla="*/ 6650 h 12876"/>
                <a:gd name="T34" fmla="*/ 4800 w 14400"/>
                <a:gd name="T35" fmla="*/ 11200 h 12876"/>
                <a:gd name="T36" fmla="*/ 9600 w 14400"/>
                <a:gd name="T37" fmla="*/ 12800 h 12876"/>
                <a:gd name="T38" fmla="*/ 9600 w 14400"/>
                <a:gd name="T39" fmla="*/ 6650 h 12876"/>
                <a:gd name="T40" fmla="*/ 8113 w 14400"/>
                <a:gd name="T41" fmla="*/ 8568 h 12876"/>
                <a:gd name="T42" fmla="*/ 7200 w 14400"/>
                <a:gd name="T43" fmla="*/ 8992 h 12876"/>
                <a:gd name="T44" fmla="*/ 13851 w 14400"/>
                <a:gd name="T45" fmla="*/ 4029 h 12876"/>
                <a:gd name="T46" fmla="*/ 10400 w 14400"/>
                <a:gd name="T47" fmla="*/ 5600 h 12876"/>
                <a:gd name="T48" fmla="*/ 10400 w 14400"/>
                <a:gd name="T49" fmla="*/ 12800 h 12876"/>
                <a:gd name="T50" fmla="*/ 13897 w 14400"/>
                <a:gd name="T51" fmla="*/ 11401 h 12876"/>
                <a:gd name="T52" fmla="*/ 14400 w 14400"/>
                <a:gd name="T53" fmla="*/ 10659 h 12876"/>
                <a:gd name="T54" fmla="*/ 14400 w 14400"/>
                <a:gd name="T55" fmla="*/ 4401 h 12876"/>
                <a:gd name="T56" fmla="*/ 13851 w 14400"/>
                <a:gd name="T57" fmla="*/ 4029 h 12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400" h="12876">
                  <a:moveTo>
                    <a:pt x="7200" y="0"/>
                  </a:moveTo>
                  <a:cubicBezTo>
                    <a:pt x="5460" y="0"/>
                    <a:pt x="4050" y="1410"/>
                    <a:pt x="4050" y="3150"/>
                  </a:cubicBezTo>
                  <a:cubicBezTo>
                    <a:pt x="4050" y="4557"/>
                    <a:pt x="6109" y="7120"/>
                    <a:pt x="6897" y="8051"/>
                  </a:cubicBezTo>
                  <a:cubicBezTo>
                    <a:pt x="7057" y="8239"/>
                    <a:pt x="7343" y="8239"/>
                    <a:pt x="7502" y="8051"/>
                  </a:cubicBezTo>
                  <a:cubicBezTo>
                    <a:pt x="8291" y="7120"/>
                    <a:pt x="10350" y="4557"/>
                    <a:pt x="10350" y="3150"/>
                  </a:cubicBezTo>
                  <a:cubicBezTo>
                    <a:pt x="10350" y="1410"/>
                    <a:pt x="8940" y="0"/>
                    <a:pt x="7200" y="0"/>
                  </a:cubicBezTo>
                  <a:close/>
                  <a:moveTo>
                    <a:pt x="503" y="5399"/>
                  </a:moveTo>
                  <a:cubicBezTo>
                    <a:pt x="199" y="5520"/>
                    <a:pt x="0" y="5814"/>
                    <a:pt x="0" y="6142"/>
                  </a:cubicBezTo>
                  <a:lnTo>
                    <a:pt x="0" y="12400"/>
                  </a:lnTo>
                  <a:cubicBezTo>
                    <a:pt x="0" y="12683"/>
                    <a:pt x="286" y="12876"/>
                    <a:pt x="549" y="12771"/>
                  </a:cubicBezTo>
                  <a:lnTo>
                    <a:pt x="4000" y="11200"/>
                  </a:lnTo>
                  <a:lnTo>
                    <a:pt x="4000" y="5373"/>
                  </a:lnTo>
                  <a:cubicBezTo>
                    <a:pt x="3779" y="4974"/>
                    <a:pt x="3598" y="4585"/>
                    <a:pt x="3469" y="4213"/>
                  </a:cubicBezTo>
                  <a:lnTo>
                    <a:pt x="503" y="5399"/>
                  </a:lnTo>
                  <a:close/>
                  <a:moveTo>
                    <a:pt x="7200" y="8992"/>
                  </a:moveTo>
                  <a:cubicBezTo>
                    <a:pt x="6848" y="8992"/>
                    <a:pt x="6516" y="8837"/>
                    <a:pt x="6287" y="8568"/>
                  </a:cubicBezTo>
                  <a:cubicBezTo>
                    <a:pt x="5796" y="7988"/>
                    <a:pt x="5273" y="7327"/>
                    <a:pt x="4800" y="6650"/>
                  </a:cubicBezTo>
                  <a:lnTo>
                    <a:pt x="4800" y="11200"/>
                  </a:lnTo>
                  <a:lnTo>
                    <a:pt x="9600" y="12800"/>
                  </a:lnTo>
                  <a:lnTo>
                    <a:pt x="9600" y="6650"/>
                  </a:lnTo>
                  <a:cubicBezTo>
                    <a:pt x="9127" y="7327"/>
                    <a:pt x="8605" y="7988"/>
                    <a:pt x="8113" y="8568"/>
                  </a:cubicBezTo>
                  <a:cubicBezTo>
                    <a:pt x="7885" y="8837"/>
                    <a:pt x="7552" y="8992"/>
                    <a:pt x="7200" y="8992"/>
                  </a:cubicBezTo>
                  <a:close/>
                  <a:moveTo>
                    <a:pt x="13851" y="4029"/>
                  </a:moveTo>
                  <a:lnTo>
                    <a:pt x="10400" y="5600"/>
                  </a:lnTo>
                  <a:lnTo>
                    <a:pt x="10400" y="12800"/>
                  </a:lnTo>
                  <a:lnTo>
                    <a:pt x="13897" y="11401"/>
                  </a:lnTo>
                  <a:cubicBezTo>
                    <a:pt x="14201" y="11280"/>
                    <a:pt x="14400" y="10986"/>
                    <a:pt x="14400" y="10659"/>
                  </a:cubicBezTo>
                  <a:lnTo>
                    <a:pt x="14400" y="4401"/>
                  </a:lnTo>
                  <a:cubicBezTo>
                    <a:pt x="14400" y="4118"/>
                    <a:pt x="14114" y="3924"/>
                    <a:pt x="13851" y="4029"/>
                  </a:cubicBezTo>
                  <a:close/>
                </a:path>
              </a:pathLst>
            </a:custGeom>
            <a:solidFill>
              <a:srgbClr val="566CD3"/>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grpSp>
          <p:nvGrpSpPr>
            <p:cNvPr id="501" name="组合 45"/>
            <p:cNvGrpSpPr/>
            <p:nvPr>
              <p:custDataLst>
                <p:tags r:id="rId8"/>
              </p:custDataLst>
            </p:nvPr>
          </p:nvGrpSpPr>
          <p:grpSpPr>
            <a:xfrm>
              <a:off x="3444" y="3151"/>
              <a:ext cx="5638" cy="2764"/>
              <a:chOff x="3444" y="6754"/>
              <a:chExt cx="5638" cy="2764"/>
            </a:xfrm>
          </p:grpSpPr>
          <p:sp>
            <p:nvSpPr>
              <p:cNvPr id="502" name="图形"/>
              <p:cNvSpPr txBox="1"/>
              <p:nvPr>
                <p:custDataLst>
                  <p:tags r:id="rId15"/>
                </p:custDataLst>
              </p:nvPr>
            </p:nvSpPr>
            <p:spPr>
              <a:xfrm flipH="1">
                <a:off x="3525" y="6754"/>
                <a:ext cx="5557" cy="8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tx1">
                        <a:lumMod val="75000"/>
                        <a:lumOff val="2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自定义设置功能</a:t>
                </a:r>
              </a:p>
            </p:txBody>
          </p:sp>
          <p:sp>
            <p:nvSpPr>
              <p:cNvPr id="503" name="图形"/>
              <p:cNvSpPr txBox="1"/>
              <p:nvPr>
                <p:custDataLst>
                  <p:tags r:id="rId16"/>
                </p:custDataLst>
              </p:nvPr>
            </p:nvSpPr>
            <p:spPr>
              <a:xfrm flipH="1">
                <a:off x="3444" y="7546"/>
                <a:ext cx="5408" cy="1972"/>
              </a:xfrm>
              <a:prstGeom prst="rect">
                <a:avLst/>
              </a:prstGeom>
              <a:noFill/>
            </p:spPr>
            <p:txBody>
              <a:bodyPr wrap="square">
                <a:noAutofit/>
              </a:bodyPr>
              <a:lstStyle/>
              <a:p>
                <a:pPr>
                  <a:lnSpc>
                    <a:spcPct val="100000"/>
                  </a:lnSpc>
                </a:pPr>
                <a:r>
                  <a:rPr kumimoji="0" lang="zh-CN" altLang="en-US" sz="2000" b="0" i="0" u="none" strike="noStrike" kern="1200" cap="none" spc="0" normalizeH="0" baseline="0" noProof="0" dirty="0">
                    <a:ln>
                      <a:noFill/>
                    </a:ln>
                    <a:solidFill>
                      <a:schemeClr val="tx1">
                        <a:lumMod val="75000"/>
                        <a:lumOff val="25000"/>
                      </a:schemeClr>
                    </a:solidFill>
                    <a:effectLst/>
                    <a:uLnTx/>
                    <a:uFillTx/>
                    <a:latin typeface="宋体" panose="02010600030101010101" pitchFamily="2" charset="-122"/>
                    <a:ea typeface="宋体" panose="02010600030101010101" pitchFamily="2" charset="-122"/>
                    <a:cs typeface="思源黑体 Normal" panose="020B0400000000000000" charset="-122"/>
                    <a:sym typeface="Arial" panose="020B0604020202020204"/>
                  </a:rPr>
                  <a:t>支持用户根据个人喜好个性化定义界面字体大小，和深色、浅色两种主题颜色</a:t>
                </a:r>
              </a:p>
            </p:txBody>
          </p:sp>
        </p:grpSp>
        <p:grpSp>
          <p:nvGrpSpPr>
            <p:cNvPr id="504" name="组合 48"/>
            <p:cNvGrpSpPr/>
            <p:nvPr>
              <p:custDataLst>
                <p:tags r:id="rId9"/>
              </p:custDataLst>
            </p:nvPr>
          </p:nvGrpSpPr>
          <p:grpSpPr>
            <a:xfrm>
              <a:off x="12372" y="6747"/>
              <a:ext cx="5096" cy="2419"/>
              <a:chOff x="3540" y="6720"/>
              <a:chExt cx="5096" cy="2419"/>
            </a:xfrm>
          </p:grpSpPr>
          <p:sp>
            <p:nvSpPr>
              <p:cNvPr id="505" name="图形"/>
              <p:cNvSpPr txBox="1"/>
              <p:nvPr>
                <p:custDataLst>
                  <p:tags r:id="rId13"/>
                </p:custDataLst>
              </p:nvPr>
            </p:nvSpPr>
            <p:spPr>
              <a:xfrm flipH="1">
                <a:off x="3540" y="6720"/>
                <a:ext cx="5096" cy="8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2800" b="1" dirty="0">
                  <a:solidFill>
                    <a:schemeClr val="tx1">
                      <a:lumMod val="75000"/>
                      <a:lumOff val="2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endParaRPr>
              </a:p>
            </p:txBody>
          </p:sp>
          <p:sp>
            <p:nvSpPr>
              <p:cNvPr id="506" name="图形"/>
              <p:cNvSpPr txBox="1"/>
              <p:nvPr>
                <p:custDataLst>
                  <p:tags r:id="rId14"/>
                </p:custDataLst>
              </p:nvPr>
            </p:nvSpPr>
            <p:spPr>
              <a:xfrm flipH="1">
                <a:off x="3540" y="7493"/>
                <a:ext cx="5096" cy="1646"/>
              </a:xfrm>
              <a:prstGeom prst="rect">
                <a:avLst/>
              </a:prstGeom>
              <a:noFill/>
            </p:spPr>
            <p:txBody>
              <a:bodyPr wrap="square">
                <a:noAutofit/>
              </a:bodyPr>
              <a:lstStyle/>
              <a:p>
                <a:pPr>
                  <a:lnSpc>
                    <a:spcPct val="100000"/>
                  </a:lnSpc>
                </a:pPr>
                <a:endParaRPr lang="zh-CN" altLang="en-US" sz="2000">
                  <a:solidFill>
                    <a:schemeClr val="tx1">
                      <a:lumMod val="65000"/>
                      <a:lumOff val="3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endParaRPr>
              </a:p>
            </p:txBody>
          </p:sp>
        </p:grpSp>
        <p:grpSp>
          <p:nvGrpSpPr>
            <p:cNvPr id="507" name="组合 51"/>
            <p:cNvGrpSpPr/>
            <p:nvPr>
              <p:custDataLst>
                <p:tags r:id="rId10"/>
              </p:custDataLst>
            </p:nvPr>
          </p:nvGrpSpPr>
          <p:grpSpPr>
            <a:xfrm>
              <a:off x="12247" y="3171"/>
              <a:ext cx="5345" cy="2416"/>
              <a:chOff x="3415" y="6774"/>
              <a:chExt cx="5345" cy="2416"/>
            </a:xfrm>
          </p:grpSpPr>
          <p:sp>
            <p:nvSpPr>
              <p:cNvPr id="508" name="图形"/>
              <p:cNvSpPr txBox="1"/>
              <p:nvPr>
                <p:custDataLst>
                  <p:tags r:id="rId11"/>
                </p:custDataLst>
              </p:nvPr>
            </p:nvSpPr>
            <p:spPr>
              <a:xfrm flipH="1">
                <a:off x="3540" y="6774"/>
                <a:ext cx="5096" cy="8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chemeClr val="tx1">
                        <a:lumMod val="75000"/>
                        <a:lumOff val="2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结果反馈功能</a:t>
                </a:r>
              </a:p>
            </p:txBody>
          </p:sp>
          <p:sp>
            <p:nvSpPr>
              <p:cNvPr id="509" name="图形"/>
              <p:cNvSpPr txBox="1"/>
              <p:nvPr>
                <p:custDataLst>
                  <p:tags r:id="rId12"/>
                </p:custDataLst>
              </p:nvPr>
            </p:nvSpPr>
            <p:spPr>
              <a:xfrm flipH="1">
                <a:off x="3415" y="7546"/>
                <a:ext cx="5345" cy="1644"/>
              </a:xfrm>
              <a:prstGeom prst="rect">
                <a:avLst/>
              </a:prstGeom>
              <a:noFill/>
            </p:spPr>
            <p:txBody>
              <a:bodyPr wrap="square">
                <a:noAutofit/>
              </a:bodyPr>
              <a:lstStyle/>
              <a:p>
                <a:pPr>
                  <a:lnSpc>
                    <a:spcPct val="100000"/>
                  </a:lnSpc>
                </a:pPr>
                <a:r>
                  <a:rPr lang="zh-CN" altLang="en-US" sz="2000">
                    <a:solidFill>
                      <a:schemeClr val="tx1">
                        <a:lumMod val="65000"/>
                        <a:lumOff val="3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rPr>
                  <a:t>支持用户对各个模型的翻译结果提交反馈意见，可对翻译结果点踩或点赞</a:t>
                </a:r>
                <a:endParaRPr lang="en-US" altLang="zh-CN" sz="2000">
                  <a:solidFill>
                    <a:schemeClr val="tx1">
                      <a:lumMod val="65000"/>
                      <a:lumOff val="35000"/>
                    </a:schemeClr>
                  </a:solidFill>
                  <a:latin typeface="宋体" panose="02010600030101010101" pitchFamily="2" charset="-122"/>
                  <a:ea typeface="宋体" panose="02010600030101010101" pitchFamily="2" charset="-122"/>
                  <a:cs typeface="思源黑体 Normal" panose="020B0400000000000000" charset="-122"/>
                  <a:sym typeface="Arial" panose="020B0604020202020204"/>
                </a:endParaRPr>
              </a:p>
            </p:txBody>
          </p:sp>
        </p:gr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485"/>
                                        </p:tgtEl>
                                        <p:attrNameLst>
                                          <p:attrName>style.visibility</p:attrName>
                                        </p:attrNameLst>
                                      </p:cBhvr>
                                      <p:to>
                                        <p:strVal val="visible"/>
                                      </p:to>
                                    </p:set>
                                    <p:anim calcmode="lin" valueType="num">
                                      <p:cBhvr>
                                        <p:cTn id="7" dur="1000" fill="hold"/>
                                        <p:tgtEl>
                                          <p:spTgt spid="485"/>
                                        </p:tgtEl>
                                        <p:attrNameLst>
                                          <p:attrName>ppt_w</p:attrName>
                                        </p:attrNameLst>
                                      </p:cBhvr>
                                      <p:tavLst>
                                        <p:tav tm="0">
                                          <p:val>
                                            <p:strVal val="#ppt_w+.3"/>
                                          </p:val>
                                        </p:tav>
                                        <p:tav tm="100000">
                                          <p:val>
                                            <p:strVal val="#ppt_w"/>
                                          </p:val>
                                        </p:tav>
                                      </p:tavLst>
                                    </p:anim>
                                    <p:anim calcmode="lin" valueType="num">
                                      <p:cBhvr>
                                        <p:cTn id="8" dur="1000" fill="hold"/>
                                        <p:tgtEl>
                                          <p:spTgt spid="485"/>
                                        </p:tgtEl>
                                        <p:attrNameLst>
                                          <p:attrName>ppt_h</p:attrName>
                                        </p:attrNameLst>
                                      </p:cBhvr>
                                      <p:tavLst>
                                        <p:tav tm="0">
                                          <p:val>
                                            <p:strVal val="#ppt_h"/>
                                          </p:val>
                                        </p:tav>
                                        <p:tav tm="100000">
                                          <p:val>
                                            <p:strVal val="#ppt_h"/>
                                          </p:val>
                                        </p:tav>
                                      </p:tavLst>
                                    </p:anim>
                                    <p:animEffect transition="in" filter="fade">
                                      <p:cBhvr>
                                        <p:cTn id="9" dur="1000"/>
                                        <p:tgtEl>
                                          <p:spTgt spid="485"/>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3842" y="2219623"/>
            <a:ext cx="4337685" cy="2490278"/>
          </a:xfrm>
          <a:prstGeom prst="rect">
            <a:avLst/>
          </a:prstGeom>
          <a:blipFill>
            <a:blip r:embed="rId3"/>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526654" y="2219623"/>
            <a:ext cx="4337685" cy="2490278"/>
          </a:xfrm>
          <a:prstGeom prst="rect">
            <a:avLst/>
          </a:prstGeom>
          <a:blipFill>
            <a:blip r:embed="rId4"/>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258253" y="1760201"/>
            <a:ext cx="5575935" cy="3201161"/>
          </a:xfrm>
          <a:prstGeom prst="rect">
            <a:avLst/>
          </a:prstGeom>
          <a:blipFill>
            <a:blip r:embed="rId5"/>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357812" y="1760201"/>
            <a:ext cx="5575935" cy="3201161"/>
          </a:xfrm>
          <a:prstGeom prst="rect">
            <a:avLst/>
          </a:prstGeom>
          <a:blipFill>
            <a:blip r:embed="rId6"/>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2432685" y="1040872"/>
            <a:ext cx="7326630" cy="4206240"/>
          </a:xfrm>
          <a:prstGeom prst="rect">
            <a:avLst/>
          </a:prstGeom>
          <a:blipFill>
            <a:blip r:embed="rId7"/>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180965" y="5734685"/>
            <a:ext cx="2106295" cy="460375"/>
          </a:xfrm>
          <a:prstGeom prst="rect">
            <a:avLst/>
          </a:prstGeom>
          <a:noFill/>
        </p:spPr>
        <p:txBody>
          <a:bodyPr wrap="square" rtlCol="0">
            <a:spAutoFit/>
          </a:bodyPr>
          <a:lstStyle/>
          <a:p>
            <a:pPr algn="ctr"/>
            <a:r>
              <a:rPr lang="zh-CN" altLang="en-US" sz="240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用户登录</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3842" y="2219623"/>
            <a:ext cx="4337685" cy="2490278"/>
          </a:xfrm>
          <a:prstGeom prst="rect">
            <a:avLst/>
          </a:prstGeom>
          <a:blipFill>
            <a:blip r:embed="rId3"/>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526654" y="2219623"/>
            <a:ext cx="4337685" cy="2490278"/>
          </a:xfrm>
          <a:prstGeom prst="rect">
            <a:avLst/>
          </a:prstGeom>
          <a:blipFill>
            <a:blip r:embed="rId4"/>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258253" y="1760201"/>
            <a:ext cx="5575935" cy="3201161"/>
          </a:xfrm>
          <a:prstGeom prst="rect">
            <a:avLst/>
          </a:prstGeom>
          <a:blipFill>
            <a:blip r:embed="rId5"/>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357812" y="1760201"/>
            <a:ext cx="5575935" cy="3201161"/>
          </a:xfrm>
          <a:prstGeom prst="rect">
            <a:avLst/>
          </a:prstGeom>
          <a:blipFill>
            <a:blip r:embed="rId6"/>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2432685" y="1040872"/>
            <a:ext cx="7326630" cy="4206240"/>
          </a:xfrm>
          <a:prstGeom prst="rect">
            <a:avLst/>
          </a:prstGeom>
          <a:blipFill>
            <a:blip r:embed="rId7"/>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053330" y="5735320"/>
            <a:ext cx="2125345" cy="460375"/>
          </a:xfrm>
          <a:prstGeom prst="rect">
            <a:avLst/>
          </a:prstGeom>
          <a:noFill/>
        </p:spPr>
        <p:txBody>
          <a:bodyPr wrap="square" rtlCol="0">
            <a:spAutoFit/>
          </a:bodyPr>
          <a:lstStyle/>
          <a:p>
            <a:pPr algn="ctr"/>
            <a:r>
              <a:rPr lang="zh-CN" altLang="en-US" sz="240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找回密码</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3842" y="2219623"/>
            <a:ext cx="4337685" cy="2490278"/>
          </a:xfrm>
          <a:prstGeom prst="rect">
            <a:avLst/>
          </a:prstGeom>
          <a:blipFill>
            <a:blip r:embed="rId3"/>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492364" y="2219623"/>
            <a:ext cx="4337685" cy="2490278"/>
          </a:xfrm>
          <a:prstGeom prst="rect">
            <a:avLst/>
          </a:prstGeom>
          <a:blipFill>
            <a:blip r:embed="rId4"/>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258253" y="1760201"/>
            <a:ext cx="5575935" cy="3201161"/>
          </a:xfrm>
          <a:prstGeom prst="rect">
            <a:avLst/>
          </a:prstGeom>
          <a:blipFill>
            <a:blip r:embed="rId5"/>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357812" y="1760201"/>
            <a:ext cx="5575935" cy="3201161"/>
          </a:xfrm>
          <a:prstGeom prst="rect">
            <a:avLst/>
          </a:prstGeom>
          <a:blipFill>
            <a:blip r:embed="rId6"/>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2432685" y="1040872"/>
            <a:ext cx="7326630" cy="4206240"/>
          </a:xfrm>
          <a:prstGeom prst="rect">
            <a:avLst/>
          </a:prstGeom>
          <a:blipFill>
            <a:blip r:embed="rId7"/>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933950" y="5725160"/>
            <a:ext cx="2524125" cy="460375"/>
          </a:xfrm>
          <a:prstGeom prst="rect">
            <a:avLst/>
          </a:prstGeom>
          <a:noFill/>
        </p:spPr>
        <p:txBody>
          <a:bodyPr wrap="square" rtlCol="0">
            <a:spAutoFit/>
            <a:scene3d>
              <a:camera prst="orthographicFront"/>
              <a:lightRig rig="threePt" dir="t"/>
            </a:scene3d>
          </a:bodyPr>
          <a:lstStyle/>
          <a:p>
            <a:pPr algn="ctr"/>
            <a:r>
              <a:rPr lang="zh-CN" altLang="en-US" sz="240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用户翻译</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3842" y="2219623"/>
            <a:ext cx="4337685" cy="2490278"/>
          </a:xfrm>
          <a:prstGeom prst="rect">
            <a:avLst/>
          </a:prstGeom>
          <a:blipFill>
            <a:blip r:embed="rId3"/>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526654" y="2219623"/>
            <a:ext cx="4337685" cy="2490278"/>
          </a:xfrm>
          <a:prstGeom prst="rect">
            <a:avLst/>
          </a:prstGeom>
          <a:blipFill>
            <a:blip r:embed="rId4"/>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258253" y="1760201"/>
            <a:ext cx="5575935" cy="3201161"/>
          </a:xfrm>
          <a:prstGeom prst="rect">
            <a:avLst/>
          </a:prstGeom>
          <a:blipFill>
            <a:blip r:embed="rId5"/>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357812" y="1760201"/>
            <a:ext cx="5575935" cy="3201161"/>
          </a:xfrm>
          <a:prstGeom prst="rect">
            <a:avLst/>
          </a:prstGeom>
          <a:blipFill>
            <a:blip r:embed="rId6"/>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2432685" y="1040872"/>
            <a:ext cx="7326630" cy="4206240"/>
          </a:xfrm>
          <a:prstGeom prst="rect">
            <a:avLst/>
          </a:prstGeom>
          <a:blipFill>
            <a:blip r:embed="rId7"/>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932680" y="5735320"/>
            <a:ext cx="2468245" cy="460375"/>
          </a:xfrm>
          <a:prstGeom prst="rect">
            <a:avLst/>
          </a:prstGeom>
          <a:noFill/>
        </p:spPr>
        <p:txBody>
          <a:bodyPr wrap="square" rtlCol="0">
            <a:spAutoFit/>
          </a:bodyPr>
          <a:lstStyle/>
          <a:p>
            <a:pPr algn="ctr"/>
            <a:r>
              <a:rPr lang="zh-CN" altLang="en-US" sz="240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自定义设置</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3842" y="2219623"/>
            <a:ext cx="4337685" cy="2490278"/>
          </a:xfrm>
          <a:prstGeom prst="rect">
            <a:avLst/>
          </a:prstGeom>
          <a:blipFill>
            <a:blip r:embed="rId3"/>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526654" y="2219623"/>
            <a:ext cx="4337685" cy="2490278"/>
          </a:xfrm>
          <a:prstGeom prst="rect">
            <a:avLst/>
          </a:prstGeom>
          <a:blipFill>
            <a:blip r:embed="rId4"/>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258253" y="1760201"/>
            <a:ext cx="5575935" cy="3201161"/>
          </a:xfrm>
          <a:prstGeom prst="rect">
            <a:avLst/>
          </a:prstGeom>
          <a:blipFill>
            <a:blip r:embed="rId5"/>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357812" y="1760201"/>
            <a:ext cx="5575935" cy="3201161"/>
          </a:xfrm>
          <a:prstGeom prst="rect">
            <a:avLst/>
          </a:prstGeom>
          <a:blipFill>
            <a:blip r:embed="rId6"/>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2432685" y="1040872"/>
            <a:ext cx="7326630" cy="4206240"/>
          </a:xfrm>
          <a:prstGeom prst="rect">
            <a:avLst/>
          </a:prstGeom>
          <a:blipFill>
            <a:blip r:embed="rId7"/>
            <a:stretch>
              <a:fillRect/>
            </a:stretch>
          </a:blipFill>
          <a:ln>
            <a:solidFill>
              <a:srgbClr val="B9B8F1"/>
            </a:solidFill>
          </a:ln>
          <a:effectLst>
            <a:outerShdw blurRad="165100" dist="50800" dir="5400000" algn="ctr" rotWithShape="0">
              <a:srgbClr val="000000">
                <a:alpha val="34000"/>
              </a:srgbClr>
            </a:outerShdw>
            <a:reflection stA="36000" endPos="36000" dist="508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997450" y="5678805"/>
            <a:ext cx="2199640" cy="460375"/>
          </a:xfrm>
          <a:prstGeom prst="rect">
            <a:avLst/>
          </a:prstGeom>
          <a:noFill/>
        </p:spPr>
        <p:txBody>
          <a:bodyPr wrap="square" rtlCol="0">
            <a:spAutoFit/>
          </a:bodyPr>
          <a:lstStyle/>
          <a:p>
            <a:pPr algn="ctr"/>
            <a:r>
              <a:rPr lang="zh-CN" altLang="en-US" sz="240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历史记录查看</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70000">
              <a:srgbClr val="B9B8F1">
                <a:alpha val="0"/>
              </a:srgbClr>
            </a:gs>
          </a:gsLst>
          <a:lin ang="18900000" scaled="0"/>
        </a:gradFill>
        <a:effectLst/>
      </p:bgPr>
    </p:bg>
    <p:spTree>
      <p:nvGrpSpPr>
        <p:cNvPr id="1" name=""/>
        <p:cNvGrpSpPr/>
        <p:nvPr/>
      </p:nvGrpSpPr>
      <p:grpSpPr>
        <a:xfrm>
          <a:off x="0" y="0"/>
          <a:ext cx="0" cy="0"/>
          <a:chOff x="0" y="0"/>
          <a:chExt cx="0" cy="0"/>
        </a:xfrm>
      </p:grpSpPr>
      <p:grpSp>
        <p:nvGrpSpPr>
          <p:cNvPr id="1201" name="图形"/>
          <p:cNvGrpSpPr/>
          <p:nvPr/>
        </p:nvGrpSpPr>
        <p:grpSpPr>
          <a:xfrm>
            <a:off x="0" y="-1069340"/>
            <a:ext cx="12516485" cy="7927340"/>
            <a:chOff x="0" y="-1684"/>
            <a:chExt cx="19711" cy="12484"/>
          </a:xfrm>
        </p:grpSpPr>
        <p:pic>
          <p:nvPicPr>
            <p:cNvPr id="1202" name="图形" descr="D:/包图网/5b601bfb6affe.png5b601bfb6affe"/>
            <p:cNvPicPr>
              <a:picLocks noChangeAspect="1"/>
            </p:cNvPicPr>
            <p:nvPr/>
          </p:nvPicPr>
          <p:blipFill>
            <a:blip r:embed="rId3"/>
            <a:srcRect t="-2777" b="-1468"/>
            <a:stretch>
              <a:fillRect/>
            </a:stretch>
          </p:blipFill>
          <p:spPr>
            <a:xfrm>
              <a:off x="0" y="4674"/>
              <a:ext cx="7780" cy="5896"/>
            </a:xfrm>
            <a:prstGeom prst="rect">
              <a:avLst/>
            </a:prstGeom>
          </p:spPr>
        </p:pic>
        <p:sp>
          <p:nvSpPr>
            <p:cNvPr id="1203" name="图形"/>
            <p:cNvSpPr/>
            <p:nvPr/>
          </p:nvSpPr>
          <p:spPr>
            <a:xfrm rot="8580000" flipV="1">
              <a:off x="17359" y="-1684"/>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1204" name="组合 138"/>
            <p:cNvGrpSpPr/>
            <p:nvPr/>
          </p:nvGrpSpPr>
          <p:grpSpPr>
            <a:xfrm>
              <a:off x="2320" y="2938"/>
              <a:ext cx="2821" cy="1006"/>
              <a:chOff x="1595" y="1487"/>
              <a:chExt cx="4594" cy="1639"/>
            </a:xfrm>
            <a:gradFill>
              <a:gsLst>
                <a:gs pos="0">
                  <a:srgbClr val="B9B8F1">
                    <a:alpha val="100000"/>
                  </a:srgbClr>
                </a:gs>
                <a:gs pos="94000">
                  <a:srgbClr val="B9B8F1">
                    <a:alpha val="0"/>
                  </a:srgbClr>
                </a:gs>
              </a:gsLst>
              <a:lin ang="10800000" scaled="0"/>
            </a:gradFill>
          </p:grpSpPr>
          <p:grpSp>
            <p:nvGrpSpPr>
              <p:cNvPr id="1205" name="组合 51"/>
              <p:cNvGrpSpPr/>
              <p:nvPr/>
            </p:nvGrpSpPr>
            <p:grpSpPr>
              <a:xfrm>
                <a:off x="1595" y="1487"/>
                <a:ext cx="4594" cy="226"/>
                <a:chOff x="1595" y="1487"/>
                <a:chExt cx="4594" cy="226"/>
              </a:xfrm>
              <a:grpFill/>
            </p:grpSpPr>
            <p:sp>
              <p:nvSpPr>
                <p:cNvPr id="1206"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07"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08"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09"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10"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11"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12"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13" name="组合 52"/>
              <p:cNvGrpSpPr/>
              <p:nvPr/>
            </p:nvGrpSpPr>
            <p:grpSpPr>
              <a:xfrm>
                <a:off x="1595" y="1958"/>
                <a:ext cx="4594" cy="226"/>
                <a:chOff x="1595" y="1487"/>
                <a:chExt cx="4594" cy="226"/>
              </a:xfrm>
              <a:grpFill/>
            </p:grpSpPr>
            <p:sp>
              <p:nvSpPr>
                <p:cNvPr id="1214"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15"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16"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17"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18"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19"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20"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21" name="组合 120"/>
              <p:cNvGrpSpPr/>
              <p:nvPr/>
            </p:nvGrpSpPr>
            <p:grpSpPr>
              <a:xfrm>
                <a:off x="1595" y="2429"/>
                <a:ext cx="4594" cy="226"/>
                <a:chOff x="1595" y="1487"/>
                <a:chExt cx="4594" cy="226"/>
              </a:xfrm>
              <a:grpFill/>
            </p:grpSpPr>
            <p:sp>
              <p:nvSpPr>
                <p:cNvPr id="1222"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23"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24"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25"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26"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27"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28"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29" name="组合 128"/>
              <p:cNvGrpSpPr/>
              <p:nvPr/>
            </p:nvGrpSpPr>
            <p:grpSpPr>
              <a:xfrm>
                <a:off x="1595" y="2900"/>
                <a:ext cx="4594" cy="226"/>
                <a:chOff x="1595" y="1487"/>
                <a:chExt cx="4594" cy="226"/>
              </a:xfrm>
              <a:grpFill/>
            </p:grpSpPr>
            <p:sp>
              <p:nvSpPr>
                <p:cNvPr id="1230"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31"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32"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33"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34"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35"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36"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sp>
          <p:nvSpPr>
            <p:cNvPr id="1237" name="图形"/>
            <p:cNvSpPr/>
            <p:nvPr/>
          </p:nvSpPr>
          <p:spPr>
            <a:xfrm>
              <a:off x="0" y="10796"/>
              <a:ext cx="4" cy="4"/>
            </a:xfrm>
            <a:custGeom>
              <a:avLst/>
              <a:gdLst/>
              <a:ahLst/>
              <a:cxnLst>
                <a:cxn ang="3">
                  <a:pos x="hc" y="t"/>
                </a:cxn>
                <a:cxn ang="cd2">
                  <a:pos x="l" y="vc"/>
                </a:cxn>
                <a:cxn ang="cd4">
                  <a:pos x="hc" y="b"/>
                </a:cxn>
                <a:cxn ang="0">
                  <a:pos x="r" y="vc"/>
                </a:cxn>
              </a:cxnLst>
              <a:rect l="l" t="t" r="r" b="b"/>
              <a:pathLst>
                <a:path w="4" h="4">
                  <a:moveTo>
                    <a:pt x="0" y="0"/>
                  </a:moveTo>
                  <a:lnTo>
                    <a:pt x="4" y="4"/>
                  </a:lnTo>
                  <a:lnTo>
                    <a:pt x="0" y="4"/>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238" name="图形"/>
            <p:cNvSpPr/>
            <p:nvPr/>
          </p:nvSpPr>
          <p:spPr>
            <a:xfrm>
              <a:off x="0" y="2210"/>
              <a:ext cx="11364" cy="8590"/>
            </a:xfrm>
            <a:custGeom>
              <a:avLst/>
              <a:gdLst/>
              <a:ahLst/>
              <a:cxnLst>
                <a:cxn ang="3">
                  <a:pos x="hc" y="t"/>
                </a:cxn>
                <a:cxn ang="cd2">
                  <a:pos x="l" y="vc"/>
                </a:cxn>
                <a:cxn ang="cd4">
                  <a:pos x="hc" y="b"/>
                </a:cxn>
                <a:cxn ang="0">
                  <a:pos x="r" y="vc"/>
                </a:cxn>
              </a:cxnLst>
              <a:rect l="l" t="t" r="r" b="b"/>
              <a:pathLst>
                <a:path w="11364" h="8590">
                  <a:moveTo>
                    <a:pt x="677" y="0"/>
                  </a:moveTo>
                  <a:cubicBezTo>
                    <a:pt x="949" y="-1"/>
                    <a:pt x="1204" y="66"/>
                    <a:pt x="1429" y="218"/>
                  </a:cubicBezTo>
                  <a:cubicBezTo>
                    <a:pt x="2008" y="798"/>
                    <a:pt x="1883" y="1992"/>
                    <a:pt x="2745" y="2676"/>
                  </a:cubicBezTo>
                  <a:cubicBezTo>
                    <a:pt x="3748" y="3184"/>
                    <a:pt x="4863" y="2726"/>
                    <a:pt x="6368" y="3236"/>
                  </a:cubicBezTo>
                  <a:cubicBezTo>
                    <a:pt x="7486" y="4177"/>
                    <a:pt x="7194" y="5103"/>
                    <a:pt x="7858" y="5815"/>
                  </a:cubicBezTo>
                  <a:cubicBezTo>
                    <a:pt x="8574" y="6232"/>
                    <a:pt x="9738" y="5636"/>
                    <a:pt x="10848" y="6384"/>
                  </a:cubicBezTo>
                  <a:cubicBezTo>
                    <a:pt x="11491" y="6818"/>
                    <a:pt x="11469" y="7655"/>
                    <a:pt x="11131" y="8564"/>
                  </a:cubicBezTo>
                  <a:lnTo>
                    <a:pt x="11121" y="8590"/>
                  </a:lnTo>
                  <a:lnTo>
                    <a:pt x="4" y="8590"/>
                  </a:lnTo>
                  <a:lnTo>
                    <a:pt x="0" y="8587"/>
                  </a:lnTo>
                  <a:lnTo>
                    <a:pt x="0" y="129"/>
                  </a:lnTo>
                  <a:lnTo>
                    <a:pt x="13" y="124"/>
                  </a:lnTo>
                  <a:cubicBezTo>
                    <a:pt x="240" y="45"/>
                    <a:pt x="464" y="1"/>
                    <a:pt x="677" y="0"/>
                  </a:cubicBezTo>
                  <a:close/>
                </a:path>
              </a:pathLst>
            </a:custGeom>
            <a:gradFill>
              <a:gsLst>
                <a:gs pos="0">
                  <a:srgbClr val="B9B8F1">
                    <a:alpha val="30000"/>
                  </a:srgbClr>
                </a:gs>
                <a:gs pos="100000">
                  <a:srgbClr val="B9B8F1">
                    <a:alpha val="0"/>
                  </a:srgb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1239" name="图形"/>
          <p:cNvSpPr txBox="1"/>
          <p:nvPr/>
        </p:nvSpPr>
        <p:spPr>
          <a:xfrm>
            <a:off x="5222242" y="3194052"/>
            <a:ext cx="6322695" cy="1241425"/>
          </a:xfrm>
          <a:prstGeom prst="rect">
            <a:avLst/>
          </a:prstGeom>
          <a:noFill/>
        </p:spPr>
        <p:txBody>
          <a:bodyPr wrap="square" lIns="0" tIns="0" rIns="0" bIns="0" rtlCol="0">
            <a:noAutofit/>
          </a:bodyPr>
          <a:lstStyle/>
          <a:p>
            <a:pPr algn="dist"/>
            <a:r>
              <a:rPr lang="zh-CN" sz="80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核心技术</a:t>
            </a:r>
          </a:p>
        </p:txBody>
      </p:sp>
      <p:sp>
        <p:nvSpPr>
          <p:cNvPr id="1240" name="图形"/>
          <p:cNvSpPr txBox="1"/>
          <p:nvPr/>
        </p:nvSpPr>
        <p:spPr>
          <a:xfrm>
            <a:off x="6630990" y="4516120"/>
            <a:ext cx="3505200" cy="323850"/>
          </a:xfrm>
          <a:prstGeom prst="rect">
            <a:avLst/>
          </a:prstGeom>
          <a:noFill/>
        </p:spPr>
        <p:txBody>
          <a:bodyPr wrap="square" lIns="0" tIns="0" rIns="0" bIns="0" rtlCol="0">
            <a:spAutoFit/>
          </a:bodyPr>
          <a:lstStyle/>
          <a:p>
            <a:pPr algn="dist">
              <a:lnSpc>
                <a:spcPct val="150000"/>
              </a:lnSpc>
            </a:pPr>
            <a:r>
              <a:rPr lang="en-US" sz="1400">
                <a:ln>
                  <a:noFill/>
                </a:ln>
                <a:solidFill>
                  <a:schemeClr val="tx1">
                    <a:lumMod val="65000"/>
                    <a:lumOff val="35000"/>
                    <a:alpha val="100000"/>
                  </a:schemeClr>
                </a:solidFill>
                <a:effectLst/>
                <a:latin typeface="Arial" panose="020B0604020202020204"/>
                <a:ea typeface="微软雅黑" panose="020B0503020204020204" pitchFamily="34" charset="-122"/>
                <a:cs typeface="思源黑体 Normal"/>
                <a:sym typeface="Arial" panose="020B0604020202020204"/>
              </a:rPr>
              <a:t>The Core Techonology</a:t>
            </a:r>
          </a:p>
        </p:txBody>
      </p:sp>
      <p:grpSp>
        <p:nvGrpSpPr>
          <p:cNvPr id="1241" name="图形"/>
          <p:cNvGrpSpPr/>
          <p:nvPr/>
        </p:nvGrpSpPr>
        <p:grpSpPr>
          <a:xfrm>
            <a:off x="7793357" y="1932305"/>
            <a:ext cx="3750945" cy="849630"/>
            <a:chOff x="12273" y="2943"/>
            <a:chExt cx="5907" cy="1338"/>
          </a:xfrm>
        </p:grpSpPr>
        <p:sp>
          <p:nvSpPr>
            <p:cNvPr id="1242" name="图形"/>
            <p:cNvSpPr/>
            <p:nvPr/>
          </p:nvSpPr>
          <p:spPr>
            <a:xfrm>
              <a:off x="12273"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第</a:t>
              </a:r>
            </a:p>
          </p:txBody>
        </p:sp>
        <p:sp>
          <p:nvSpPr>
            <p:cNvPr id="1243" name="图形"/>
            <p:cNvSpPr/>
            <p:nvPr/>
          </p:nvSpPr>
          <p:spPr>
            <a:xfrm>
              <a:off x="13796" y="2943"/>
              <a:ext cx="1338" cy="1338"/>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sz="3600" b="1">
                  <a:latin typeface="宋体" panose="02010600030101010101" pitchFamily="2" charset="-122"/>
                  <a:ea typeface="宋体" panose="02010600030101010101" pitchFamily="2" charset="-122"/>
                  <a:cs typeface="思源黑体 Normal"/>
                  <a:sym typeface="Arial" panose="020B0604020202020204"/>
                </a:rPr>
                <a:t>三</a:t>
              </a:r>
            </a:p>
          </p:txBody>
        </p:sp>
        <p:sp>
          <p:nvSpPr>
            <p:cNvPr id="1244" name="图形"/>
            <p:cNvSpPr/>
            <p:nvPr/>
          </p:nvSpPr>
          <p:spPr>
            <a:xfrm>
              <a:off x="15319"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部</a:t>
              </a:r>
            </a:p>
          </p:txBody>
        </p:sp>
        <p:sp>
          <p:nvSpPr>
            <p:cNvPr id="1245" name="图形"/>
            <p:cNvSpPr/>
            <p:nvPr/>
          </p:nvSpPr>
          <p:spPr>
            <a:xfrm>
              <a:off x="16842"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分</a:t>
              </a:r>
            </a:p>
          </p:txBody>
        </p:sp>
      </p:grpSp>
      <p:grpSp>
        <p:nvGrpSpPr>
          <p:cNvPr id="1246" name="图形"/>
          <p:cNvGrpSpPr/>
          <p:nvPr/>
        </p:nvGrpSpPr>
        <p:grpSpPr>
          <a:xfrm>
            <a:off x="8990331" y="5836920"/>
            <a:ext cx="2555240" cy="444500"/>
            <a:chOff x="14158" y="9192"/>
            <a:chExt cx="4024" cy="700"/>
          </a:xfrm>
        </p:grpSpPr>
        <p:sp>
          <p:nvSpPr>
            <p:cNvPr id="1247" name="图形"/>
            <p:cNvSpPr/>
            <p:nvPr/>
          </p:nvSpPr>
          <p:spPr>
            <a:xfrm>
              <a:off x="14158" y="9192"/>
              <a:ext cx="701" cy="701"/>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248" name="图形"/>
            <p:cNvSpPr/>
            <p:nvPr/>
          </p:nvSpPr>
          <p:spPr>
            <a:xfrm>
              <a:off x="15266"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249" name="图形"/>
            <p:cNvSpPr/>
            <p:nvPr/>
          </p:nvSpPr>
          <p:spPr>
            <a:xfrm>
              <a:off x="16374"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250" name="图形"/>
            <p:cNvSpPr/>
            <p:nvPr/>
          </p:nvSpPr>
          <p:spPr>
            <a:xfrm>
              <a:off x="17482"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9" name="组合 18"/>
          <p:cNvGrpSpPr/>
          <p:nvPr/>
        </p:nvGrpSpPr>
        <p:grpSpPr>
          <a:xfrm>
            <a:off x="9503410" y="508000"/>
            <a:ext cx="2338705" cy="1039495"/>
            <a:chOff x="14966" y="800"/>
            <a:chExt cx="3683" cy="1637"/>
          </a:xfrm>
        </p:grpSpPr>
        <p:pic>
          <p:nvPicPr>
            <p:cNvPr id="17" name="图片 16"/>
            <p:cNvPicPr>
              <a:picLocks noChangeAspect="1"/>
            </p:cNvPicPr>
            <p:nvPr/>
          </p:nvPicPr>
          <p:blipFill>
            <a:blip r:embed="rId4"/>
            <a:stretch>
              <a:fillRect/>
            </a:stretch>
          </p:blipFill>
          <p:spPr>
            <a:xfrm>
              <a:off x="14966" y="800"/>
              <a:ext cx="1381" cy="1381"/>
            </a:xfrm>
            <a:prstGeom prst="rect">
              <a:avLst/>
            </a:prstGeom>
          </p:spPr>
        </p:pic>
        <p:sp>
          <p:nvSpPr>
            <p:cNvPr id="18" name="文本框 17"/>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01"/>
                                        </p:tgtEl>
                                        <p:attrNameLst>
                                          <p:attrName>style.visibility</p:attrName>
                                        </p:attrNameLst>
                                      </p:cBhvr>
                                      <p:to>
                                        <p:strVal val="visible"/>
                                      </p:to>
                                    </p:set>
                                    <p:animEffect transition="in" filter="fade">
                                      <p:cBhvr>
                                        <p:cTn id="7" dur="500"/>
                                        <p:tgtEl>
                                          <p:spTgt spid="1201"/>
                                        </p:tgtEl>
                                      </p:cBhvr>
                                    </p:animEffect>
                                  </p:childTnLst>
                                </p:cTn>
                              </p:par>
                              <p:par>
                                <p:cTn id="8" presetID="10" presetClass="entr" presetSubtype="0" fill="hold" nodeType="withEffect">
                                  <p:stCondLst>
                                    <p:cond delay="0"/>
                                  </p:stCondLst>
                                  <p:childTnLst>
                                    <p:set>
                                      <p:cBhvr>
                                        <p:cTn id="9" dur="1" fill="hold">
                                          <p:stCondLst>
                                            <p:cond delay="0"/>
                                          </p:stCondLst>
                                        </p:cTn>
                                        <p:tgtEl>
                                          <p:spTgt spid="1246"/>
                                        </p:tgtEl>
                                        <p:attrNameLst>
                                          <p:attrName>style.visibility</p:attrName>
                                        </p:attrNameLst>
                                      </p:cBhvr>
                                      <p:to>
                                        <p:strVal val="visible"/>
                                      </p:to>
                                    </p:set>
                                    <p:animEffect transition="in" filter="fade">
                                      <p:cBhvr>
                                        <p:cTn id="10" dur="500"/>
                                        <p:tgtEl>
                                          <p:spTgt spid="1246"/>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000" fill="hold">
                                          <p:stCondLst>
                                            <p:cond delay="0"/>
                                          </p:stCondLst>
                                        </p:cTn>
                                        <p:tgtEl>
                                          <p:spTgt spid="1241"/>
                                        </p:tgtEl>
                                        <p:attrNameLst>
                                          <p:attrName>style.visibility</p:attrName>
                                        </p:attrNameLst>
                                      </p:cBhvr>
                                      <p:to>
                                        <p:strVal val="visible"/>
                                      </p:to>
                                    </p:set>
                                    <p:anim calcmode="lin" valueType="num">
                                      <p:cBhvr>
                                        <p:cTn id="14" dur="1000" fill="hold"/>
                                        <p:tgtEl>
                                          <p:spTgt spid="1241"/>
                                        </p:tgtEl>
                                        <p:attrNameLst>
                                          <p:attrName>ppt_w</p:attrName>
                                        </p:attrNameLst>
                                      </p:cBhvr>
                                      <p:tavLst>
                                        <p:tav tm="0">
                                          <p:val>
                                            <p:fltVal val="0"/>
                                          </p:val>
                                        </p:tav>
                                        <p:tav tm="100000">
                                          <p:val>
                                            <p:strVal val="#ppt_w"/>
                                          </p:val>
                                        </p:tav>
                                      </p:tavLst>
                                    </p:anim>
                                    <p:anim calcmode="lin" valueType="num">
                                      <p:cBhvr>
                                        <p:cTn id="15" dur="1000" fill="hold"/>
                                        <p:tgtEl>
                                          <p:spTgt spid="1241"/>
                                        </p:tgtEl>
                                        <p:attrNameLst>
                                          <p:attrName>ppt_h</p:attrName>
                                        </p:attrNameLst>
                                      </p:cBhvr>
                                      <p:tavLst>
                                        <p:tav tm="0">
                                          <p:val>
                                            <p:fltVal val="0"/>
                                          </p:val>
                                        </p:tav>
                                        <p:tav tm="100000">
                                          <p:val>
                                            <p:strVal val="#ppt_h"/>
                                          </p:val>
                                        </p:tav>
                                      </p:tavLst>
                                    </p:anim>
                                  </p:childTnLst>
                                </p:cTn>
                              </p:par>
                            </p:childTnLst>
                          </p:cTn>
                        </p:par>
                        <p:par>
                          <p:cTn id="16" fill="hold">
                            <p:stCondLst>
                              <p:cond delay="1500"/>
                            </p:stCondLst>
                            <p:childTnLst>
                              <p:par>
                                <p:cTn id="17" presetID="23" presetClass="entr" presetSubtype="16" fill="hold" nodeType="afterEffect">
                                  <p:stCondLst>
                                    <p:cond delay="0"/>
                                  </p:stCondLst>
                                  <p:childTnLst>
                                    <p:set>
                                      <p:cBhvr>
                                        <p:cTn id="18" dur="1000" fill="hold">
                                          <p:stCondLst>
                                            <p:cond delay="0"/>
                                          </p:stCondLst>
                                        </p:cTn>
                                        <p:tgtEl>
                                          <p:spTgt spid="1239"/>
                                        </p:tgtEl>
                                        <p:attrNameLst>
                                          <p:attrName>style.visibility</p:attrName>
                                        </p:attrNameLst>
                                      </p:cBhvr>
                                      <p:to>
                                        <p:strVal val="visible"/>
                                      </p:to>
                                    </p:set>
                                    <p:anim calcmode="lin" valueType="num">
                                      <p:cBhvr>
                                        <p:cTn id="19" dur="1000" fill="hold"/>
                                        <p:tgtEl>
                                          <p:spTgt spid="1239"/>
                                        </p:tgtEl>
                                        <p:attrNameLst>
                                          <p:attrName>ppt_w</p:attrName>
                                        </p:attrNameLst>
                                      </p:cBhvr>
                                      <p:tavLst>
                                        <p:tav tm="0">
                                          <p:val>
                                            <p:fltVal val="0"/>
                                          </p:val>
                                        </p:tav>
                                        <p:tav tm="100000">
                                          <p:val>
                                            <p:strVal val="#ppt_w"/>
                                          </p:val>
                                        </p:tav>
                                      </p:tavLst>
                                    </p:anim>
                                    <p:anim calcmode="lin" valueType="num">
                                      <p:cBhvr>
                                        <p:cTn id="20" dur="1000" fill="hold"/>
                                        <p:tgtEl>
                                          <p:spTgt spid="1239"/>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000" fill="hold">
                                          <p:stCondLst>
                                            <p:cond delay="0"/>
                                          </p:stCondLst>
                                        </p:cTn>
                                        <p:tgtEl>
                                          <p:spTgt spid="1240"/>
                                        </p:tgtEl>
                                        <p:attrNameLst>
                                          <p:attrName>style.visibility</p:attrName>
                                        </p:attrNameLst>
                                      </p:cBhvr>
                                      <p:to>
                                        <p:strVal val="visible"/>
                                      </p:to>
                                    </p:set>
                                    <p:anim calcmode="lin" valueType="num">
                                      <p:cBhvr>
                                        <p:cTn id="23" dur="1000" fill="hold"/>
                                        <p:tgtEl>
                                          <p:spTgt spid="1240"/>
                                        </p:tgtEl>
                                        <p:attrNameLst>
                                          <p:attrName>ppt_w</p:attrName>
                                        </p:attrNameLst>
                                      </p:cBhvr>
                                      <p:tavLst>
                                        <p:tav tm="0">
                                          <p:val>
                                            <p:fltVal val="0"/>
                                          </p:val>
                                        </p:tav>
                                        <p:tav tm="100000">
                                          <p:val>
                                            <p:strVal val="#ppt_w"/>
                                          </p:val>
                                        </p:tav>
                                      </p:tavLst>
                                    </p:anim>
                                    <p:anim calcmode="lin" valueType="num">
                                      <p:cBhvr>
                                        <p:cTn id="24" dur="1000" fill="hold"/>
                                        <p:tgtEl>
                                          <p:spTgt spid="124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9" name="图形"/>
          <p:cNvGrpSpPr/>
          <p:nvPr/>
        </p:nvGrpSpPr>
        <p:grpSpPr>
          <a:xfrm>
            <a:off x="-477520" y="-918210"/>
            <a:ext cx="5852795" cy="2447925"/>
            <a:chOff x="-752" y="-1446"/>
            <a:chExt cx="9217" cy="3855"/>
          </a:xfrm>
        </p:grpSpPr>
        <p:sp>
          <p:nvSpPr>
            <p:cNvPr id="740"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741" name="图形"/>
            <p:cNvSpPr txBox="1"/>
            <p:nvPr/>
          </p:nvSpPr>
          <p:spPr>
            <a:xfrm>
              <a:off x="1354" y="611"/>
              <a:ext cx="7111" cy="918"/>
            </a:xfrm>
            <a:prstGeom prst="rect">
              <a:avLst/>
            </a:prstGeom>
            <a:noFill/>
          </p:spPr>
          <p:txBody>
            <a:bodyPr wrap="square" lIns="0" tIns="0" rIns="0" bIns="0" rtlCol="0">
              <a:noAutofit/>
            </a:bodyPr>
            <a:lstStyle/>
            <a:p>
              <a:pPr algn="dist"/>
              <a:r>
                <a:rPr lang="zh-CN" altLang="en-US" sz="3600" b="1" dirty="0">
                  <a:solidFill>
                    <a:schemeClr val="tx1">
                      <a:lumMod val="75000"/>
                      <a:lumOff val="25000"/>
                    </a:schemeClr>
                  </a:solidFill>
                  <a:latin typeface="Arial" panose="020B0604020202020204"/>
                  <a:ea typeface="微软雅黑" panose="020B0503020204020204" pitchFamily="34" charset="-122"/>
                  <a:sym typeface="+mn-ea"/>
                </a:rPr>
                <a:t>全自主训练翻译模型</a:t>
              </a:r>
              <a:endParaRPr lang="zh-CN" altLang="en-US" sz="3600" dirty="0">
                <a:ln/>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cs typeface="思源黑体 Normal" panose="020B0400000000000000" charset="-122"/>
                <a:sym typeface="Arial" panose="020B0604020202020204"/>
              </a:endParaRPr>
            </a:p>
          </p:txBody>
        </p:sp>
        <p:sp>
          <p:nvSpPr>
            <p:cNvPr id="742"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5" name="文本框 4"/>
          <p:cNvSpPr txBox="1"/>
          <p:nvPr/>
        </p:nvSpPr>
        <p:spPr>
          <a:xfrm>
            <a:off x="1027430" y="1090295"/>
            <a:ext cx="3973830" cy="422275"/>
          </a:xfrm>
          <a:prstGeom prst="rect">
            <a:avLst/>
          </a:prstGeom>
          <a:noFill/>
        </p:spPr>
        <p:txBody>
          <a:bodyPr wrap="square" rtlCol="0">
            <a:noAutofit/>
          </a:bodyPr>
          <a:lstStyle/>
          <a:p>
            <a:r>
              <a:rPr lang="en-US" altLang="zh-CN" sz="3600" b="1">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rPr>
              <a:t>transformer</a:t>
            </a:r>
            <a:r>
              <a:rPr lang="zh-CN" altLang="en-US" sz="3600" b="1">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rPr>
              <a:t>架构</a:t>
            </a:r>
          </a:p>
        </p:txBody>
      </p:sp>
      <p:pic>
        <p:nvPicPr>
          <p:cNvPr id="6" name="图片 5"/>
          <p:cNvPicPr>
            <a:picLocks noChangeAspect="1"/>
          </p:cNvPicPr>
          <p:nvPr/>
        </p:nvPicPr>
        <p:blipFill>
          <a:blip r:embed="rId3"/>
          <a:stretch>
            <a:fillRect/>
          </a:stretch>
        </p:blipFill>
        <p:spPr>
          <a:xfrm>
            <a:off x="5974080" y="1827530"/>
            <a:ext cx="3271520" cy="1103630"/>
          </a:xfrm>
          <a:prstGeom prst="rect">
            <a:avLst/>
          </a:prstGeom>
        </p:spPr>
      </p:pic>
      <p:sp>
        <p:nvSpPr>
          <p:cNvPr id="7" name="文本框 6"/>
          <p:cNvSpPr txBox="1"/>
          <p:nvPr/>
        </p:nvSpPr>
        <p:spPr>
          <a:xfrm>
            <a:off x="6096000" y="1182370"/>
            <a:ext cx="3365500" cy="645160"/>
          </a:xfrm>
          <a:prstGeom prst="rect">
            <a:avLst/>
          </a:prstGeom>
          <a:noFill/>
        </p:spPr>
        <p:txBody>
          <a:bodyPr wrap="square" rtlCol="0">
            <a:spAutoFit/>
          </a:bodyPr>
          <a:lstStyle/>
          <a:p>
            <a:r>
              <a:rPr lang="zh-CN" altLang="en-US" sz="3600" b="1">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数据集</a:t>
            </a:r>
          </a:p>
        </p:txBody>
      </p:sp>
      <p:sp>
        <p:nvSpPr>
          <p:cNvPr id="15" name="文本框 14"/>
          <p:cNvSpPr txBox="1"/>
          <p:nvPr/>
        </p:nvSpPr>
        <p:spPr>
          <a:xfrm>
            <a:off x="6096000" y="2793365"/>
            <a:ext cx="4324985" cy="1313815"/>
          </a:xfrm>
          <a:prstGeom prst="rect">
            <a:avLst/>
          </a:prstGeom>
          <a:noFill/>
        </p:spPr>
        <p:txBody>
          <a:bodyPr wrap="square" rtlCol="0">
            <a:noAutofit/>
          </a:bodyPr>
          <a:lstStyle/>
          <a:p>
            <a:r>
              <a:rPr lang="en-US" altLang="zh-CN" sz="2800" b="1">
                <a:latin typeface="微软雅黑" panose="020B0503020204020204" pitchFamily="34" charset="-122"/>
                <a:ea typeface="微软雅黑" panose="020B0503020204020204" pitchFamily="34" charset="-122"/>
                <a:cs typeface="微软雅黑" panose="020B0503020204020204" pitchFamily="34" charset="-122"/>
              </a:rPr>
              <a:t>Flores-200</a:t>
            </a:r>
            <a:r>
              <a:rPr lang="zh-CN" altLang="en-US" sz="2800" b="1">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a:latin typeface="微软雅黑" panose="020B0503020204020204" pitchFamily="34" charset="-122"/>
                <a:ea typeface="微软雅黑" panose="020B0503020204020204" pitchFamily="34" charset="-122"/>
                <a:cs typeface="微软雅黑" panose="020B0503020204020204" pitchFamily="34" charset="-122"/>
              </a:rPr>
              <a:t>WMT-21</a:t>
            </a:r>
          </a:p>
        </p:txBody>
      </p:sp>
      <p:sp>
        <p:nvSpPr>
          <p:cNvPr id="18" name="文本框 17"/>
          <p:cNvSpPr txBox="1"/>
          <p:nvPr/>
        </p:nvSpPr>
        <p:spPr>
          <a:xfrm>
            <a:off x="6096000" y="3536950"/>
            <a:ext cx="3446780" cy="570230"/>
          </a:xfrm>
          <a:prstGeom prst="rect">
            <a:avLst/>
          </a:prstGeom>
          <a:noFill/>
        </p:spPr>
        <p:txBody>
          <a:bodyPr wrap="square" rtlCol="0">
            <a:noAutofit/>
          </a:bodyPr>
          <a:lstStyle/>
          <a:p>
            <a:r>
              <a:rPr lang="zh-CN" altLang="en-US" sz="3600" b="1">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软件环境</a:t>
            </a:r>
          </a:p>
        </p:txBody>
      </p:sp>
      <p:pic>
        <p:nvPicPr>
          <p:cNvPr id="19" name="图片 18"/>
          <p:cNvPicPr>
            <a:picLocks noChangeAspect="1"/>
          </p:cNvPicPr>
          <p:nvPr/>
        </p:nvPicPr>
        <p:blipFill>
          <a:blip r:embed="rId4"/>
          <a:stretch>
            <a:fillRect/>
          </a:stretch>
        </p:blipFill>
        <p:spPr>
          <a:xfrm>
            <a:off x="6256655" y="4107180"/>
            <a:ext cx="3423920" cy="1012825"/>
          </a:xfrm>
          <a:prstGeom prst="rect">
            <a:avLst/>
          </a:prstGeom>
        </p:spPr>
      </p:pic>
      <p:pic>
        <p:nvPicPr>
          <p:cNvPr id="20" name="图片 19"/>
          <p:cNvPicPr>
            <a:picLocks noChangeAspect="1"/>
          </p:cNvPicPr>
          <p:nvPr/>
        </p:nvPicPr>
        <p:blipFill>
          <a:blip r:embed="rId5"/>
          <a:stretch>
            <a:fillRect/>
          </a:stretch>
        </p:blipFill>
        <p:spPr>
          <a:xfrm>
            <a:off x="6256655" y="5361940"/>
            <a:ext cx="3424555" cy="1045845"/>
          </a:xfrm>
          <a:prstGeom prst="rect">
            <a:avLst/>
          </a:prstGeom>
        </p:spPr>
      </p:pic>
      <p:pic>
        <p:nvPicPr>
          <p:cNvPr id="23" name="图片 22"/>
          <p:cNvPicPr/>
          <p:nvPr/>
        </p:nvPicPr>
        <p:blipFill>
          <a:blip r:embed="rId6"/>
          <a:stretch>
            <a:fillRect/>
          </a:stretch>
        </p:blipFill>
        <p:spPr>
          <a:xfrm>
            <a:off x="1027430" y="1918335"/>
            <a:ext cx="3973830" cy="4724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4" name="图形"/>
          <p:cNvGrpSpPr/>
          <p:nvPr/>
        </p:nvGrpSpPr>
        <p:grpSpPr>
          <a:xfrm>
            <a:off x="-477520" y="-918210"/>
            <a:ext cx="5914390" cy="2447925"/>
            <a:chOff x="-752" y="-1446"/>
            <a:chExt cx="9314" cy="3855"/>
          </a:xfrm>
        </p:grpSpPr>
        <p:sp>
          <p:nvSpPr>
            <p:cNvPr id="525"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526" name="图形"/>
            <p:cNvSpPr txBox="1"/>
            <p:nvPr/>
          </p:nvSpPr>
          <p:spPr>
            <a:xfrm>
              <a:off x="1617" y="611"/>
              <a:ext cx="6945" cy="918"/>
            </a:xfrm>
            <a:prstGeom prst="rect">
              <a:avLst/>
            </a:prstGeom>
            <a:noFill/>
          </p:spPr>
          <p:txBody>
            <a:bodyPr wrap="square" lIns="0" tIns="0" rIns="0" bIns="0" rtlCol="0">
              <a:noAutofit/>
            </a:bodyPr>
            <a:lstStyle/>
            <a:p>
              <a:pPr algn="dist"/>
              <a:r>
                <a:rPr lang="zh-CN" altLang="en-US" sz="3600" b="1" dirty="0">
                  <a:solidFill>
                    <a:schemeClr val="tx1">
                      <a:lumMod val="75000"/>
                      <a:lumOff val="25000"/>
                    </a:schemeClr>
                  </a:solidFill>
                  <a:latin typeface="Arial" panose="020B0604020202020204"/>
                  <a:ea typeface="微软雅黑" panose="020B0503020204020204" pitchFamily="34" charset="-122"/>
                </a:rPr>
                <a:t>全自主训练翻译模型</a:t>
              </a:r>
            </a:p>
          </p:txBody>
        </p:sp>
        <p:sp>
          <p:nvSpPr>
            <p:cNvPr id="527"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4" name="组合 3"/>
          <p:cNvGrpSpPr/>
          <p:nvPr/>
        </p:nvGrpSpPr>
        <p:grpSpPr>
          <a:xfrm>
            <a:off x="915035" y="3024505"/>
            <a:ext cx="3781425" cy="3670935"/>
            <a:chOff x="1602" y="4840"/>
            <a:chExt cx="5955" cy="5781"/>
          </a:xfrm>
        </p:grpSpPr>
        <p:sp>
          <p:nvSpPr>
            <p:cNvPr id="510" name="图形"/>
            <p:cNvSpPr/>
            <p:nvPr/>
          </p:nvSpPr>
          <p:spPr>
            <a:xfrm>
              <a:off x="1606" y="4840"/>
              <a:ext cx="5951" cy="5781"/>
            </a:xfrm>
            <a:prstGeom prst="rect">
              <a:avLst/>
            </a:prstGeom>
            <a:solidFill>
              <a:srgbClr val="B9B8F1">
                <a:alpha val="20000"/>
              </a:srgbClr>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11" name="图形"/>
            <p:cNvSpPr/>
            <p:nvPr/>
          </p:nvSpPr>
          <p:spPr bwMode="auto">
            <a:xfrm>
              <a:off x="1786" y="5263"/>
              <a:ext cx="961" cy="957"/>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rgbClr val="566CD3"/>
            </a:solidFill>
            <a:ln>
              <a:noFill/>
            </a:ln>
            <a:effectLst/>
          </p:spPr>
          <p:txBody>
            <a:bodyPr lIns="19050" tIns="19050" rIns="19050" bIns="19050" anchor="ctr"/>
            <a:lstStyle/>
            <a:p>
              <a:pPr marL="0" marR="0" lvl="0" indent="0" algn="ctr" defTabSz="228600" rtl="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dirty="0">
                <a:ln>
                  <a:noFill/>
                </a:ln>
                <a:solidFill>
                  <a:srgbClr val="38609D"/>
                </a:solidFill>
                <a:effectLst>
                  <a:outerShdw blurRad="38100" dist="38100" dir="2700000" algn="tl">
                    <a:srgbClr val="000000"/>
                  </a:outerShdw>
                </a:effectLst>
                <a:uLnTx/>
                <a:uFillTx/>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12" name="图形"/>
            <p:cNvSpPr txBox="1"/>
            <p:nvPr/>
          </p:nvSpPr>
          <p:spPr>
            <a:xfrm>
              <a:off x="1602" y="6622"/>
              <a:ext cx="3573" cy="822"/>
            </a:xfrm>
            <a:prstGeom prst="rect">
              <a:avLst/>
            </a:prstGeom>
            <a:noFill/>
          </p:spPr>
          <p:txBody>
            <a:bodyPr wrap="square" rtlCol="0">
              <a:spAutoFit/>
            </a:bodyPr>
            <a:lstStyle/>
            <a:p>
              <a:pPr algn="dist"/>
              <a:r>
                <a:rPr lang="zh-CN" altLang="en-US" sz="2800" b="1" dirty="0">
                  <a:solidFill>
                    <a:schemeClr val="tx1">
                      <a:lumMod val="75000"/>
                      <a:lumOff val="25000"/>
                    </a:schemeClr>
                  </a:solidFill>
                  <a:latin typeface="Arial" panose="020B0604020202020204"/>
                  <a:ea typeface="微软雅黑" panose="020B0503020204020204" pitchFamily="34" charset="-122"/>
                  <a:cs typeface="思源黑体 Medium" panose="020B0600000000000000" charset="-122"/>
                  <a:sym typeface="Arial" panose="020B0604020202020204"/>
                </a:rPr>
                <a:t>高精度模型</a:t>
              </a:r>
            </a:p>
          </p:txBody>
        </p:sp>
        <p:sp>
          <p:nvSpPr>
            <p:cNvPr id="513" name="图形"/>
            <p:cNvSpPr txBox="1"/>
            <p:nvPr/>
          </p:nvSpPr>
          <p:spPr>
            <a:xfrm>
              <a:off x="1606" y="7667"/>
              <a:ext cx="5629" cy="2325"/>
            </a:xfrm>
            <a:prstGeom prst="rect">
              <a:avLst/>
            </a:prstGeom>
            <a:noFill/>
          </p:spPr>
          <p:txBody>
            <a:bodyPr wrap="square" rtlCol="0">
              <a:spAutoFit/>
            </a:bodyPr>
            <a:lstStyle/>
            <a:p>
              <a:pPr>
                <a:lnSpc>
                  <a:spcPct val="150000"/>
                </a:lnSpc>
              </a:pP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BLUE</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分数：</a:t>
              </a:r>
            </a:p>
            <a:p>
              <a:pPr>
                <a:lnSpc>
                  <a:spcPct val="150000"/>
                </a:lnSpc>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中译英：</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20.30</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分</a:t>
              </a:r>
            </a:p>
            <a:p>
              <a:pPr>
                <a:lnSpc>
                  <a:spcPct val="150000"/>
                </a:lnSpc>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英译中：</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25.37</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分</a:t>
              </a:r>
            </a:p>
          </p:txBody>
        </p:sp>
      </p:grpSp>
      <p:grpSp>
        <p:nvGrpSpPr>
          <p:cNvPr id="7" name="组合 6"/>
          <p:cNvGrpSpPr/>
          <p:nvPr/>
        </p:nvGrpSpPr>
        <p:grpSpPr>
          <a:xfrm>
            <a:off x="4866640" y="3024505"/>
            <a:ext cx="6104890" cy="3833495"/>
            <a:chOff x="7664" y="4763"/>
            <a:chExt cx="9614" cy="6037"/>
          </a:xfrm>
        </p:grpSpPr>
        <p:sp>
          <p:nvSpPr>
            <p:cNvPr id="515" name="图形"/>
            <p:cNvSpPr/>
            <p:nvPr/>
          </p:nvSpPr>
          <p:spPr>
            <a:xfrm>
              <a:off x="7664" y="7759"/>
              <a:ext cx="4673" cy="2785"/>
            </a:xfrm>
            <a:prstGeom prst="rect">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16" name="图形"/>
            <p:cNvSpPr/>
            <p:nvPr/>
          </p:nvSpPr>
          <p:spPr>
            <a:xfrm>
              <a:off x="12605" y="4763"/>
              <a:ext cx="4673" cy="2785"/>
            </a:xfrm>
            <a:prstGeom prst="rect">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grpSp>
          <p:nvGrpSpPr>
            <p:cNvPr id="518" name="组合 14"/>
            <p:cNvGrpSpPr/>
            <p:nvPr/>
          </p:nvGrpSpPr>
          <p:grpSpPr>
            <a:xfrm>
              <a:off x="7905" y="7926"/>
              <a:ext cx="4206" cy="2874"/>
              <a:chOff x="8027" y="6046"/>
              <a:chExt cx="4206" cy="2874"/>
            </a:xfrm>
          </p:grpSpPr>
          <p:sp>
            <p:nvSpPr>
              <p:cNvPr id="519" name="图形"/>
              <p:cNvSpPr txBox="1"/>
              <p:nvPr/>
            </p:nvSpPr>
            <p:spPr>
              <a:xfrm>
                <a:off x="8027" y="6046"/>
                <a:ext cx="3488" cy="822"/>
              </a:xfrm>
              <a:prstGeom prst="rect">
                <a:avLst/>
              </a:prstGeom>
              <a:noFill/>
            </p:spPr>
            <p:txBody>
              <a:bodyPr wrap="square" rtlCol="0">
                <a:spAutoFit/>
              </a:bodyPr>
              <a:lstStyle/>
              <a:p>
                <a:pPr algn="dist"/>
                <a:r>
                  <a:rPr lang="zh-CN" altLang="en-US" sz="2800" b="1" dirty="0">
                    <a:solidFill>
                      <a:schemeClr val="bg1"/>
                    </a:solidFill>
                    <a:latin typeface="Arial" panose="020B0604020202020204"/>
                    <a:ea typeface="微软雅黑" panose="020B0503020204020204" pitchFamily="34" charset="-122"/>
                    <a:cs typeface="思源黑体 Medium" panose="020B0600000000000000" charset="-122"/>
                    <a:sym typeface="Arial" panose="020B0604020202020204"/>
                  </a:rPr>
                  <a:t>高速模型</a:t>
                </a:r>
              </a:p>
            </p:txBody>
          </p:sp>
          <p:sp>
            <p:nvSpPr>
              <p:cNvPr id="520" name="图形"/>
              <p:cNvSpPr txBox="1"/>
              <p:nvPr/>
            </p:nvSpPr>
            <p:spPr>
              <a:xfrm>
                <a:off x="8027" y="6752"/>
                <a:ext cx="4206" cy="2168"/>
              </a:xfrm>
              <a:prstGeom prst="rect">
                <a:avLst/>
              </a:prstGeom>
              <a:noFill/>
            </p:spPr>
            <p:txBody>
              <a:bodyPr wrap="square" rtlCol="0">
                <a:noAutofit/>
              </a:bodyPr>
              <a:lstStyle/>
              <a:p>
                <a:pPr>
                  <a:lnSpc>
                    <a:spcPct val="100000"/>
                  </a:lnSpc>
                </a:pPr>
                <a:endParaRPr lang="zh-CN" altLang="en-US" sz="2000" dirty="0">
                  <a:solidFill>
                    <a:schemeClr val="bg1"/>
                  </a:solidFill>
                  <a:latin typeface="微软雅黑" panose="020B0503020204020204" pitchFamily="34" charset="-122"/>
                  <a:ea typeface="微软雅黑" panose="020B0503020204020204" pitchFamily="34" charset="-122"/>
                  <a:cs typeface="思源黑体 Medium" panose="020B0600000000000000" charset="-122"/>
                  <a:sym typeface="Arial" panose="020B0604020202020204"/>
                </a:endParaRPr>
              </a:p>
              <a:p>
                <a:pPr>
                  <a:lnSpc>
                    <a:spcPct val="100000"/>
                  </a:lnSpc>
                </a:pPr>
                <a:r>
                  <a:rPr lang="zh-CN" altLang="en-US" sz="2000" b="1" dirty="0">
                    <a:solidFill>
                      <a:schemeClr val="bg1"/>
                    </a:solidFill>
                    <a:latin typeface="微软雅黑" panose="020B0503020204020204" pitchFamily="34" charset="-122"/>
                    <a:ea typeface="微软雅黑" panose="020B0503020204020204" pitchFamily="34" charset="-122"/>
                    <a:cs typeface="思源黑体 Medium" panose="020B0600000000000000" charset="-122"/>
                    <a:sym typeface="Arial" panose="020B0604020202020204"/>
                  </a:rPr>
                  <a:t>响应速度：平均响应时间低于</a:t>
                </a:r>
                <a:r>
                  <a:rPr lang="en-US" altLang="zh-CN" sz="2000" b="1" dirty="0">
                    <a:solidFill>
                      <a:schemeClr val="bg1"/>
                    </a:solidFill>
                    <a:latin typeface="微软雅黑" panose="020B0503020204020204" pitchFamily="34" charset="-122"/>
                    <a:ea typeface="微软雅黑" panose="020B0503020204020204" pitchFamily="34" charset="-122"/>
                    <a:cs typeface="思源黑体 Medium" panose="020B0600000000000000" charset="-122"/>
                    <a:sym typeface="Arial" panose="020B0604020202020204"/>
                  </a:rPr>
                  <a:t> 500 </a:t>
                </a:r>
                <a:r>
                  <a:rPr lang="zh-CN" altLang="en-US" sz="2000" b="1" dirty="0">
                    <a:solidFill>
                      <a:schemeClr val="bg1"/>
                    </a:solidFill>
                    <a:latin typeface="微软雅黑" panose="020B0503020204020204" pitchFamily="34" charset="-122"/>
                    <a:ea typeface="微软雅黑" panose="020B0503020204020204" pitchFamily="34" charset="-122"/>
                    <a:cs typeface="思源黑体 Medium" panose="020B0600000000000000" charset="-122"/>
                    <a:sym typeface="Arial" panose="020B0604020202020204"/>
                  </a:rPr>
                  <a:t>毫秒</a:t>
                </a:r>
              </a:p>
            </p:txBody>
          </p:sp>
        </p:grpSp>
        <p:grpSp>
          <p:nvGrpSpPr>
            <p:cNvPr id="521" name="组合 16"/>
            <p:cNvGrpSpPr/>
            <p:nvPr/>
          </p:nvGrpSpPr>
          <p:grpSpPr>
            <a:xfrm>
              <a:off x="12873" y="4989"/>
              <a:ext cx="4208" cy="2228"/>
              <a:chOff x="8054" y="6105"/>
              <a:chExt cx="4208" cy="2228"/>
            </a:xfrm>
          </p:grpSpPr>
          <p:sp>
            <p:nvSpPr>
              <p:cNvPr id="522" name="图形"/>
              <p:cNvSpPr txBox="1"/>
              <p:nvPr/>
            </p:nvSpPr>
            <p:spPr>
              <a:xfrm>
                <a:off x="8054" y="6105"/>
                <a:ext cx="3762" cy="822"/>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cs typeface="思源黑体 Medium" panose="020B0600000000000000" charset="-122"/>
                    <a:sym typeface="Arial" panose="020B0604020202020204"/>
                  </a:rPr>
                  <a:t>评价指标</a:t>
                </a:r>
              </a:p>
            </p:txBody>
          </p:sp>
          <p:sp>
            <p:nvSpPr>
              <p:cNvPr id="523" name="图形"/>
              <p:cNvSpPr txBox="1"/>
              <p:nvPr/>
            </p:nvSpPr>
            <p:spPr>
              <a:xfrm>
                <a:off x="8055" y="6778"/>
                <a:ext cx="4207" cy="1555"/>
              </a:xfrm>
              <a:prstGeom prst="rect">
                <a:avLst/>
              </a:prstGeom>
              <a:noFill/>
            </p:spPr>
            <p:txBody>
              <a:bodyPr wrap="square" rtlCol="0">
                <a:noAutofit/>
              </a:bodyPr>
              <a:lstStyle/>
              <a:p>
                <a:pPr>
                  <a:lnSpc>
                    <a:spcPct val="150000"/>
                  </a:lnSpc>
                </a:pPr>
                <a:r>
                  <a:rPr lang="en-US" alt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BLUE</a:t>
                </a:r>
                <a:r>
                  <a:rPr lang="zh-CN" altLang="en-US"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分数</a:t>
                </a:r>
              </a:p>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响应速度</a:t>
                </a:r>
              </a:p>
            </p:txBody>
          </p:sp>
        </p:grpSp>
      </p:grpSp>
      <p:pic>
        <p:nvPicPr>
          <p:cNvPr id="3" name="图片 2"/>
          <p:cNvPicPr>
            <a:picLocks noChangeAspect="1"/>
          </p:cNvPicPr>
          <p:nvPr/>
        </p:nvPicPr>
        <p:blipFill>
          <a:blip r:embed="rId3"/>
          <a:stretch>
            <a:fillRect/>
          </a:stretch>
        </p:blipFill>
        <p:spPr>
          <a:xfrm>
            <a:off x="7833995" y="4923790"/>
            <a:ext cx="3200400" cy="1771650"/>
          </a:xfrm>
          <a:prstGeom prst="rect">
            <a:avLst/>
          </a:prstGeom>
        </p:spPr>
      </p:pic>
      <p:sp>
        <p:nvSpPr>
          <p:cNvPr id="2" name="文本框 1"/>
          <p:cNvSpPr txBox="1"/>
          <p:nvPr/>
        </p:nvSpPr>
        <p:spPr>
          <a:xfrm>
            <a:off x="8004175" y="994410"/>
            <a:ext cx="3838575" cy="1301750"/>
          </a:xfrm>
          <a:prstGeom prst="rect">
            <a:avLst/>
          </a:prstGeom>
          <a:noFill/>
        </p:spPr>
        <p:txBody>
          <a:bodyPr wrap="square" rtlCol="0">
            <a:noAutofit/>
          </a:bodyPr>
          <a:lstStyle/>
          <a:p>
            <a:r>
              <a:rPr lang="zh-CN" altLang="en-US" sz="2800" b="1">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已</a:t>
            </a:r>
            <a:r>
              <a:rPr lang="zh-CN" altLang="en-US" sz="3600" b="1">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达到甚至超过</a:t>
            </a:r>
            <a:r>
              <a:rPr lang="zh-CN" altLang="en-US" sz="2800" b="1">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当今主流开源基线模型！</a:t>
            </a:r>
          </a:p>
        </p:txBody>
      </p:sp>
      <p:pic>
        <p:nvPicPr>
          <p:cNvPr id="10" name="图片 9"/>
          <p:cNvPicPr>
            <a:picLocks noChangeAspect="1"/>
          </p:cNvPicPr>
          <p:nvPr/>
        </p:nvPicPr>
        <p:blipFill>
          <a:blip r:embed="rId4"/>
          <a:stretch>
            <a:fillRect/>
          </a:stretch>
        </p:blipFill>
        <p:spPr>
          <a:xfrm>
            <a:off x="4734560" y="3023870"/>
            <a:ext cx="3197860" cy="1899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checkerboard(across)">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1" name="图形"/>
          <p:cNvGrpSpPr/>
          <p:nvPr/>
        </p:nvGrpSpPr>
        <p:grpSpPr>
          <a:xfrm>
            <a:off x="-477520" y="-918210"/>
            <a:ext cx="4785360" cy="2447925"/>
            <a:chOff x="-752" y="-1446"/>
            <a:chExt cx="7536" cy="3855"/>
          </a:xfrm>
        </p:grpSpPr>
        <p:sp>
          <p:nvSpPr>
            <p:cNvPr id="118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83" name="图形"/>
            <p:cNvSpPr txBox="1"/>
            <p:nvPr/>
          </p:nvSpPr>
          <p:spPr>
            <a:xfrm>
              <a:off x="1354" y="611"/>
              <a:ext cx="5430" cy="918"/>
            </a:xfrm>
            <a:prstGeom prst="rect">
              <a:avLst/>
            </a:prstGeom>
            <a:noFill/>
          </p:spPr>
          <p:txBody>
            <a:bodyPr wrap="square" lIns="0" tIns="0" rIns="0" bIns="0" rtlCol="0">
              <a:noAutofit/>
            </a:bodyPr>
            <a:lstStyle/>
            <a:p>
              <a:pPr algn="dist"/>
              <a:r>
                <a:rPr lang="zh-CN" sz="36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前后端跨域访问</a:t>
              </a:r>
            </a:p>
          </p:txBody>
        </p:sp>
        <p:sp>
          <p:nvSpPr>
            <p:cNvPr id="1184"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185" name="图形"/>
          <p:cNvGrpSpPr/>
          <p:nvPr/>
        </p:nvGrpSpPr>
        <p:grpSpPr>
          <a:xfrm>
            <a:off x="693422" y="1519949"/>
            <a:ext cx="5768975" cy="4428769"/>
            <a:chOff x="1636" y="2445"/>
            <a:chExt cx="9085" cy="6343"/>
          </a:xfrm>
        </p:grpSpPr>
        <p:sp>
          <p:nvSpPr>
            <p:cNvPr id="1186" name="图形"/>
            <p:cNvSpPr txBox="1"/>
            <p:nvPr/>
          </p:nvSpPr>
          <p:spPr>
            <a:xfrm>
              <a:off x="1636" y="2445"/>
              <a:ext cx="9085" cy="6343"/>
            </a:xfrm>
            <a:prstGeom prst="roundRect">
              <a:avLst>
                <a:gd name="adj" fmla="val 2697"/>
              </a:avLst>
            </a:prstGeom>
            <a:noFill/>
            <a:ln w="25400">
              <a:solidFill>
                <a:srgbClr val="F7B75D"/>
              </a:solidFill>
            </a:ln>
            <a:effectLst/>
          </p:spPr>
          <p:txBody>
            <a:bodyPr vert="horz" wrap="square" lIns="71755" tIns="0" rIns="71755" bIns="0" numCol="1" spcCol="0" rtlCol="0" fromWordArt="0" anchor="ctr" anchorCtr="0" forceAA="0" compatLnSpc="0">
              <a:noAutofit/>
            </a:bodyPr>
            <a:lstStyle/>
            <a:p>
              <a:pPr lvl="0" algn="ctr">
                <a:buClrTx/>
                <a:buSzTx/>
                <a:buFontTx/>
              </a:pPr>
              <a:endParaRPr lang="zh-CN" altLang="en-US">
                <a:solidFill>
                  <a:srgbClr val="C28B50"/>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187" name="图形"/>
            <p:cNvSpPr/>
            <p:nvPr/>
          </p:nvSpPr>
          <p:spPr>
            <a:xfrm>
              <a:off x="1898" y="2592"/>
              <a:ext cx="8651" cy="1982"/>
            </a:xfrm>
            <a:prstGeom prst="rect">
              <a:avLst/>
            </a:prstGeom>
          </p:spPr>
          <p:txBody>
            <a:bodyPr wrap="square">
              <a:spAutoFit/>
            </a:bodyPr>
            <a:lstStyle/>
            <a:p>
              <a:pPr marL="0" lvl="0" algn="l" defTabSz="914400">
                <a:lnSpc>
                  <a:spcPct val="150000"/>
                </a:lnSpc>
                <a:defRPr sz="1800">
                  <a:solidFill>
                    <a:schemeClr val="tx1">
                      <a:alpha val="100000"/>
                    </a:schemeClr>
                  </a:solidFill>
                  <a:latin typeface="思源黑体 Normal"/>
                  <a:ea typeface="思源黑体 Normal"/>
                  <a:cs typeface="+mn-cs"/>
                </a:defRPr>
              </a:pPr>
              <a:r>
                <a:rPr lang="en-US" altLang="zh-CN" sz="3600" b="0" i="0" u="none" strike="noStrike" dirty="0">
                  <a:ln/>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FastApi</a:t>
              </a:r>
              <a:r>
                <a:rPr lang="zh-CN" sz="2000" b="0" i="0" u="none" strike="noStrike"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是一种基于 </a:t>
              </a:r>
              <a:r>
                <a:rPr lang="zh-CN" sz="2000" b="0" i="0" u="none" strike="noStrike"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hlinkClick r:id="rId3"/>
                </a:rPr>
                <a:t>HTTP</a:t>
              </a:r>
              <a:r>
                <a:rPr lang="zh-CN" sz="2000" b="0" i="0" u="none" strike="noStrike" dirty="0">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头的安全机制，允许或限制网页从另一个域名加载资源。</a:t>
              </a:r>
            </a:p>
          </p:txBody>
        </p:sp>
        <p:sp>
          <p:nvSpPr>
            <p:cNvPr id="1188" name="图形"/>
            <p:cNvSpPr/>
            <p:nvPr/>
          </p:nvSpPr>
          <p:spPr>
            <a:xfrm>
              <a:off x="1856" y="5179"/>
              <a:ext cx="8740" cy="3437"/>
            </a:xfrm>
            <a:prstGeom prst="rect">
              <a:avLst/>
            </a:prstGeom>
          </p:spPr>
          <p:txBody>
            <a:bodyPr wrap="square">
              <a:spAutoFit/>
              <a:scene3d>
                <a:camera prst="orthographicFront"/>
                <a:lightRig rig="threePt" dir="t"/>
              </a:scene3d>
              <a:sp3d contourW="12700"/>
            </a:bodyPr>
            <a:lstStyle/>
            <a:p>
              <a:pPr marL="0" lvl="0" algn="l" defTabSz="914400">
                <a:lnSpc>
                  <a:spcPct val="150000"/>
                </a:lnSpc>
                <a:defRPr sz="1800">
                  <a:solidFill>
                    <a:schemeClr val="tx1">
                      <a:alpha val="100000"/>
                    </a:schemeClr>
                  </a:solidFill>
                  <a:latin typeface="思源黑体 Normal"/>
                  <a:ea typeface="思源黑体 Normal"/>
                  <a:cs typeface="+mn-cs"/>
                </a:defRPr>
              </a:pPr>
              <a:r>
                <a:rPr lang="zh-CN" sz="2000" b="0" i="0" u="none" strike="noStrike">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当一个网页向</a:t>
              </a:r>
              <a:r>
                <a:rPr lang="zh-CN" sz="2000" b="1" i="0" u="none" strike="noStrike">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不同源</a:t>
              </a:r>
              <a:r>
                <a:rPr lang="zh-CN" sz="2000" b="0" i="0" u="none" strike="noStrike">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发出请求时，CORS 会通过以下几个步骤来处理：</a:t>
              </a:r>
              <a:br>
                <a:rPr lang="zh-CN" sz="2000" b="0" i="0" u="none" strike="noStrike">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br>
              <a:r>
                <a:rPr lang="zh-CN" sz="2000" b="1" i="0" u="none" strike="noStrike">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预检请求（Preflight Request）</a:t>
              </a:r>
              <a:br>
                <a:rPr lang="zh-CN" sz="2000" b="0" i="0" u="none" strike="noStrike">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br>
              <a:r>
                <a:rPr lang="zh-CN" sz="2000" b="1" i="0" u="none" strike="noStrike">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实际请求（Actual Request）</a:t>
              </a:r>
            </a:p>
            <a:p>
              <a:pPr marL="0" lvl="0" algn="l" defTabSz="914400">
                <a:lnSpc>
                  <a:spcPct val="150000"/>
                </a:lnSpc>
                <a:defRPr sz="1800">
                  <a:solidFill>
                    <a:schemeClr val="tx1">
                      <a:alpha val="100000"/>
                    </a:schemeClr>
                  </a:solidFill>
                  <a:latin typeface="思源黑体 Normal"/>
                  <a:ea typeface="思源黑体 Normal"/>
                  <a:cs typeface="+mn-cs"/>
                </a:defRPr>
              </a:pPr>
              <a:r>
                <a:rPr lang="zh-CN" sz="2000" b="1" i="0" u="none" strike="noStrike">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响应头部（Response Headers</a:t>
              </a:r>
              <a:r>
                <a:rPr lang="zh-CN" sz="2000" b="0" i="0" u="none" strike="noStrike">
                  <a:solidFill>
                    <a:schemeClr val="tx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p>
          </p:txBody>
        </p:sp>
        <p:cxnSp>
          <p:nvCxnSpPr>
            <p:cNvPr id="1189" name="图形"/>
            <p:cNvCxnSpPr/>
            <p:nvPr/>
          </p:nvCxnSpPr>
          <p:spPr>
            <a:xfrm>
              <a:off x="2029" y="5075"/>
              <a:ext cx="8299" cy="0"/>
            </a:xfrm>
            <a:prstGeom prst="line">
              <a:avLst/>
            </a:prstGeom>
            <a:ln w="38100">
              <a:solidFill>
                <a:srgbClr val="566CD3"/>
              </a:solidFill>
            </a:ln>
          </p:spPr>
          <p:style>
            <a:lnRef idx="1">
              <a:schemeClr val="accent1"/>
            </a:lnRef>
            <a:fillRef idx="0">
              <a:schemeClr val="accent1"/>
            </a:fillRef>
            <a:effectRef idx="0">
              <a:schemeClr val="accent1"/>
            </a:effectRef>
            <a:fontRef idx="minor">
              <a:schemeClr val="tx1"/>
            </a:fontRef>
          </p:style>
        </p:cxnSp>
      </p:grpSp>
      <p:pic>
        <p:nvPicPr>
          <p:cNvPr id="1190" name="图片 1189"/>
          <p:cNvPicPr>
            <a:picLocks noChangeAspect="1"/>
          </p:cNvPicPr>
          <p:nvPr/>
        </p:nvPicPr>
        <p:blipFill>
          <a:blip r:embed="rId4"/>
          <a:stretch>
            <a:fillRect/>
          </a:stretch>
        </p:blipFill>
        <p:spPr>
          <a:xfrm>
            <a:off x="6704967" y="1519949"/>
            <a:ext cx="4672329" cy="4426137"/>
          </a:xfrm>
          <a:prstGeom prst="rect">
            <a:avLst/>
          </a:prstGeom>
        </p:spPr>
      </p:pic>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withEffect">
                                  <p:stCondLst>
                                    <p:cond delay="0"/>
                                  </p:stCondLst>
                                  <p:childTnLst>
                                    <p:set>
                                      <p:cBhvr>
                                        <p:cTn id="6" dur="1000" fill="hold">
                                          <p:stCondLst>
                                            <p:cond delay="0"/>
                                          </p:stCondLst>
                                        </p:cTn>
                                        <p:tgtEl>
                                          <p:spTgt spid="1185"/>
                                        </p:tgtEl>
                                        <p:attrNameLst>
                                          <p:attrName>style.visibility</p:attrName>
                                        </p:attrNameLst>
                                      </p:cBhvr>
                                      <p:to>
                                        <p:strVal val="visible"/>
                                      </p:to>
                                    </p:set>
                                    <p:animEffect transition="in" filter="strips(upRight)">
                                      <p:cBhvr>
                                        <p:cTn id="7" dur="1000"/>
                                        <p:tgtEl>
                                          <p:spTgt spid="1185"/>
                                        </p:tgtEl>
                                      </p:cBhvr>
                                    </p:animEffect>
                                  </p:childTnLst>
                                </p:cTn>
                              </p:par>
                            </p:childTnLst>
                          </p:cTn>
                        </p:par>
                        <p:par>
                          <p:cTn id="8" fill="hold">
                            <p:stCondLst>
                              <p:cond delay="1000"/>
                            </p:stCondLst>
                            <p:childTnLst>
                              <p:par>
                                <p:cTn id="9" presetID="18" presetClass="entr" presetSubtype="6" fill="hold" nodeType="afterEffect">
                                  <p:stCondLst>
                                    <p:cond delay="0"/>
                                  </p:stCondLst>
                                  <p:childTnLst>
                                    <p:set>
                                      <p:cBhvr>
                                        <p:cTn id="10" dur="1000" fill="hold">
                                          <p:stCondLst>
                                            <p:cond delay="0"/>
                                          </p:stCondLst>
                                        </p:cTn>
                                        <p:tgtEl>
                                          <p:spTgt spid="1190"/>
                                        </p:tgtEl>
                                        <p:attrNameLst>
                                          <p:attrName>style.visibility</p:attrName>
                                        </p:attrNameLst>
                                      </p:cBhvr>
                                      <p:to>
                                        <p:strVal val="visible"/>
                                      </p:to>
                                    </p:set>
                                    <p:animEffect transition="in" filter="strips(downRight)">
                                      <p:cBhvr>
                                        <p:cTn id="11" dur="1000"/>
                                        <p:tgtEl>
                                          <p:spTgt spid="1190"/>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70000">
              <a:srgbClr val="B9B8F1">
                <a:alpha val="0"/>
              </a:srgbClr>
            </a:gs>
          </a:gsLst>
          <a:lin ang="18900000" scaled="0"/>
        </a:gradFill>
        <a:effectLst/>
      </p:bgPr>
    </p:bg>
    <p:spTree>
      <p:nvGrpSpPr>
        <p:cNvPr id="1" name=""/>
        <p:cNvGrpSpPr/>
        <p:nvPr/>
      </p:nvGrpSpPr>
      <p:grpSpPr>
        <a:xfrm>
          <a:off x="0" y="0"/>
          <a:ext cx="0" cy="0"/>
          <a:chOff x="0" y="0"/>
          <a:chExt cx="0" cy="0"/>
        </a:xfrm>
      </p:grpSpPr>
      <p:grpSp>
        <p:nvGrpSpPr>
          <p:cNvPr id="1253" name="图形"/>
          <p:cNvGrpSpPr/>
          <p:nvPr/>
        </p:nvGrpSpPr>
        <p:grpSpPr>
          <a:xfrm>
            <a:off x="0" y="-1069340"/>
            <a:ext cx="12516485" cy="7927340"/>
            <a:chOff x="0" y="-1684"/>
            <a:chExt cx="19711" cy="12484"/>
          </a:xfrm>
        </p:grpSpPr>
        <p:pic>
          <p:nvPicPr>
            <p:cNvPr id="1254" name="图形" descr="D:/包图网/5b601bfb6affe.png5b601bfb6affe"/>
            <p:cNvPicPr>
              <a:picLocks noChangeAspect="1"/>
            </p:cNvPicPr>
            <p:nvPr/>
          </p:nvPicPr>
          <p:blipFill>
            <a:blip r:embed="rId3"/>
            <a:srcRect t="-2777" b="-1468"/>
            <a:stretch>
              <a:fillRect/>
            </a:stretch>
          </p:blipFill>
          <p:spPr>
            <a:xfrm>
              <a:off x="0" y="4674"/>
              <a:ext cx="7780" cy="5896"/>
            </a:xfrm>
            <a:prstGeom prst="rect">
              <a:avLst/>
            </a:prstGeom>
          </p:spPr>
        </p:pic>
        <p:sp>
          <p:nvSpPr>
            <p:cNvPr id="1255" name="图形"/>
            <p:cNvSpPr/>
            <p:nvPr/>
          </p:nvSpPr>
          <p:spPr>
            <a:xfrm rot="8580000" flipV="1">
              <a:off x="17359" y="-1684"/>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1256" name="组合 138"/>
            <p:cNvGrpSpPr/>
            <p:nvPr/>
          </p:nvGrpSpPr>
          <p:grpSpPr>
            <a:xfrm>
              <a:off x="2320" y="2938"/>
              <a:ext cx="2821" cy="1006"/>
              <a:chOff x="1595" y="1487"/>
              <a:chExt cx="4594" cy="1639"/>
            </a:xfrm>
            <a:gradFill>
              <a:gsLst>
                <a:gs pos="0">
                  <a:srgbClr val="B9B8F1">
                    <a:alpha val="100000"/>
                  </a:srgbClr>
                </a:gs>
                <a:gs pos="94000">
                  <a:srgbClr val="B9B8F1">
                    <a:alpha val="0"/>
                  </a:srgbClr>
                </a:gs>
              </a:gsLst>
              <a:lin ang="10800000" scaled="0"/>
            </a:gradFill>
          </p:grpSpPr>
          <p:grpSp>
            <p:nvGrpSpPr>
              <p:cNvPr id="1257" name="组合 51"/>
              <p:cNvGrpSpPr/>
              <p:nvPr/>
            </p:nvGrpSpPr>
            <p:grpSpPr>
              <a:xfrm>
                <a:off x="1595" y="1487"/>
                <a:ext cx="4594" cy="226"/>
                <a:chOff x="1595" y="1487"/>
                <a:chExt cx="4594" cy="226"/>
              </a:xfrm>
              <a:grpFill/>
            </p:grpSpPr>
            <p:sp>
              <p:nvSpPr>
                <p:cNvPr id="1258"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59"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0"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1"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2"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3"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4"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65" name="组合 52"/>
              <p:cNvGrpSpPr/>
              <p:nvPr/>
            </p:nvGrpSpPr>
            <p:grpSpPr>
              <a:xfrm>
                <a:off x="1595" y="1958"/>
                <a:ext cx="4594" cy="226"/>
                <a:chOff x="1595" y="1487"/>
                <a:chExt cx="4594" cy="226"/>
              </a:xfrm>
              <a:grpFill/>
            </p:grpSpPr>
            <p:sp>
              <p:nvSpPr>
                <p:cNvPr id="1266"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7"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8"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9"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0"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1"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2"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73" name="组合 120"/>
              <p:cNvGrpSpPr/>
              <p:nvPr/>
            </p:nvGrpSpPr>
            <p:grpSpPr>
              <a:xfrm>
                <a:off x="1595" y="2429"/>
                <a:ext cx="4594" cy="226"/>
                <a:chOff x="1595" y="1487"/>
                <a:chExt cx="4594" cy="226"/>
              </a:xfrm>
              <a:grpFill/>
            </p:grpSpPr>
            <p:sp>
              <p:nvSpPr>
                <p:cNvPr id="1274"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5"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6"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7"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8"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9"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0"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81" name="组合 128"/>
              <p:cNvGrpSpPr/>
              <p:nvPr/>
            </p:nvGrpSpPr>
            <p:grpSpPr>
              <a:xfrm>
                <a:off x="1595" y="2900"/>
                <a:ext cx="4594" cy="226"/>
                <a:chOff x="1595" y="1487"/>
                <a:chExt cx="4594" cy="226"/>
              </a:xfrm>
              <a:grpFill/>
            </p:grpSpPr>
            <p:sp>
              <p:nvSpPr>
                <p:cNvPr id="1282"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3"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4"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5"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6"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7"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8"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sp>
          <p:nvSpPr>
            <p:cNvPr id="1289" name="图形"/>
            <p:cNvSpPr/>
            <p:nvPr/>
          </p:nvSpPr>
          <p:spPr>
            <a:xfrm>
              <a:off x="0" y="10796"/>
              <a:ext cx="4" cy="4"/>
            </a:xfrm>
            <a:custGeom>
              <a:avLst/>
              <a:gdLst/>
              <a:ahLst/>
              <a:cxnLst>
                <a:cxn ang="3">
                  <a:pos x="hc" y="t"/>
                </a:cxn>
                <a:cxn ang="cd2">
                  <a:pos x="l" y="vc"/>
                </a:cxn>
                <a:cxn ang="cd4">
                  <a:pos x="hc" y="b"/>
                </a:cxn>
                <a:cxn ang="0">
                  <a:pos x="r" y="vc"/>
                </a:cxn>
              </a:cxnLst>
              <a:rect l="l" t="t" r="r" b="b"/>
              <a:pathLst>
                <a:path w="4" h="4">
                  <a:moveTo>
                    <a:pt x="0" y="0"/>
                  </a:moveTo>
                  <a:lnTo>
                    <a:pt x="4" y="4"/>
                  </a:lnTo>
                  <a:lnTo>
                    <a:pt x="0" y="4"/>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290" name="图形"/>
            <p:cNvSpPr/>
            <p:nvPr/>
          </p:nvSpPr>
          <p:spPr>
            <a:xfrm>
              <a:off x="0" y="2210"/>
              <a:ext cx="11364" cy="8590"/>
            </a:xfrm>
            <a:custGeom>
              <a:avLst/>
              <a:gdLst/>
              <a:ahLst/>
              <a:cxnLst>
                <a:cxn ang="3">
                  <a:pos x="hc" y="t"/>
                </a:cxn>
                <a:cxn ang="cd2">
                  <a:pos x="l" y="vc"/>
                </a:cxn>
                <a:cxn ang="cd4">
                  <a:pos x="hc" y="b"/>
                </a:cxn>
                <a:cxn ang="0">
                  <a:pos x="r" y="vc"/>
                </a:cxn>
              </a:cxnLst>
              <a:rect l="l" t="t" r="r" b="b"/>
              <a:pathLst>
                <a:path w="11364" h="8590">
                  <a:moveTo>
                    <a:pt x="677" y="0"/>
                  </a:moveTo>
                  <a:cubicBezTo>
                    <a:pt x="949" y="-1"/>
                    <a:pt x="1204" y="66"/>
                    <a:pt x="1429" y="218"/>
                  </a:cubicBezTo>
                  <a:cubicBezTo>
                    <a:pt x="2008" y="798"/>
                    <a:pt x="1883" y="1992"/>
                    <a:pt x="2745" y="2676"/>
                  </a:cubicBezTo>
                  <a:cubicBezTo>
                    <a:pt x="3748" y="3184"/>
                    <a:pt x="4863" y="2726"/>
                    <a:pt x="6368" y="3236"/>
                  </a:cubicBezTo>
                  <a:cubicBezTo>
                    <a:pt x="7486" y="4177"/>
                    <a:pt x="7194" y="5103"/>
                    <a:pt x="7858" y="5815"/>
                  </a:cubicBezTo>
                  <a:cubicBezTo>
                    <a:pt x="8574" y="6232"/>
                    <a:pt x="9738" y="5636"/>
                    <a:pt x="10848" y="6384"/>
                  </a:cubicBezTo>
                  <a:cubicBezTo>
                    <a:pt x="11491" y="6818"/>
                    <a:pt x="11469" y="7655"/>
                    <a:pt x="11131" y="8564"/>
                  </a:cubicBezTo>
                  <a:lnTo>
                    <a:pt x="11121" y="8590"/>
                  </a:lnTo>
                  <a:lnTo>
                    <a:pt x="4" y="8590"/>
                  </a:lnTo>
                  <a:lnTo>
                    <a:pt x="0" y="8587"/>
                  </a:lnTo>
                  <a:lnTo>
                    <a:pt x="0" y="129"/>
                  </a:lnTo>
                  <a:lnTo>
                    <a:pt x="13" y="124"/>
                  </a:lnTo>
                  <a:cubicBezTo>
                    <a:pt x="240" y="45"/>
                    <a:pt x="464" y="1"/>
                    <a:pt x="677" y="0"/>
                  </a:cubicBezTo>
                  <a:close/>
                </a:path>
              </a:pathLst>
            </a:custGeom>
            <a:gradFill>
              <a:gsLst>
                <a:gs pos="0">
                  <a:srgbClr val="B9B8F1">
                    <a:alpha val="30000"/>
                  </a:srgbClr>
                </a:gs>
                <a:gs pos="100000">
                  <a:srgbClr val="B9B8F1">
                    <a:alpha val="0"/>
                  </a:srgb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1291" name="图形"/>
          <p:cNvSpPr txBox="1"/>
          <p:nvPr/>
        </p:nvSpPr>
        <p:spPr>
          <a:xfrm>
            <a:off x="5222242" y="3194052"/>
            <a:ext cx="6322695" cy="1241425"/>
          </a:xfrm>
          <a:prstGeom prst="rect">
            <a:avLst/>
          </a:prstGeom>
          <a:noFill/>
        </p:spPr>
        <p:txBody>
          <a:bodyPr wrap="square" lIns="0" tIns="0" rIns="0" bIns="0" rtlCol="0">
            <a:noAutofit/>
          </a:bodyPr>
          <a:lstStyle/>
          <a:p>
            <a:pPr algn="dist"/>
            <a:r>
              <a:rPr lang="zh-CN" sz="80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项目展示</a:t>
            </a:r>
          </a:p>
        </p:txBody>
      </p:sp>
      <p:sp>
        <p:nvSpPr>
          <p:cNvPr id="1292" name="图形"/>
          <p:cNvSpPr txBox="1"/>
          <p:nvPr/>
        </p:nvSpPr>
        <p:spPr>
          <a:xfrm>
            <a:off x="6653215" y="4516120"/>
            <a:ext cx="3460750" cy="323850"/>
          </a:xfrm>
          <a:prstGeom prst="rect">
            <a:avLst/>
          </a:prstGeom>
          <a:noFill/>
        </p:spPr>
        <p:txBody>
          <a:bodyPr wrap="square" lIns="0" tIns="0" rIns="0" bIns="0" rtlCol="0">
            <a:spAutoFit/>
          </a:bodyPr>
          <a:lstStyle/>
          <a:p>
            <a:pPr algn="dist">
              <a:lnSpc>
                <a:spcPct val="150000"/>
              </a:lnSpc>
            </a:pPr>
            <a:r>
              <a:rPr lang="en-US" sz="1400">
                <a:ln>
                  <a:noFill/>
                </a:ln>
                <a:solidFill>
                  <a:schemeClr val="tx1">
                    <a:lumMod val="65000"/>
                    <a:lumOff val="35000"/>
                    <a:alpha val="100000"/>
                  </a:schemeClr>
                </a:solidFill>
                <a:effectLst/>
                <a:latin typeface="Arial" panose="020B0604020202020204"/>
                <a:ea typeface="微软雅黑" panose="020B0503020204020204" pitchFamily="34" charset="-122"/>
                <a:cs typeface="思源黑体 Normal"/>
                <a:sym typeface="Arial" panose="020B0604020202020204"/>
              </a:rPr>
              <a:t>The Social&amp;Commercial Value</a:t>
            </a:r>
          </a:p>
        </p:txBody>
      </p:sp>
      <p:grpSp>
        <p:nvGrpSpPr>
          <p:cNvPr id="1293" name="图形"/>
          <p:cNvGrpSpPr/>
          <p:nvPr/>
        </p:nvGrpSpPr>
        <p:grpSpPr>
          <a:xfrm>
            <a:off x="7793357" y="1932305"/>
            <a:ext cx="3750945" cy="849630"/>
            <a:chOff x="12273" y="2943"/>
            <a:chExt cx="5907" cy="1338"/>
          </a:xfrm>
        </p:grpSpPr>
        <p:sp>
          <p:nvSpPr>
            <p:cNvPr id="1294" name="图形"/>
            <p:cNvSpPr/>
            <p:nvPr/>
          </p:nvSpPr>
          <p:spPr>
            <a:xfrm>
              <a:off x="12273"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第</a:t>
              </a:r>
            </a:p>
          </p:txBody>
        </p:sp>
        <p:sp>
          <p:nvSpPr>
            <p:cNvPr id="1295" name="图形"/>
            <p:cNvSpPr/>
            <p:nvPr/>
          </p:nvSpPr>
          <p:spPr>
            <a:xfrm>
              <a:off x="13796" y="2943"/>
              <a:ext cx="1338" cy="1338"/>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sz="3600" b="1">
                  <a:latin typeface="宋体" panose="02010600030101010101" pitchFamily="2" charset="-122"/>
                  <a:ea typeface="宋体" panose="02010600030101010101" pitchFamily="2" charset="-122"/>
                  <a:cs typeface="思源黑体 Normal"/>
                  <a:sym typeface="Arial" panose="020B0604020202020204"/>
                </a:rPr>
                <a:t>四</a:t>
              </a:r>
            </a:p>
          </p:txBody>
        </p:sp>
        <p:sp>
          <p:nvSpPr>
            <p:cNvPr id="1296" name="图形"/>
            <p:cNvSpPr/>
            <p:nvPr/>
          </p:nvSpPr>
          <p:spPr>
            <a:xfrm>
              <a:off x="15319"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部</a:t>
              </a:r>
            </a:p>
          </p:txBody>
        </p:sp>
        <p:sp>
          <p:nvSpPr>
            <p:cNvPr id="1297" name="图形"/>
            <p:cNvSpPr/>
            <p:nvPr/>
          </p:nvSpPr>
          <p:spPr>
            <a:xfrm>
              <a:off x="16842"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分</a:t>
              </a:r>
            </a:p>
          </p:txBody>
        </p:sp>
      </p:grpSp>
      <p:grpSp>
        <p:nvGrpSpPr>
          <p:cNvPr id="1298" name="图形"/>
          <p:cNvGrpSpPr/>
          <p:nvPr/>
        </p:nvGrpSpPr>
        <p:grpSpPr>
          <a:xfrm>
            <a:off x="8990331" y="5836920"/>
            <a:ext cx="2555240" cy="444500"/>
            <a:chOff x="14158" y="9192"/>
            <a:chExt cx="4024" cy="700"/>
          </a:xfrm>
        </p:grpSpPr>
        <p:sp>
          <p:nvSpPr>
            <p:cNvPr id="1299" name="图形"/>
            <p:cNvSpPr/>
            <p:nvPr/>
          </p:nvSpPr>
          <p:spPr>
            <a:xfrm>
              <a:off x="14158" y="9192"/>
              <a:ext cx="701" cy="701"/>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300" name="图形"/>
            <p:cNvSpPr/>
            <p:nvPr/>
          </p:nvSpPr>
          <p:spPr>
            <a:xfrm>
              <a:off x="15266"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301" name="图形"/>
            <p:cNvSpPr/>
            <p:nvPr/>
          </p:nvSpPr>
          <p:spPr>
            <a:xfrm>
              <a:off x="16374"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302" name="图形"/>
            <p:cNvSpPr/>
            <p:nvPr/>
          </p:nvSpPr>
          <p:spPr>
            <a:xfrm>
              <a:off x="17482"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9" name="组合 18"/>
          <p:cNvGrpSpPr/>
          <p:nvPr/>
        </p:nvGrpSpPr>
        <p:grpSpPr>
          <a:xfrm>
            <a:off x="9503410" y="508000"/>
            <a:ext cx="2338705" cy="1039495"/>
            <a:chOff x="14966" y="800"/>
            <a:chExt cx="3683" cy="1637"/>
          </a:xfrm>
        </p:grpSpPr>
        <p:pic>
          <p:nvPicPr>
            <p:cNvPr id="17" name="图片 16"/>
            <p:cNvPicPr>
              <a:picLocks noChangeAspect="1"/>
            </p:cNvPicPr>
            <p:nvPr/>
          </p:nvPicPr>
          <p:blipFill>
            <a:blip r:embed="rId4"/>
            <a:stretch>
              <a:fillRect/>
            </a:stretch>
          </p:blipFill>
          <p:spPr>
            <a:xfrm>
              <a:off x="14966" y="800"/>
              <a:ext cx="1381" cy="1381"/>
            </a:xfrm>
            <a:prstGeom prst="rect">
              <a:avLst/>
            </a:prstGeom>
          </p:spPr>
        </p:pic>
        <p:sp>
          <p:nvSpPr>
            <p:cNvPr id="18" name="文本框 17"/>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53"/>
                                        </p:tgtEl>
                                        <p:attrNameLst>
                                          <p:attrName>style.visibility</p:attrName>
                                        </p:attrNameLst>
                                      </p:cBhvr>
                                      <p:to>
                                        <p:strVal val="visible"/>
                                      </p:to>
                                    </p:set>
                                    <p:animEffect transition="in" filter="fade">
                                      <p:cBhvr>
                                        <p:cTn id="7" dur="500"/>
                                        <p:tgtEl>
                                          <p:spTgt spid="1253"/>
                                        </p:tgtEl>
                                      </p:cBhvr>
                                    </p:animEffect>
                                  </p:childTnLst>
                                </p:cTn>
                              </p:par>
                              <p:par>
                                <p:cTn id="8" presetID="10" presetClass="entr" presetSubtype="0" fill="hold" nodeType="withEffect">
                                  <p:stCondLst>
                                    <p:cond delay="0"/>
                                  </p:stCondLst>
                                  <p:childTnLst>
                                    <p:set>
                                      <p:cBhvr>
                                        <p:cTn id="9" dur="1" fill="hold">
                                          <p:stCondLst>
                                            <p:cond delay="0"/>
                                          </p:stCondLst>
                                        </p:cTn>
                                        <p:tgtEl>
                                          <p:spTgt spid="1298"/>
                                        </p:tgtEl>
                                        <p:attrNameLst>
                                          <p:attrName>style.visibility</p:attrName>
                                        </p:attrNameLst>
                                      </p:cBhvr>
                                      <p:to>
                                        <p:strVal val="visible"/>
                                      </p:to>
                                    </p:set>
                                    <p:animEffect transition="in" filter="fade">
                                      <p:cBhvr>
                                        <p:cTn id="10" dur="500"/>
                                        <p:tgtEl>
                                          <p:spTgt spid="1298"/>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000" fill="hold">
                                          <p:stCondLst>
                                            <p:cond delay="0"/>
                                          </p:stCondLst>
                                        </p:cTn>
                                        <p:tgtEl>
                                          <p:spTgt spid="1293"/>
                                        </p:tgtEl>
                                        <p:attrNameLst>
                                          <p:attrName>style.visibility</p:attrName>
                                        </p:attrNameLst>
                                      </p:cBhvr>
                                      <p:to>
                                        <p:strVal val="visible"/>
                                      </p:to>
                                    </p:set>
                                    <p:anim calcmode="lin" valueType="num">
                                      <p:cBhvr>
                                        <p:cTn id="14" dur="1000" fill="hold"/>
                                        <p:tgtEl>
                                          <p:spTgt spid="1293"/>
                                        </p:tgtEl>
                                        <p:attrNameLst>
                                          <p:attrName>ppt_w</p:attrName>
                                        </p:attrNameLst>
                                      </p:cBhvr>
                                      <p:tavLst>
                                        <p:tav tm="0">
                                          <p:val>
                                            <p:fltVal val="0"/>
                                          </p:val>
                                        </p:tav>
                                        <p:tav tm="100000">
                                          <p:val>
                                            <p:strVal val="#ppt_w"/>
                                          </p:val>
                                        </p:tav>
                                      </p:tavLst>
                                    </p:anim>
                                    <p:anim calcmode="lin" valueType="num">
                                      <p:cBhvr>
                                        <p:cTn id="15" dur="1000" fill="hold"/>
                                        <p:tgtEl>
                                          <p:spTgt spid="1293"/>
                                        </p:tgtEl>
                                        <p:attrNameLst>
                                          <p:attrName>ppt_h</p:attrName>
                                        </p:attrNameLst>
                                      </p:cBhvr>
                                      <p:tavLst>
                                        <p:tav tm="0">
                                          <p:val>
                                            <p:fltVal val="0"/>
                                          </p:val>
                                        </p:tav>
                                        <p:tav tm="100000">
                                          <p:val>
                                            <p:strVal val="#ppt_h"/>
                                          </p:val>
                                        </p:tav>
                                      </p:tavLst>
                                    </p:anim>
                                  </p:childTnLst>
                                </p:cTn>
                              </p:par>
                            </p:childTnLst>
                          </p:cTn>
                        </p:par>
                        <p:par>
                          <p:cTn id="16" fill="hold">
                            <p:stCondLst>
                              <p:cond delay="1500"/>
                            </p:stCondLst>
                            <p:childTnLst>
                              <p:par>
                                <p:cTn id="17" presetID="23" presetClass="entr" presetSubtype="16" fill="hold" nodeType="afterEffect">
                                  <p:stCondLst>
                                    <p:cond delay="0"/>
                                  </p:stCondLst>
                                  <p:childTnLst>
                                    <p:set>
                                      <p:cBhvr>
                                        <p:cTn id="18" dur="1000" fill="hold">
                                          <p:stCondLst>
                                            <p:cond delay="0"/>
                                          </p:stCondLst>
                                        </p:cTn>
                                        <p:tgtEl>
                                          <p:spTgt spid="1291"/>
                                        </p:tgtEl>
                                        <p:attrNameLst>
                                          <p:attrName>style.visibility</p:attrName>
                                        </p:attrNameLst>
                                      </p:cBhvr>
                                      <p:to>
                                        <p:strVal val="visible"/>
                                      </p:to>
                                    </p:set>
                                    <p:anim calcmode="lin" valueType="num">
                                      <p:cBhvr>
                                        <p:cTn id="19" dur="1000" fill="hold"/>
                                        <p:tgtEl>
                                          <p:spTgt spid="1291"/>
                                        </p:tgtEl>
                                        <p:attrNameLst>
                                          <p:attrName>ppt_w</p:attrName>
                                        </p:attrNameLst>
                                      </p:cBhvr>
                                      <p:tavLst>
                                        <p:tav tm="0">
                                          <p:val>
                                            <p:fltVal val="0"/>
                                          </p:val>
                                        </p:tav>
                                        <p:tav tm="100000">
                                          <p:val>
                                            <p:strVal val="#ppt_w"/>
                                          </p:val>
                                        </p:tav>
                                      </p:tavLst>
                                    </p:anim>
                                    <p:anim calcmode="lin" valueType="num">
                                      <p:cBhvr>
                                        <p:cTn id="20" dur="1000" fill="hold"/>
                                        <p:tgtEl>
                                          <p:spTgt spid="1291"/>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000" fill="hold">
                                          <p:stCondLst>
                                            <p:cond delay="0"/>
                                          </p:stCondLst>
                                        </p:cTn>
                                        <p:tgtEl>
                                          <p:spTgt spid="1292"/>
                                        </p:tgtEl>
                                        <p:attrNameLst>
                                          <p:attrName>style.visibility</p:attrName>
                                        </p:attrNameLst>
                                      </p:cBhvr>
                                      <p:to>
                                        <p:strVal val="visible"/>
                                      </p:to>
                                    </p:set>
                                    <p:anim calcmode="lin" valueType="num">
                                      <p:cBhvr>
                                        <p:cTn id="23" dur="1000" fill="hold"/>
                                        <p:tgtEl>
                                          <p:spTgt spid="1292"/>
                                        </p:tgtEl>
                                        <p:attrNameLst>
                                          <p:attrName>ppt_w</p:attrName>
                                        </p:attrNameLst>
                                      </p:cBhvr>
                                      <p:tavLst>
                                        <p:tav tm="0">
                                          <p:val>
                                            <p:fltVal val="0"/>
                                          </p:val>
                                        </p:tav>
                                        <p:tav tm="100000">
                                          <p:val>
                                            <p:strVal val="#ppt_w"/>
                                          </p:val>
                                        </p:tav>
                                      </p:tavLst>
                                    </p:anim>
                                    <p:anim calcmode="lin" valueType="num">
                                      <p:cBhvr>
                                        <p:cTn id="24" dur="1000" fill="hold"/>
                                        <p:tgtEl>
                                          <p:spTgt spid="129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 name="图形"/>
          <p:cNvGrpSpPr/>
          <p:nvPr/>
        </p:nvGrpSpPr>
        <p:grpSpPr>
          <a:xfrm>
            <a:off x="-477520" y="-918210"/>
            <a:ext cx="1493520" cy="2447925"/>
            <a:chOff x="-752" y="-1446"/>
            <a:chExt cx="2352" cy="3855"/>
          </a:xfrm>
        </p:grpSpPr>
        <p:sp>
          <p:nvSpPr>
            <p:cNvPr id="15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54"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3" name="文本框 2"/>
          <p:cNvSpPr txBox="1"/>
          <p:nvPr/>
        </p:nvSpPr>
        <p:spPr>
          <a:xfrm>
            <a:off x="878840" y="442595"/>
            <a:ext cx="5662930" cy="583565"/>
          </a:xfrm>
          <a:prstGeom prst="rect">
            <a:avLst/>
          </a:prstGeom>
          <a:noFill/>
        </p:spPr>
        <p:txBody>
          <a:bodyPr wrap="square" rtlCol="0">
            <a:spAutoFit/>
          </a:bodyPr>
          <a:lstStyle/>
          <a:p>
            <a:r>
              <a:rPr lang="zh-CN" altLang="en-US" sz="3200" b="1">
                <a:latin typeface="微软雅黑" panose="020B0503020204020204" pitchFamily="34" charset="-122"/>
                <a:ea typeface="微软雅黑" panose="020B0503020204020204" pitchFamily="34" charset="-122"/>
              </a:rPr>
              <a:t>项目展示</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70000">
              <a:srgbClr val="B9B8F1">
                <a:alpha val="0"/>
              </a:srgbClr>
            </a:gs>
          </a:gsLst>
          <a:lin ang="18900000" scaled="0"/>
        </a:gradFill>
        <a:effectLst/>
      </p:bgPr>
    </p:bg>
    <p:spTree>
      <p:nvGrpSpPr>
        <p:cNvPr id="1" name=""/>
        <p:cNvGrpSpPr/>
        <p:nvPr/>
      </p:nvGrpSpPr>
      <p:grpSpPr>
        <a:xfrm>
          <a:off x="0" y="0"/>
          <a:ext cx="0" cy="0"/>
          <a:chOff x="0" y="0"/>
          <a:chExt cx="0" cy="0"/>
        </a:xfrm>
      </p:grpSpPr>
      <p:grpSp>
        <p:nvGrpSpPr>
          <p:cNvPr id="1253" name="图形"/>
          <p:cNvGrpSpPr/>
          <p:nvPr/>
        </p:nvGrpSpPr>
        <p:grpSpPr>
          <a:xfrm>
            <a:off x="0" y="-1069340"/>
            <a:ext cx="12516485" cy="7927340"/>
            <a:chOff x="0" y="-1684"/>
            <a:chExt cx="19711" cy="12484"/>
          </a:xfrm>
        </p:grpSpPr>
        <p:pic>
          <p:nvPicPr>
            <p:cNvPr id="1254" name="图形" descr="D:/包图网/5b601bfb6affe.png5b601bfb6affe"/>
            <p:cNvPicPr>
              <a:picLocks noChangeAspect="1"/>
            </p:cNvPicPr>
            <p:nvPr/>
          </p:nvPicPr>
          <p:blipFill>
            <a:blip r:embed="rId3"/>
            <a:srcRect t="-2777" b="-1468"/>
            <a:stretch>
              <a:fillRect/>
            </a:stretch>
          </p:blipFill>
          <p:spPr>
            <a:xfrm>
              <a:off x="0" y="4674"/>
              <a:ext cx="7780" cy="5896"/>
            </a:xfrm>
            <a:prstGeom prst="rect">
              <a:avLst/>
            </a:prstGeom>
          </p:spPr>
        </p:pic>
        <p:sp>
          <p:nvSpPr>
            <p:cNvPr id="1255" name="图形"/>
            <p:cNvSpPr/>
            <p:nvPr/>
          </p:nvSpPr>
          <p:spPr>
            <a:xfrm rot="8580000" flipV="1">
              <a:off x="17359" y="-1684"/>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1256" name="组合 138"/>
            <p:cNvGrpSpPr/>
            <p:nvPr/>
          </p:nvGrpSpPr>
          <p:grpSpPr>
            <a:xfrm>
              <a:off x="2320" y="2938"/>
              <a:ext cx="2821" cy="1006"/>
              <a:chOff x="1595" y="1487"/>
              <a:chExt cx="4594" cy="1639"/>
            </a:xfrm>
            <a:gradFill>
              <a:gsLst>
                <a:gs pos="0">
                  <a:srgbClr val="B9B8F1">
                    <a:alpha val="100000"/>
                  </a:srgbClr>
                </a:gs>
                <a:gs pos="94000">
                  <a:srgbClr val="B9B8F1">
                    <a:alpha val="0"/>
                  </a:srgbClr>
                </a:gs>
              </a:gsLst>
              <a:lin ang="10800000" scaled="0"/>
            </a:gradFill>
          </p:grpSpPr>
          <p:grpSp>
            <p:nvGrpSpPr>
              <p:cNvPr id="1257" name="组合 51"/>
              <p:cNvGrpSpPr/>
              <p:nvPr/>
            </p:nvGrpSpPr>
            <p:grpSpPr>
              <a:xfrm>
                <a:off x="1595" y="1487"/>
                <a:ext cx="4594" cy="226"/>
                <a:chOff x="1595" y="1487"/>
                <a:chExt cx="4594" cy="226"/>
              </a:xfrm>
              <a:grpFill/>
            </p:grpSpPr>
            <p:sp>
              <p:nvSpPr>
                <p:cNvPr id="1258"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59"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0"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1"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2"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3"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4"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65" name="组合 52"/>
              <p:cNvGrpSpPr/>
              <p:nvPr/>
            </p:nvGrpSpPr>
            <p:grpSpPr>
              <a:xfrm>
                <a:off x="1595" y="1958"/>
                <a:ext cx="4594" cy="226"/>
                <a:chOff x="1595" y="1487"/>
                <a:chExt cx="4594" cy="226"/>
              </a:xfrm>
              <a:grpFill/>
            </p:grpSpPr>
            <p:sp>
              <p:nvSpPr>
                <p:cNvPr id="1266"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7"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8"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69"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0"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1"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2"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73" name="组合 120"/>
              <p:cNvGrpSpPr/>
              <p:nvPr/>
            </p:nvGrpSpPr>
            <p:grpSpPr>
              <a:xfrm>
                <a:off x="1595" y="2429"/>
                <a:ext cx="4594" cy="226"/>
                <a:chOff x="1595" y="1487"/>
                <a:chExt cx="4594" cy="226"/>
              </a:xfrm>
              <a:grpFill/>
            </p:grpSpPr>
            <p:sp>
              <p:nvSpPr>
                <p:cNvPr id="1274"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5"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6"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7"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8"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79"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0"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81" name="组合 128"/>
              <p:cNvGrpSpPr/>
              <p:nvPr/>
            </p:nvGrpSpPr>
            <p:grpSpPr>
              <a:xfrm>
                <a:off x="1595" y="2900"/>
                <a:ext cx="4594" cy="226"/>
                <a:chOff x="1595" y="1487"/>
                <a:chExt cx="4594" cy="226"/>
              </a:xfrm>
              <a:grpFill/>
            </p:grpSpPr>
            <p:sp>
              <p:nvSpPr>
                <p:cNvPr id="1282"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3"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4"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5"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6"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7"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8"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sp>
          <p:nvSpPr>
            <p:cNvPr id="1289" name="图形"/>
            <p:cNvSpPr/>
            <p:nvPr/>
          </p:nvSpPr>
          <p:spPr>
            <a:xfrm>
              <a:off x="0" y="10796"/>
              <a:ext cx="4" cy="4"/>
            </a:xfrm>
            <a:custGeom>
              <a:avLst/>
              <a:gdLst/>
              <a:ahLst/>
              <a:cxnLst>
                <a:cxn ang="3">
                  <a:pos x="hc" y="t"/>
                </a:cxn>
                <a:cxn ang="cd2">
                  <a:pos x="l" y="vc"/>
                </a:cxn>
                <a:cxn ang="cd4">
                  <a:pos x="hc" y="b"/>
                </a:cxn>
                <a:cxn ang="0">
                  <a:pos x="r" y="vc"/>
                </a:cxn>
              </a:cxnLst>
              <a:rect l="l" t="t" r="r" b="b"/>
              <a:pathLst>
                <a:path w="4" h="4">
                  <a:moveTo>
                    <a:pt x="0" y="0"/>
                  </a:moveTo>
                  <a:lnTo>
                    <a:pt x="4" y="4"/>
                  </a:lnTo>
                  <a:lnTo>
                    <a:pt x="0" y="4"/>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290" name="图形"/>
            <p:cNvSpPr/>
            <p:nvPr/>
          </p:nvSpPr>
          <p:spPr>
            <a:xfrm>
              <a:off x="0" y="2210"/>
              <a:ext cx="11364" cy="8590"/>
            </a:xfrm>
            <a:custGeom>
              <a:avLst/>
              <a:gdLst/>
              <a:ahLst/>
              <a:cxnLst>
                <a:cxn ang="3">
                  <a:pos x="hc" y="t"/>
                </a:cxn>
                <a:cxn ang="cd2">
                  <a:pos x="l" y="vc"/>
                </a:cxn>
                <a:cxn ang="cd4">
                  <a:pos x="hc" y="b"/>
                </a:cxn>
                <a:cxn ang="0">
                  <a:pos x="r" y="vc"/>
                </a:cxn>
              </a:cxnLst>
              <a:rect l="l" t="t" r="r" b="b"/>
              <a:pathLst>
                <a:path w="11364" h="8590">
                  <a:moveTo>
                    <a:pt x="677" y="0"/>
                  </a:moveTo>
                  <a:cubicBezTo>
                    <a:pt x="949" y="-1"/>
                    <a:pt x="1204" y="66"/>
                    <a:pt x="1429" y="218"/>
                  </a:cubicBezTo>
                  <a:cubicBezTo>
                    <a:pt x="2008" y="798"/>
                    <a:pt x="1883" y="1992"/>
                    <a:pt x="2745" y="2676"/>
                  </a:cubicBezTo>
                  <a:cubicBezTo>
                    <a:pt x="3748" y="3184"/>
                    <a:pt x="4863" y="2726"/>
                    <a:pt x="6368" y="3236"/>
                  </a:cubicBezTo>
                  <a:cubicBezTo>
                    <a:pt x="7486" y="4177"/>
                    <a:pt x="7194" y="5103"/>
                    <a:pt x="7858" y="5815"/>
                  </a:cubicBezTo>
                  <a:cubicBezTo>
                    <a:pt x="8574" y="6232"/>
                    <a:pt x="9738" y="5636"/>
                    <a:pt x="10848" y="6384"/>
                  </a:cubicBezTo>
                  <a:cubicBezTo>
                    <a:pt x="11491" y="6818"/>
                    <a:pt x="11469" y="7655"/>
                    <a:pt x="11131" y="8564"/>
                  </a:cubicBezTo>
                  <a:lnTo>
                    <a:pt x="11121" y="8590"/>
                  </a:lnTo>
                  <a:lnTo>
                    <a:pt x="4" y="8590"/>
                  </a:lnTo>
                  <a:lnTo>
                    <a:pt x="0" y="8587"/>
                  </a:lnTo>
                  <a:lnTo>
                    <a:pt x="0" y="129"/>
                  </a:lnTo>
                  <a:lnTo>
                    <a:pt x="13" y="124"/>
                  </a:lnTo>
                  <a:cubicBezTo>
                    <a:pt x="240" y="45"/>
                    <a:pt x="464" y="1"/>
                    <a:pt x="677" y="0"/>
                  </a:cubicBezTo>
                  <a:close/>
                </a:path>
              </a:pathLst>
            </a:custGeom>
            <a:gradFill>
              <a:gsLst>
                <a:gs pos="0">
                  <a:srgbClr val="B9B8F1">
                    <a:alpha val="30000"/>
                  </a:srgbClr>
                </a:gs>
                <a:gs pos="100000">
                  <a:srgbClr val="B9B8F1">
                    <a:alpha val="0"/>
                  </a:srgb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1291" name="图形"/>
          <p:cNvSpPr txBox="1"/>
          <p:nvPr/>
        </p:nvSpPr>
        <p:spPr>
          <a:xfrm>
            <a:off x="5222242" y="3194052"/>
            <a:ext cx="6322695" cy="1241425"/>
          </a:xfrm>
          <a:prstGeom prst="rect">
            <a:avLst/>
          </a:prstGeom>
          <a:noFill/>
        </p:spPr>
        <p:txBody>
          <a:bodyPr wrap="square" lIns="0" tIns="0" rIns="0" bIns="0" rtlCol="0">
            <a:noAutofit/>
          </a:bodyPr>
          <a:lstStyle/>
          <a:p>
            <a:pPr algn="dist"/>
            <a:r>
              <a:rPr lang="zh-CN" sz="80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项目价值</a:t>
            </a:r>
          </a:p>
        </p:txBody>
      </p:sp>
      <p:sp>
        <p:nvSpPr>
          <p:cNvPr id="1292" name="图形"/>
          <p:cNvSpPr txBox="1"/>
          <p:nvPr/>
        </p:nvSpPr>
        <p:spPr>
          <a:xfrm>
            <a:off x="6653215" y="4516120"/>
            <a:ext cx="3460750" cy="323850"/>
          </a:xfrm>
          <a:prstGeom prst="rect">
            <a:avLst/>
          </a:prstGeom>
          <a:noFill/>
        </p:spPr>
        <p:txBody>
          <a:bodyPr wrap="square" lIns="0" tIns="0" rIns="0" bIns="0" rtlCol="0">
            <a:spAutoFit/>
          </a:bodyPr>
          <a:lstStyle/>
          <a:p>
            <a:pPr algn="dist">
              <a:lnSpc>
                <a:spcPct val="150000"/>
              </a:lnSpc>
            </a:pPr>
            <a:r>
              <a:rPr lang="en-US" sz="1400">
                <a:ln>
                  <a:noFill/>
                </a:ln>
                <a:solidFill>
                  <a:schemeClr val="tx1">
                    <a:lumMod val="65000"/>
                    <a:lumOff val="35000"/>
                    <a:alpha val="100000"/>
                  </a:schemeClr>
                </a:solidFill>
                <a:effectLst/>
                <a:latin typeface="Arial" panose="020B0604020202020204"/>
                <a:ea typeface="微软雅黑" panose="020B0503020204020204" pitchFamily="34" charset="-122"/>
                <a:cs typeface="思源黑体 Normal"/>
                <a:sym typeface="Arial" panose="020B0604020202020204"/>
              </a:rPr>
              <a:t>The Social&amp;Commercial Value</a:t>
            </a:r>
          </a:p>
        </p:txBody>
      </p:sp>
      <p:grpSp>
        <p:nvGrpSpPr>
          <p:cNvPr id="1293" name="图形"/>
          <p:cNvGrpSpPr/>
          <p:nvPr/>
        </p:nvGrpSpPr>
        <p:grpSpPr>
          <a:xfrm>
            <a:off x="7793357" y="1932305"/>
            <a:ext cx="3750945" cy="849630"/>
            <a:chOff x="12273" y="2943"/>
            <a:chExt cx="5907" cy="1338"/>
          </a:xfrm>
        </p:grpSpPr>
        <p:sp>
          <p:nvSpPr>
            <p:cNvPr id="1294" name="图形"/>
            <p:cNvSpPr/>
            <p:nvPr/>
          </p:nvSpPr>
          <p:spPr>
            <a:xfrm>
              <a:off x="12273"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第</a:t>
              </a:r>
            </a:p>
          </p:txBody>
        </p:sp>
        <p:sp>
          <p:nvSpPr>
            <p:cNvPr id="1295" name="图形"/>
            <p:cNvSpPr/>
            <p:nvPr/>
          </p:nvSpPr>
          <p:spPr>
            <a:xfrm>
              <a:off x="13796" y="2943"/>
              <a:ext cx="1338" cy="1338"/>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sz="3600" b="1">
                  <a:latin typeface="宋体" panose="02010600030101010101" pitchFamily="2" charset="-122"/>
                  <a:ea typeface="宋体" panose="02010600030101010101" pitchFamily="2" charset="-122"/>
                  <a:cs typeface="思源黑体 Normal"/>
                  <a:sym typeface="Arial" panose="020B0604020202020204"/>
                </a:rPr>
                <a:t>五</a:t>
              </a:r>
            </a:p>
          </p:txBody>
        </p:sp>
        <p:sp>
          <p:nvSpPr>
            <p:cNvPr id="1296" name="图形"/>
            <p:cNvSpPr/>
            <p:nvPr/>
          </p:nvSpPr>
          <p:spPr>
            <a:xfrm>
              <a:off x="15319"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部</a:t>
              </a:r>
            </a:p>
          </p:txBody>
        </p:sp>
        <p:sp>
          <p:nvSpPr>
            <p:cNvPr id="1297" name="图形"/>
            <p:cNvSpPr/>
            <p:nvPr/>
          </p:nvSpPr>
          <p:spPr>
            <a:xfrm>
              <a:off x="16842"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分</a:t>
              </a:r>
            </a:p>
          </p:txBody>
        </p:sp>
      </p:grpSp>
      <p:grpSp>
        <p:nvGrpSpPr>
          <p:cNvPr id="1298" name="图形"/>
          <p:cNvGrpSpPr/>
          <p:nvPr/>
        </p:nvGrpSpPr>
        <p:grpSpPr>
          <a:xfrm>
            <a:off x="8990331" y="5836920"/>
            <a:ext cx="2555240" cy="444500"/>
            <a:chOff x="14158" y="9192"/>
            <a:chExt cx="4024" cy="700"/>
          </a:xfrm>
        </p:grpSpPr>
        <p:sp>
          <p:nvSpPr>
            <p:cNvPr id="1299" name="图形"/>
            <p:cNvSpPr/>
            <p:nvPr/>
          </p:nvSpPr>
          <p:spPr>
            <a:xfrm>
              <a:off x="14158" y="9192"/>
              <a:ext cx="701" cy="701"/>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300" name="图形"/>
            <p:cNvSpPr/>
            <p:nvPr/>
          </p:nvSpPr>
          <p:spPr>
            <a:xfrm>
              <a:off x="15266"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301" name="图形"/>
            <p:cNvSpPr/>
            <p:nvPr/>
          </p:nvSpPr>
          <p:spPr>
            <a:xfrm>
              <a:off x="16374"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302" name="图形"/>
            <p:cNvSpPr/>
            <p:nvPr/>
          </p:nvSpPr>
          <p:spPr>
            <a:xfrm>
              <a:off x="17482"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9" name="组合 18"/>
          <p:cNvGrpSpPr/>
          <p:nvPr/>
        </p:nvGrpSpPr>
        <p:grpSpPr>
          <a:xfrm>
            <a:off x="9503410" y="508000"/>
            <a:ext cx="2338705" cy="1039495"/>
            <a:chOff x="14966" y="800"/>
            <a:chExt cx="3683" cy="1637"/>
          </a:xfrm>
        </p:grpSpPr>
        <p:pic>
          <p:nvPicPr>
            <p:cNvPr id="17" name="图片 16"/>
            <p:cNvPicPr>
              <a:picLocks noChangeAspect="1"/>
            </p:cNvPicPr>
            <p:nvPr/>
          </p:nvPicPr>
          <p:blipFill>
            <a:blip r:embed="rId4"/>
            <a:stretch>
              <a:fillRect/>
            </a:stretch>
          </p:blipFill>
          <p:spPr>
            <a:xfrm>
              <a:off x="14966" y="800"/>
              <a:ext cx="1381" cy="1381"/>
            </a:xfrm>
            <a:prstGeom prst="rect">
              <a:avLst/>
            </a:prstGeom>
          </p:spPr>
        </p:pic>
        <p:sp>
          <p:nvSpPr>
            <p:cNvPr id="18" name="文本框 17"/>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53"/>
                                        </p:tgtEl>
                                        <p:attrNameLst>
                                          <p:attrName>style.visibility</p:attrName>
                                        </p:attrNameLst>
                                      </p:cBhvr>
                                      <p:to>
                                        <p:strVal val="visible"/>
                                      </p:to>
                                    </p:set>
                                    <p:animEffect transition="in" filter="fade">
                                      <p:cBhvr>
                                        <p:cTn id="7" dur="500"/>
                                        <p:tgtEl>
                                          <p:spTgt spid="1253"/>
                                        </p:tgtEl>
                                      </p:cBhvr>
                                    </p:animEffect>
                                  </p:childTnLst>
                                </p:cTn>
                              </p:par>
                              <p:par>
                                <p:cTn id="8" presetID="10" presetClass="entr" presetSubtype="0" fill="hold" nodeType="withEffect">
                                  <p:stCondLst>
                                    <p:cond delay="0"/>
                                  </p:stCondLst>
                                  <p:childTnLst>
                                    <p:set>
                                      <p:cBhvr>
                                        <p:cTn id="9" dur="1" fill="hold">
                                          <p:stCondLst>
                                            <p:cond delay="0"/>
                                          </p:stCondLst>
                                        </p:cTn>
                                        <p:tgtEl>
                                          <p:spTgt spid="1298"/>
                                        </p:tgtEl>
                                        <p:attrNameLst>
                                          <p:attrName>style.visibility</p:attrName>
                                        </p:attrNameLst>
                                      </p:cBhvr>
                                      <p:to>
                                        <p:strVal val="visible"/>
                                      </p:to>
                                    </p:set>
                                    <p:animEffect transition="in" filter="fade">
                                      <p:cBhvr>
                                        <p:cTn id="10" dur="500"/>
                                        <p:tgtEl>
                                          <p:spTgt spid="1298"/>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000" fill="hold">
                                          <p:stCondLst>
                                            <p:cond delay="0"/>
                                          </p:stCondLst>
                                        </p:cTn>
                                        <p:tgtEl>
                                          <p:spTgt spid="1293"/>
                                        </p:tgtEl>
                                        <p:attrNameLst>
                                          <p:attrName>style.visibility</p:attrName>
                                        </p:attrNameLst>
                                      </p:cBhvr>
                                      <p:to>
                                        <p:strVal val="visible"/>
                                      </p:to>
                                    </p:set>
                                    <p:anim calcmode="lin" valueType="num">
                                      <p:cBhvr>
                                        <p:cTn id="14" dur="1000" fill="hold"/>
                                        <p:tgtEl>
                                          <p:spTgt spid="1293"/>
                                        </p:tgtEl>
                                        <p:attrNameLst>
                                          <p:attrName>ppt_w</p:attrName>
                                        </p:attrNameLst>
                                      </p:cBhvr>
                                      <p:tavLst>
                                        <p:tav tm="0">
                                          <p:val>
                                            <p:fltVal val="0"/>
                                          </p:val>
                                        </p:tav>
                                        <p:tav tm="100000">
                                          <p:val>
                                            <p:strVal val="#ppt_w"/>
                                          </p:val>
                                        </p:tav>
                                      </p:tavLst>
                                    </p:anim>
                                    <p:anim calcmode="lin" valueType="num">
                                      <p:cBhvr>
                                        <p:cTn id="15" dur="1000" fill="hold"/>
                                        <p:tgtEl>
                                          <p:spTgt spid="1293"/>
                                        </p:tgtEl>
                                        <p:attrNameLst>
                                          <p:attrName>ppt_h</p:attrName>
                                        </p:attrNameLst>
                                      </p:cBhvr>
                                      <p:tavLst>
                                        <p:tav tm="0">
                                          <p:val>
                                            <p:fltVal val="0"/>
                                          </p:val>
                                        </p:tav>
                                        <p:tav tm="100000">
                                          <p:val>
                                            <p:strVal val="#ppt_h"/>
                                          </p:val>
                                        </p:tav>
                                      </p:tavLst>
                                    </p:anim>
                                  </p:childTnLst>
                                </p:cTn>
                              </p:par>
                            </p:childTnLst>
                          </p:cTn>
                        </p:par>
                        <p:par>
                          <p:cTn id="16" fill="hold">
                            <p:stCondLst>
                              <p:cond delay="1500"/>
                            </p:stCondLst>
                            <p:childTnLst>
                              <p:par>
                                <p:cTn id="17" presetID="23" presetClass="entr" presetSubtype="16" fill="hold" nodeType="afterEffect">
                                  <p:stCondLst>
                                    <p:cond delay="0"/>
                                  </p:stCondLst>
                                  <p:childTnLst>
                                    <p:set>
                                      <p:cBhvr>
                                        <p:cTn id="18" dur="1000" fill="hold">
                                          <p:stCondLst>
                                            <p:cond delay="0"/>
                                          </p:stCondLst>
                                        </p:cTn>
                                        <p:tgtEl>
                                          <p:spTgt spid="1291"/>
                                        </p:tgtEl>
                                        <p:attrNameLst>
                                          <p:attrName>style.visibility</p:attrName>
                                        </p:attrNameLst>
                                      </p:cBhvr>
                                      <p:to>
                                        <p:strVal val="visible"/>
                                      </p:to>
                                    </p:set>
                                    <p:anim calcmode="lin" valueType="num">
                                      <p:cBhvr>
                                        <p:cTn id="19" dur="1000" fill="hold"/>
                                        <p:tgtEl>
                                          <p:spTgt spid="1291"/>
                                        </p:tgtEl>
                                        <p:attrNameLst>
                                          <p:attrName>ppt_w</p:attrName>
                                        </p:attrNameLst>
                                      </p:cBhvr>
                                      <p:tavLst>
                                        <p:tav tm="0">
                                          <p:val>
                                            <p:fltVal val="0"/>
                                          </p:val>
                                        </p:tav>
                                        <p:tav tm="100000">
                                          <p:val>
                                            <p:strVal val="#ppt_w"/>
                                          </p:val>
                                        </p:tav>
                                      </p:tavLst>
                                    </p:anim>
                                    <p:anim calcmode="lin" valueType="num">
                                      <p:cBhvr>
                                        <p:cTn id="20" dur="1000" fill="hold"/>
                                        <p:tgtEl>
                                          <p:spTgt spid="1291"/>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000" fill="hold">
                                          <p:stCondLst>
                                            <p:cond delay="0"/>
                                          </p:stCondLst>
                                        </p:cTn>
                                        <p:tgtEl>
                                          <p:spTgt spid="1292"/>
                                        </p:tgtEl>
                                        <p:attrNameLst>
                                          <p:attrName>style.visibility</p:attrName>
                                        </p:attrNameLst>
                                      </p:cBhvr>
                                      <p:to>
                                        <p:strVal val="visible"/>
                                      </p:to>
                                    </p:set>
                                    <p:anim calcmode="lin" valueType="num">
                                      <p:cBhvr>
                                        <p:cTn id="23" dur="1000" fill="hold"/>
                                        <p:tgtEl>
                                          <p:spTgt spid="1292"/>
                                        </p:tgtEl>
                                        <p:attrNameLst>
                                          <p:attrName>ppt_w</p:attrName>
                                        </p:attrNameLst>
                                      </p:cBhvr>
                                      <p:tavLst>
                                        <p:tav tm="0">
                                          <p:val>
                                            <p:fltVal val="0"/>
                                          </p:val>
                                        </p:tav>
                                        <p:tav tm="100000">
                                          <p:val>
                                            <p:strVal val="#ppt_w"/>
                                          </p:val>
                                        </p:tav>
                                      </p:tavLst>
                                    </p:anim>
                                    <p:anim calcmode="lin" valueType="num">
                                      <p:cBhvr>
                                        <p:cTn id="24" dur="1000" fill="hold"/>
                                        <p:tgtEl>
                                          <p:spTgt spid="129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 name="图形"/>
          <p:cNvGrpSpPr/>
          <p:nvPr/>
        </p:nvGrpSpPr>
        <p:grpSpPr>
          <a:xfrm>
            <a:off x="-477520" y="-918210"/>
            <a:ext cx="3880485" cy="2447925"/>
            <a:chOff x="-752" y="-1446"/>
            <a:chExt cx="6111" cy="3855"/>
          </a:xfrm>
        </p:grpSpPr>
        <p:sp>
          <p:nvSpPr>
            <p:cNvPr id="15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53" name="图形"/>
            <p:cNvSpPr txBox="1"/>
            <p:nvPr/>
          </p:nvSpPr>
          <p:spPr>
            <a:xfrm>
              <a:off x="1354" y="611"/>
              <a:ext cx="4005" cy="918"/>
            </a:xfrm>
            <a:prstGeom prst="rect">
              <a:avLst/>
            </a:prstGeom>
            <a:noFill/>
          </p:spPr>
          <p:txBody>
            <a:bodyPr wrap="square" lIns="0" tIns="0" rIns="0" bIns="0" rtlCol="0">
              <a:noAutofit/>
            </a:bodyPr>
            <a:lstStyle/>
            <a:p>
              <a:pPr algn="dist"/>
              <a:r>
                <a:rPr lang="zh-CN" sz="36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社会价值</a:t>
              </a:r>
            </a:p>
          </p:txBody>
        </p:sp>
        <p:sp>
          <p:nvSpPr>
            <p:cNvPr id="154"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55" name="图形"/>
          <p:cNvGrpSpPr/>
          <p:nvPr/>
        </p:nvGrpSpPr>
        <p:grpSpPr>
          <a:xfrm>
            <a:off x="689611" y="1871090"/>
            <a:ext cx="11247755" cy="4147486"/>
            <a:chOff x="1078" y="2418"/>
            <a:chExt cx="17713" cy="6496"/>
          </a:xfrm>
        </p:grpSpPr>
        <p:grpSp>
          <p:nvGrpSpPr>
            <p:cNvPr id="156" name="组合 26"/>
            <p:cNvGrpSpPr/>
            <p:nvPr/>
          </p:nvGrpSpPr>
          <p:grpSpPr>
            <a:xfrm>
              <a:off x="2643" y="3666"/>
              <a:ext cx="14088" cy="5080"/>
              <a:chOff x="3378" y="3939"/>
              <a:chExt cx="13132" cy="4735"/>
            </a:xfrm>
          </p:grpSpPr>
          <p:sp>
            <p:nvSpPr>
              <p:cNvPr id="157" name="图形"/>
              <p:cNvSpPr/>
              <p:nvPr/>
            </p:nvSpPr>
            <p:spPr bwMode="auto">
              <a:xfrm>
                <a:off x="3378" y="4615"/>
                <a:ext cx="4363" cy="549"/>
              </a:xfrm>
              <a:custGeom>
                <a:avLst/>
                <a:gdLst>
                  <a:gd name="T0" fmla="*/ 1000387 w 1625600"/>
                  <a:gd name="T1" fmla="*/ 0 h 254000"/>
                  <a:gd name="T2" fmla="*/ 851892 w 1625600"/>
                  <a:gd name="T3" fmla="*/ 107156 h 254000"/>
                  <a:gd name="T4" fmla="*/ 0 w 1625600"/>
                  <a:gd name="T5" fmla="*/ 107156 h 254000"/>
                  <a:gd name="T6" fmla="*/ 0 60000 65536"/>
                  <a:gd name="T7" fmla="*/ 0 60000 65536"/>
                  <a:gd name="T8" fmla="*/ 0 60000 65536"/>
                  <a:gd name="T9" fmla="*/ 0 w 1625600"/>
                  <a:gd name="T10" fmla="*/ 0 h 254000"/>
                  <a:gd name="T11" fmla="*/ 1625600 w 1625600"/>
                  <a:gd name="T12" fmla="*/ 254000 h 254000"/>
                </a:gdLst>
                <a:ahLst/>
                <a:cxnLst>
                  <a:cxn ang="T6">
                    <a:pos x="T0" y="T1"/>
                  </a:cxn>
                  <a:cxn ang="T7">
                    <a:pos x="T2" y="T3"/>
                  </a:cxn>
                  <a:cxn ang="T8">
                    <a:pos x="T4" y="T5"/>
                  </a:cxn>
                </a:cxnLst>
                <a:rect l="T9" t="T10" r="T11" b="T12"/>
                <a:pathLst>
                  <a:path w="1625600" h="254000">
                    <a:moveTo>
                      <a:pt x="1625600" y="0"/>
                    </a:moveTo>
                    <a:lnTo>
                      <a:pt x="1384300" y="254000"/>
                    </a:lnTo>
                    <a:lnTo>
                      <a:pt x="0" y="254000"/>
                    </a:lnTo>
                  </a:path>
                </a:pathLst>
              </a:custGeom>
              <a:noFill/>
              <a:ln w="12700" cap="rnd" cmpd="sng">
                <a:solidFill>
                  <a:srgbClr val="F7B75D"/>
                </a:solidFill>
                <a:prstDash val="solid"/>
                <a:bevel/>
                <a:headEnd type="oval" w="sm" len="sm"/>
                <a:tailEnd type="oval" w="sm" len="sm"/>
              </a:ln>
            </p:spPr>
            <p:txBody>
              <a:bodyPr lIns="68597" tIns="34298" rIns="68597" bIns="34298" anchor="ct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158" name="组合 29"/>
              <p:cNvGrpSpPr/>
              <p:nvPr/>
            </p:nvGrpSpPr>
            <p:grpSpPr>
              <a:xfrm>
                <a:off x="7166" y="3939"/>
                <a:ext cx="9344" cy="4735"/>
                <a:chOff x="7166" y="3939"/>
                <a:chExt cx="9344" cy="4735"/>
              </a:xfrm>
            </p:grpSpPr>
            <p:grpSp>
              <p:nvGrpSpPr>
                <p:cNvPr id="159" name="组合 30"/>
                <p:cNvGrpSpPr/>
                <p:nvPr/>
              </p:nvGrpSpPr>
              <p:grpSpPr>
                <a:xfrm>
                  <a:off x="7166" y="3939"/>
                  <a:ext cx="4735" cy="4735"/>
                  <a:chOff x="7166" y="3939"/>
                  <a:chExt cx="4735" cy="4735"/>
                </a:xfrm>
              </p:grpSpPr>
              <p:sp>
                <p:nvSpPr>
                  <p:cNvPr id="160" name="图形"/>
                  <p:cNvSpPr>
                    <a:spLocks noChangeArrowheads="1"/>
                  </p:cNvSpPr>
                  <p:nvPr/>
                </p:nvSpPr>
                <p:spPr bwMode="auto">
                  <a:xfrm>
                    <a:off x="7166" y="3939"/>
                    <a:ext cx="4735" cy="4735"/>
                  </a:xfrm>
                  <a:prstGeom prst="ellipse">
                    <a:avLst/>
                  </a:prstGeom>
                  <a:solidFill>
                    <a:schemeClr val="bg1"/>
                  </a:solidFill>
                  <a:ln w="25400" cap="rnd">
                    <a:solidFill>
                      <a:srgbClr val="566CD3"/>
                    </a:solidFill>
                    <a:prstDash val="solid"/>
                    <a:bevel/>
                  </a:ln>
                </p:spPr>
                <p:txBody>
                  <a:bodyPr anchor="ctr"/>
                  <a:lstStyle/>
                  <a:p>
                    <a:pPr algn="ctr">
                      <a:buFont typeface="思源黑体 Normal" panose="020B0400000000000000" charset="-122"/>
                      <a:buNone/>
                    </a:pPr>
                    <a:endParaRPr lang="zh-CN" altLang="zh-CN">
                      <a:solidFill>
                        <a:srgbClr val="FFFFFF"/>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161" name="组合 32"/>
                  <p:cNvGrpSpPr/>
                  <p:nvPr/>
                </p:nvGrpSpPr>
                <p:grpSpPr>
                  <a:xfrm>
                    <a:off x="7442" y="4212"/>
                    <a:ext cx="4229" cy="4197"/>
                    <a:chOff x="7442" y="4212"/>
                    <a:chExt cx="4229" cy="4197"/>
                  </a:xfrm>
                </p:grpSpPr>
                <p:sp>
                  <p:nvSpPr>
                    <p:cNvPr id="162" name="图形"/>
                    <p:cNvSpPr>
                      <a:spLocks noChangeArrowheads="1"/>
                    </p:cNvSpPr>
                    <p:nvPr/>
                  </p:nvSpPr>
                  <p:spPr bwMode="auto">
                    <a:xfrm>
                      <a:off x="8089" y="4212"/>
                      <a:ext cx="2946" cy="845"/>
                    </a:xfrm>
                    <a:custGeom>
                      <a:avLst/>
                      <a:gdLst>
                        <a:gd name="T0" fmla="*/ 403514 w 2608353"/>
                        <a:gd name="T1" fmla="*/ 0 h 792832"/>
                        <a:gd name="T2" fmla="*/ 805401 w 2608353"/>
                        <a:gd name="T3" fmla="*/ 166468 h 792832"/>
                        <a:gd name="T4" fmla="*/ 807028 w 2608353"/>
                        <a:gd name="T5" fmla="*/ 168257 h 792832"/>
                        <a:gd name="T6" fmla="*/ 805117 w 2608353"/>
                        <a:gd name="T7" fmla="*/ 169515 h 792832"/>
                        <a:gd name="T8" fmla="*/ 403514 w 2608353"/>
                        <a:gd name="T9" fmla="*/ 245303 h 792832"/>
                        <a:gd name="T10" fmla="*/ 1911 w 2608353"/>
                        <a:gd name="T11" fmla="*/ 169515 h 792832"/>
                        <a:gd name="T12" fmla="*/ 0 w 2608353"/>
                        <a:gd name="T13" fmla="*/ 168257 h 792832"/>
                        <a:gd name="T14" fmla="*/ 1627 w 2608353"/>
                        <a:gd name="T15" fmla="*/ 166468 h 792832"/>
                        <a:gd name="T16" fmla="*/ 403514 w 2608353"/>
                        <a:gd name="T17" fmla="*/ 0 h 7928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08353"/>
                        <a:gd name="T28" fmla="*/ 0 h 792832"/>
                        <a:gd name="T29" fmla="*/ 2608353 w 2608353"/>
                        <a:gd name="T30" fmla="*/ 792832 h 7928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08353" h="792832">
                          <a:moveTo>
                            <a:pt x="1304176" y="0"/>
                          </a:moveTo>
                          <a:cubicBezTo>
                            <a:pt x="1811435" y="0"/>
                            <a:pt x="2270672" y="205608"/>
                            <a:pt x="2603094" y="538030"/>
                          </a:cubicBezTo>
                          <a:lnTo>
                            <a:pt x="2608353" y="543815"/>
                          </a:lnTo>
                          <a:lnTo>
                            <a:pt x="2602175" y="547882"/>
                          </a:lnTo>
                          <a:cubicBezTo>
                            <a:pt x="2352203" y="693785"/>
                            <a:pt x="1864670" y="792832"/>
                            <a:pt x="1304176" y="792832"/>
                          </a:cubicBezTo>
                          <a:cubicBezTo>
                            <a:pt x="743683" y="792832"/>
                            <a:pt x="256150" y="693785"/>
                            <a:pt x="6177" y="547882"/>
                          </a:cubicBezTo>
                          <a:lnTo>
                            <a:pt x="0" y="543815"/>
                          </a:lnTo>
                          <a:lnTo>
                            <a:pt x="5258" y="538030"/>
                          </a:lnTo>
                          <a:cubicBezTo>
                            <a:pt x="337680" y="205608"/>
                            <a:pt x="796917" y="0"/>
                            <a:pt x="1304176" y="0"/>
                          </a:cubicBezTo>
                          <a:close/>
                        </a:path>
                      </a:pathLst>
                    </a:custGeom>
                    <a:solidFill>
                      <a:srgbClr val="F7B75D"/>
                    </a:solidFill>
                    <a:ln>
                      <a:noFill/>
                    </a:ln>
                  </p:spPr>
                  <p:txBody>
                    <a:bodyPr anchor="ctr"/>
                    <a:lstStyle/>
                    <a:p>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63" name="图形"/>
                    <p:cNvSpPr>
                      <a:spLocks noChangeArrowheads="1"/>
                    </p:cNvSpPr>
                    <p:nvPr/>
                  </p:nvSpPr>
                  <p:spPr bwMode="auto">
                    <a:xfrm>
                      <a:off x="7494" y="4877"/>
                      <a:ext cx="4116" cy="1377"/>
                    </a:xfrm>
                    <a:custGeom>
                      <a:avLst/>
                      <a:gdLst>
                        <a:gd name="T0" fmla="*/ 956662 w 3575607"/>
                        <a:gd name="T1" fmla="*/ 0 h 1293132"/>
                        <a:gd name="T2" fmla="*/ 991717 w 3575607"/>
                        <a:gd name="T3" fmla="*/ 38571 h 1293132"/>
                        <a:gd name="T4" fmla="*/ 1101815 w 3575607"/>
                        <a:gd name="T5" fmla="*/ 251263 h 1293132"/>
                        <a:gd name="T6" fmla="*/ 1106297 w 3575607"/>
                        <a:gd name="T7" fmla="*/ 271256 h 1293132"/>
                        <a:gd name="T8" fmla="*/ 1077499 w 3575607"/>
                        <a:gd name="T9" fmla="*/ 288617 h 1293132"/>
                        <a:gd name="T10" fmla="*/ 553148 w 3575607"/>
                        <a:gd name="T11" fmla="*/ 400097 h 1293132"/>
                        <a:gd name="T12" fmla="*/ 28798 w 3575607"/>
                        <a:gd name="T13" fmla="*/ 288617 h 1293132"/>
                        <a:gd name="T14" fmla="*/ 0 w 3575607"/>
                        <a:gd name="T15" fmla="*/ 271256 h 1293132"/>
                        <a:gd name="T16" fmla="*/ 4482 w 3575607"/>
                        <a:gd name="T17" fmla="*/ 251263 h 1293132"/>
                        <a:gd name="T18" fmla="*/ 114579 w 3575607"/>
                        <a:gd name="T19" fmla="*/ 38571 h 1293132"/>
                        <a:gd name="T20" fmla="*/ 149635 w 3575607"/>
                        <a:gd name="T21" fmla="*/ 1 h 1293132"/>
                        <a:gd name="T22" fmla="*/ 151546 w 3575607"/>
                        <a:gd name="T23" fmla="*/ 1259 h 1293132"/>
                        <a:gd name="T24" fmla="*/ 553148 w 3575607"/>
                        <a:gd name="T25" fmla="*/ 77046 h 1293132"/>
                        <a:gd name="T26" fmla="*/ 954751 w 3575607"/>
                        <a:gd name="T27" fmla="*/ 1259 h 12931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575607"/>
                        <a:gd name="T43" fmla="*/ 0 h 1293132"/>
                        <a:gd name="T44" fmla="*/ 3575607 w 3575607"/>
                        <a:gd name="T45" fmla="*/ 1293132 h 12931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575607" h="1293132">
                          <a:moveTo>
                            <a:pt x="3091980" y="0"/>
                          </a:moveTo>
                          <a:lnTo>
                            <a:pt x="3205281" y="124664"/>
                          </a:lnTo>
                          <a:cubicBezTo>
                            <a:pt x="3369063" y="323122"/>
                            <a:pt x="3491973" y="556562"/>
                            <a:pt x="3561124" y="812095"/>
                          </a:cubicBezTo>
                          <a:lnTo>
                            <a:pt x="3575607" y="876712"/>
                          </a:lnTo>
                          <a:lnTo>
                            <a:pt x="3482532" y="932824"/>
                          </a:lnTo>
                          <a:cubicBezTo>
                            <a:pt x="3079708" y="1152873"/>
                            <a:pt x="2470089" y="1293132"/>
                            <a:pt x="1787803" y="1293132"/>
                          </a:cubicBezTo>
                          <a:cubicBezTo>
                            <a:pt x="1105518" y="1293132"/>
                            <a:pt x="495898" y="1152873"/>
                            <a:pt x="93075" y="932824"/>
                          </a:cubicBezTo>
                          <a:lnTo>
                            <a:pt x="0" y="876712"/>
                          </a:lnTo>
                          <a:lnTo>
                            <a:pt x="14483" y="812095"/>
                          </a:lnTo>
                          <a:cubicBezTo>
                            <a:pt x="83633" y="556562"/>
                            <a:pt x="206543" y="323122"/>
                            <a:pt x="370325" y="124664"/>
                          </a:cubicBezTo>
                          <a:lnTo>
                            <a:pt x="483627" y="1"/>
                          </a:lnTo>
                          <a:lnTo>
                            <a:pt x="489804" y="4067"/>
                          </a:lnTo>
                          <a:cubicBezTo>
                            <a:pt x="739777" y="149970"/>
                            <a:pt x="1227310" y="249017"/>
                            <a:pt x="1787803" y="249017"/>
                          </a:cubicBezTo>
                          <a:cubicBezTo>
                            <a:pt x="2348296" y="249017"/>
                            <a:pt x="2835829" y="149970"/>
                            <a:pt x="3085802" y="4067"/>
                          </a:cubicBezTo>
                          <a:lnTo>
                            <a:pt x="3091980" y="0"/>
                          </a:lnTo>
                          <a:close/>
                        </a:path>
                      </a:pathLst>
                    </a:custGeom>
                    <a:solidFill>
                      <a:srgbClr val="566CD3"/>
                    </a:solidFill>
                    <a:ln>
                      <a:noFill/>
                    </a:ln>
                  </p:spPr>
                  <p:txBody>
                    <a:bodyPr anchor="ctr"/>
                    <a:lstStyle/>
                    <a:p>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64" name="图形"/>
                    <p:cNvSpPr>
                      <a:spLocks noChangeArrowheads="1"/>
                    </p:cNvSpPr>
                    <p:nvPr/>
                  </p:nvSpPr>
                  <p:spPr bwMode="auto">
                    <a:xfrm>
                      <a:off x="7442" y="5914"/>
                      <a:ext cx="4229" cy="1505"/>
                    </a:xfrm>
                    <a:custGeom>
                      <a:avLst/>
                      <a:gdLst>
                        <a:gd name="T0" fmla="*/ 15205 w 3673896"/>
                        <a:gd name="T1" fmla="*/ 0 h 1413072"/>
                        <a:gd name="T2" fmla="*/ 44002 w 3673896"/>
                        <a:gd name="T3" fmla="*/ 17361 h 1413072"/>
                        <a:gd name="T4" fmla="*/ 568354 w 3673896"/>
                        <a:gd name="T5" fmla="*/ 128841 h 1413072"/>
                        <a:gd name="T6" fmla="*/ 1092705 w 3673896"/>
                        <a:gd name="T7" fmla="*/ 17361 h 1413072"/>
                        <a:gd name="T8" fmla="*/ 1121502 w 3673896"/>
                        <a:gd name="T9" fmla="*/ 0 h 1413072"/>
                        <a:gd name="T10" fmla="*/ 1127831 w 3673896"/>
                        <a:gd name="T11" fmla="*/ 28233 h 1413072"/>
                        <a:gd name="T12" fmla="*/ 1136708 w 3673896"/>
                        <a:gd name="T13" fmla="*/ 128841 h 1413072"/>
                        <a:gd name="T14" fmla="*/ 1111156 w 3673896"/>
                        <a:gd name="T15" fmla="*/ 297853 h 1413072"/>
                        <a:gd name="T16" fmla="*/ 1094759 w 3673896"/>
                        <a:gd name="T17" fmla="*/ 342651 h 1413072"/>
                        <a:gd name="T18" fmla="*/ 1041705 w 3673896"/>
                        <a:gd name="T19" fmla="*/ 363009 h 1413072"/>
                        <a:gd name="T20" fmla="*/ 568354 w 3673896"/>
                        <a:gd name="T21" fmla="*/ 437207 h 1413072"/>
                        <a:gd name="T22" fmla="*/ 95003 w 3673896"/>
                        <a:gd name="T23" fmla="*/ 363009 h 1413072"/>
                        <a:gd name="T24" fmla="*/ 41949 w 3673896"/>
                        <a:gd name="T25" fmla="*/ 342651 h 1413072"/>
                        <a:gd name="T26" fmla="*/ 25552 w 3673896"/>
                        <a:gd name="T27" fmla="*/ 297853 h 1413072"/>
                        <a:gd name="T28" fmla="*/ 0 w 3673896"/>
                        <a:gd name="T29" fmla="*/ 128841 h 1413072"/>
                        <a:gd name="T30" fmla="*/ 8877 w 3673896"/>
                        <a:gd name="T31" fmla="*/ 28233 h 141307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673896"/>
                        <a:gd name="T49" fmla="*/ 0 h 1413072"/>
                        <a:gd name="T50" fmla="*/ 3673896 w 3673896"/>
                        <a:gd name="T51" fmla="*/ 1413072 h 141307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673896" h="1413072">
                          <a:moveTo>
                            <a:pt x="49144" y="0"/>
                          </a:moveTo>
                          <a:lnTo>
                            <a:pt x="142219" y="56112"/>
                          </a:lnTo>
                          <a:cubicBezTo>
                            <a:pt x="545043" y="276161"/>
                            <a:pt x="1154663" y="416420"/>
                            <a:pt x="1836948" y="416420"/>
                          </a:cubicBezTo>
                          <a:cubicBezTo>
                            <a:pt x="2519233" y="416420"/>
                            <a:pt x="3128853" y="276161"/>
                            <a:pt x="3531677" y="56112"/>
                          </a:cubicBezTo>
                          <a:lnTo>
                            <a:pt x="3624752" y="0"/>
                          </a:lnTo>
                          <a:lnTo>
                            <a:pt x="3645205" y="91251"/>
                          </a:lnTo>
                          <a:cubicBezTo>
                            <a:pt x="3664057" y="196794"/>
                            <a:pt x="3673896" y="305458"/>
                            <a:pt x="3673896" y="416421"/>
                          </a:cubicBezTo>
                          <a:cubicBezTo>
                            <a:pt x="3673896" y="606643"/>
                            <a:pt x="3644982" y="790112"/>
                            <a:pt x="3591310" y="962673"/>
                          </a:cubicBezTo>
                          <a:lnTo>
                            <a:pt x="3538316" y="1107464"/>
                          </a:lnTo>
                          <a:lnTo>
                            <a:pt x="3366842" y="1173264"/>
                          </a:lnTo>
                          <a:cubicBezTo>
                            <a:pt x="2930125" y="1324667"/>
                            <a:pt x="2403655" y="1413072"/>
                            <a:pt x="1836948" y="1413072"/>
                          </a:cubicBezTo>
                          <a:cubicBezTo>
                            <a:pt x="1270241" y="1413072"/>
                            <a:pt x="743772" y="1324667"/>
                            <a:pt x="307055" y="1173264"/>
                          </a:cubicBezTo>
                          <a:lnTo>
                            <a:pt x="135580" y="1107464"/>
                          </a:lnTo>
                          <a:lnTo>
                            <a:pt x="82586" y="962673"/>
                          </a:lnTo>
                          <a:cubicBezTo>
                            <a:pt x="28914" y="790112"/>
                            <a:pt x="0" y="606643"/>
                            <a:pt x="0" y="416421"/>
                          </a:cubicBezTo>
                          <a:cubicBezTo>
                            <a:pt x="0" y="305458"/>
                            <a:pt x="9839" y="196794"/>
                            <a:pt x="28691" y="91251"/>
                          </a:cubicBezTo>
                          <a:lnTo>
                            <a:pt x="49144" y="0"/>
                          </a:lnTo>
                          <a:close/>
                        </a:path>
                      </a:pathLst>
                    </a:custGeom>
                    <a:solidFill>
                      <a:srgbClr val="F7B75D"/>
                    </a:solidFill>
                    <a:ln>
                      <a:noFill/>
                    </a:ln>
                  </p:spPr>
                  <p:txBody>
                    <a:bodyPr anchor="ctr"/>
                    <a:lstStyle/>
                    <a:p>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65" name="图形"/>
                    <p:cNvSpPr>
                      <a:spLocks noChangeArrowheads="1"/>
                    </p:cNvSpPr>
                    <p:nvPr/>
                  </p:nvSpPr>
                  <p:spPr bwMode="auto">
                    <a:xfrm>
                      <a:off x="7586" y="7188"/>
                      <a:ext cx="3917" cy="1221"/>
                    </a:xfrm>
                    <a:custGeom>
                      <a:avLst/>
                      <a:gdLst>
                        <a:gd name="T0" fmla="*/ 1052811 w 3402736"/>
                        <a:gd name="T1" fmla="*/ 0 h 1145905"/>
                        <a:gd name="T2" fmla="*/ 1050096 w 3402736"/>
                        <a:gd name="T3" fmla="*/ 7420 h 1145905"/>
                        <a:gd name="T4" fmla="*/ 526406 w 3402736"/>
                        <a:gd name="T5" fmla="*/ 354544 h 1145905"/>
                        <a:gd name="T6" fmla="*/ 2716 w 3402736"/>
                        <a:gd name="T7" fmla="*/ 7420 h 1145905"/>
                        <a:gd name="T8" fmla="*/ 0 w 3402736"/>
                        <a:gd name="T9" fmla="*/ 0 h 1145905"/>
                        <a:gd name="T10" fmla="*/ 53055 w 3402736"/>
                        <a:gd name="T11" fmla="*/ 20358 h 1145905"/>
                        <a:gd name="T12" fmla="*/ 526406 w 3402736"/>
                        <a:gd name="T13" fmla="*/ 94556 h 1145905"/>
                        <a:gd name="T14" fmla="*/ 999757 w 3402736"/>
                        <a:gd name="T15" fmla="*/ 20358 h 1145905"/>
                        <a:gd name="T16" fmla="*/ 0 60000 65536"/>
                        <a:gd name="T17" fmla="*/ 0 60000 65536"/>
                        <a:gd name="T18" fmla="*/ 0 60000 65536"/>
                        <a:gd name="T19" fmla="*/ 0 60000 65536"/>
                        <a:gd name="T20" fmla="*/ 0 60000 65536"/>
                        <a:gd name="T21" fmla="*/ 0 60000 65536"/>
                        <a:gd name="T22" fmla="*/ 0 60000 65536"/>
                        <a:gd name="T23" fmla="*/ 0 60000 65536"/>
                        <a:gd name="T24" fmla="*/ 0 w 3402736"/>
                        <a:gd name="T25" fmla="*/ 0 h 1145905"/>
                        <a:gd name="T26" fmla="*/ 3402736 w 3402736"/>
                        <a:gd name="T27" fmla="*/ 1145905 h 114590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02736" h="1145905">
                          <a:moveTo>
                            <a:pt x="3402736" y="0"/>
                          </a:moveTo>
                          <a:lnTo>
                            <a:pt x="3393959" y="23980"/>
                          </a:lnTo>
                          <a:cubicBezTo>
                            <a:pt x="3115096" y="683288"/>
                            <a:pt x="2462256" y="1145905"/>
                            <a:pt x="1701368" y="1145905"/>
                          </a:cubicBezTo>
                          <a:cubicBezTo>
                            <a:pt x="940480" y="1145905"/>
                            <a:pt x="287641" y="683288"/>
                            <a:pt x="8777" y="23980"/>
                          </a:cubicBezTo>
                          <a:lnTo>
                            <a:pt x="0" y="0"/>
                          </a:lnTo>
                          <a:lnTo>
                            <a:pt x="171474" y="65800"/>
                          </a:lnTo>
                          <a:cubicBezTo>
                            <a:pt x="608191" y="217203"/>
                            <a:pt x="1134661" y="305608"/>
                            <a:pt x="1701368" y="305608"/>
                          </a:cubicBezTo>
                          <a:cubicBezTo>
                            <a:pt x="2268075" y="305608"/>
                            <a:pt x="2794545" y="217203"/>
                            <a:pt x="3231262" y="65800"/>
                          </a:cubicBezTo>
                          <a:lnTo>
                            <a:pt x="3402736" y="0"/>
                          </a:lnTo>
                          <a:close/>
                        </a:path>
                      </a:pathLst>
                    </a:custGeom>
                    <a:solidFill>
                      <a:srgbClr val="566CD3"/>
                    </a:solidFill>
                    <a:ln>
                      <a:noFill/>
                    </a:ln>
                  </p:spPr>
                  <p:txBody>
                    <a:bodyPr anchor="ctr"/>
                    <a:lstStyle/>
                    <a:p>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sp>
              <p:nvSpPr>
                <p:cNvPr id="166" name="图形"/>
                <p:cNvSpPr/>
                <p:nvPr/>
              </p:nvSpPr>
              <p:spPr bwMode="auto">
                <a:xfrm>
                  <a:off x="11877" y="4995"/>
                  <a:ext cx="4494" cy="539"/>
                </a:xfrm>
                <a:custGeom>
                  <a:avLst/>
                  <a:gdLst>
                    <a:gd name="T0" fmla="*/ 0 w 776287"/>
                    <a:gd name="T1" fmla="*/ 58979 h 133350"/>
                    <a:gd name="T2" fmla="*/ 373971 w 776287"/>
                    <a:gd name="T3" fmla="*/ 0 h 133350"/>
                    <a:gd name="T4" fmla="*/ 2257682 w 776287"/>
                    <a:gd name="T5" fmla="*/ 0 h 133350"/>
                    <a:gd name="T6" fmla="*/ 0 60000 65536"/>
                    <a:gd name="T7" fmla="*/ 0 60000 65536"/>
                    <a:gd name="T8" fmla="*/ 0 60000 65536"/>
                    <a:gd name="T9" fmla="*/ 0 w 776287"/>
                    <a:gd name="T10" fmla="*/ 0 h 133350"/>
                    <a:gd name="T11" fmla="*/ 776287 w 776287"/>
                    <a:gd name="T12" fmla="*/ 133350 h 133350"/>
                  </a:gdLst>
                  <a:ahLst/>
                  <a:cxnLst>
                    <a:cxn ang="T6">
                      <a:pos x="T0" y="T1"/>
                    </a:cxn>
                    <a:cxn ang="T7">
                      <a:pos x="T2" y="T3"/>
                    </a:cxn>
                    <a:cxn ang="T8">
                      <a:pos x="T4" y="T5"/>
                    </a:cxn>
                  </a:cxnLst>
                  <a:rect l="T9" t="T10" r="T11" b="T12"/>
                  <a:pathLst>
                    <a:path w="776287" h="133350">
                      <a:moveTo>
                        <a:pt x="0" y="133350"/>
                      </a:moveTo>
                      <a:lnTo>
                        <a:pt x="128587" y="0"/>
                      </a:lnTo>
                      <a:lnTo>
                        <a:pt x="776287" y="0"/>
                      </a:lnTo>
                    </a:path>
                  </a:pathLst>
                </a:custGeom>
                <a:noFill/>
                <a:ln w="12700" cap="rnd" cmpd="sng">
                  <a:solidFill>
                    <a:srgbClr val="566CD3"/>
                  </a:solidFill>
                  <a:prstDash val="solid"/>
                  <a:bevel/>
                  <a:headEnd type="oval" w="sm" len="sm"/>
                  <a:tailEnd type="oval" w="sm" len="sm"/>
                </a:ln>
              </p:spPr>
              <p:txBody>
                <a:bodyPr lIns="68597" tIns="34298" rIns="68597" bIns="34298" anchor="ctr"/>
                <a:lstStyle/>
                <a:p>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67" name="图形"/>
                <p:cNvSpPr/>
                <p:nvPr/>
              </p:nvSpPr>
              <p:spPr bwMode="auto">
                <a:xfrm>
                  <a:off x="12016" y="6534"/>
                  <a:ext cx="4494" cy="1920"/>
                </a:xfrm>
                <a:custGeom>
                  <a:avLst/>
                  <a:gdLst>
                    <a:gd name="T0" fmla="*/ 0 w 1393825"/>
                    <a:gd name="T1" fmla="*/ 0 h 1371600"/>
                    <a:gd name="T2" fmla="*/ 383356 w 1393825"/>
                    <a:gd name="T3" fmla="*/ 169473 h 1371600"/>
                    <a:gd name="T4" fmla="*/ 383356 w 1393825"/>
                    <a:gd name="T5" fmla="*/ 963318 h 1371600"/>
                    <a:gd name="T6" fmla="*/ 2370329 w 1393825"/>
                    <a:gd name="T7" fmla="*/ 963318 h 1371600"/>
                    <a:gd name="T8" fmla="*/ 0 60000 65536"/>
                    <a:gd name="T9" fmla="*/ 0 60000 65536"/>
                    <a:gd name="T10" fmla="*/ 0 60000 65536"/>
                    <a:gd name="T11" fmla="*/ 0 60000 65536"/>
                    <a:gd name="T12" fmla="*/ 0 w 1393825"/>
                    <a:gd name="T13" fmla="*/ 0 h 1371600"/>
                    <a:gd name="T14" fmla="*/ 1393825 w 1393825"/>
                    <a:gd name="T15" fmla="*/ 1371600 h 1371600"/>
                  </a:gdLst>
                  <a:ahLst/>
                  <a:cxnLst>
                    <a:cxn ang="T8">
                      <a:pos x="T0" y="T1"/>
                    </a:cxn>
                    <a:cxn ang="T9">
                      <a:pos x="T2" y="T3"/>
                    </a:cxn>
                    <a:cxn ang="T10">
                      <a:pos x="T4" y="T5"/>
                    </a:cxn>
                    <a:cxn ang="T11">
                      <a:pos x="T6" y="T7"/>
                    </a:cxn>
                  </a:cxnLst>
                  <a:rect l="T12" t="T13" r="T14" b="T15"/>
                  <a:pathLst>
                    <a:path w="1393825" h="1371600">
                      <a:moveTo>
                        <a:pt x="0" y="0"/>
                      </a:moveTo>
                      <a:lnTo>
                        <a:pt x="225425" y="241300"/>
                      </a:lnTo>
                      <a:lnTo>
                        <a:pt x="225425" y="1371600"/>
                      </a:lnTo>
                      <a:lnTo>
                        <a:pt x="1393825" y="1371600"/>
                      </a:lnTo>
                    </a:path>
                  </a:pathLst>
                </a:custGeom>
                <a:noFill/>
                <a:ln w="12700" cap="rnd" cmpd="sng">
                  <a:solidFill>
                    <a:srgbClr val="F7B75D"/>
                  </a:solidFill>
                  <a:prstDash val="solid"/>
                  <a:bevel/>
                  <a:headEnd type="oval" w="sm" len="sm"/>
                  <a:tailEnd type="oval" w="sm" len="sm"/>
                </a:ln>
              </p:spPr>
              <p:txBody>
                <a:bodyPr lIns="68597" tIns="34298" rIns="68597" bIns="34298" anchor="ctr"/>
                <a:lstStyle/>
                <a:p>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sp>
          <p:nvSpPr>
            <p:cNvPr id="168" name="图形"/>
            <p:cNvSpPr/>
            <p:nvPr/>
          </p:nvSpPr>
          <p:spPr bwMode="auto">
            <a:xfrm>
              <a:off x="2643" y="8157"/>
              <a:ext cx="4681" cy="589"/>
            </a:xfrm>
            <a:custGeom>
              <a:avLst/>
              <a:gdLst>
                <a:gd name="T0" fmla="*/ 1000387 w 1625600"/>
                <a:gd name="T1" fmla="*/ 0 h 254000"/>
                <a:gd name="T2" fmla="*/ 851892 w 1625600"/>
                <a:gd name="T3" fmla="*/ 107156 h 254000"/>
                <a:gd name="T4" fmla="*/ 0 w 1625600"/>
                <a:gd name="T5" fmla="*/ 107156 h 254000"/>
                <a:gd name="T6" fmla="*/ 0 60000 65536"/>
                <a:gd name="T7" fmla="*/ 0 60000 65536"/>
                <a:gd name="T8" fmla="*/ 0 60000 65536"/>
                <a:gd name="T9" fmla="*/ 0 w 1625600"/>
                <a:gd name="T10" fmla="*/ 0 h 254000"/>
                <a:gd name="T11" fmla="*/ 1625600 w 1625600"/>
                <a:gd name="T12" fmla="*/ 254000 h 254000"/>
              </a:gdLst>
              <a:ahLst/>
              <a:cxnLst>
                <a:cxn ang="T6">
                  <a:pos x="T0" y="T1"/>
                </a:cxn>
                <a:cxn ang="T7">
                  <a:pos x="T2" y="T3"/>
                </a:cxn>
                <a:cxn ang="T8">
                  <a:pos x="T4" y="T5"/>
                </a:cxn>
              </a:cxnLst>
              <a:rect l="T9" t="T10" r="T11" b="T12"/>
              <a:pathLst>
                <a:path w="1625600" h="254000">
                  <a:moveTo>
                    <a:pt x="1625600" y="0"/>
                  </a:moveTo>
                  <a:lnTo>
                    <a:pt x="1384300" y="254000"/>
                  </a:lnTo>
                  <a:lnTo>
                    <a:pt x="0" y="254000"/>
                  </a:lnTo>
                </a:path>
              </a:pathLst>
            </a:custGeom>
            <a:noFill/>
            <a:ln w="12700" cap="rnd" cmpd="sng">
              <a:solidFill>
                <a:srgbClr val="566CD3"/>
              </a:solidFill>
              <a:prstDash val="solid"/>
              <a:bevel/>
              <a:headEnd type="oval" w="sm" len="sm"/>
              <a:tailEnd type="oval" w="sm" len="sm"/>
            </a:ln>
          </p:spPr>
          <p:txBody>
            <a:bodyPr lIns="68597" tIns="34298" rIns="68597" bIns="34298" anchor="ctr"/>
            <a:lstStyle/>
            <a:p>
              <a:endParaRPr lang="zh-CN" altLang="en-US">
                <a:solidFill>
                  <a:schemeClr val="tx1">
                    <a:lumMod val="75000"/>
                    <a:lumOff val="25000"/>
                  </a:schemeClr>
                </a:solidFill>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69" name="图形"/>
            <p:cNvSpPr txBox="1"/>
            <p:nvPr/>
          </p:nvSpPr>
          <p:spPr>
            <a:xfrm>
              <a:off x="11958" y="2482"/>
              <a:ext cx="5280" cy="2383"/>
            </a:xfrm>
            <a:prstGeom prst="rect">
              <a:avLst/>
            </a:prstGeom>
            <a:noFill/>
          </p:spPr>
          <p:txBody>
            <a:bodyPr wrap="square" rtlCol="0">
              <a:noAutofit/>
            </a:bodyPr>
            <a:lstStyle>
              <a:defPPr>
                <a:defRPr lang="zh-CN"/>
              </a:defPPr>
              <a:lvl1pPr>
                <a:defRPr sz="2400" b="1">
                  <a:gradFill>
                    <a:gsLst>
                      <a:gs pos="97000">
                        <a:srgbClr val="F0CB30">
                          <a:lumMod val="82000"/>
                        </a:srgbClr>
                      </a:gs>
                      <a:gs pos="0">
                        <a:srgbClr val="F4ECA3"/>
                      </a:gs>
                      <a:gs pos="75000">
                        <a:srgbClr val="F6E65D">
                          <a:lumMod val="90000"/>
                        </a:srgbClr>
                      </a:gs>
                    </a:gsLst>
                    <a:lin ang="3600000" scaled="0"/>
                  </a:gradFill>
                  <a:latin typeface="微软雅黑" panose="020B0503020204020204" pitchFamily="34" charset="-122"/>
                  <a:ea typeface="微软雅黑" panose="020B0503020204020204" pitchFamily="34" charset="-122"/>
                </a:defRPr>
              </a:lvl1pPr>
            </a:lstStyle>
            <a:p>
              <a:pPr algn="l">
                <a:lnSpc>
                  <a:spcPct val="150000"/>
                </a:lnSpc>
              </a:pPr>
              <a:r>
                <a:rPr lang="zh-CN" sz="2000" b="0">
                  <a:solidFill>
                    <a:schemeClr val="tx1">
                      <a:lumMod val="65000"/>
                      <a:lumOff val="35000"/>
                      <a:alpha val="100000"/>
                    </a:schemeClr>
                  </a:solidFill>
                  <a:cs typeface="思源黑体 Normal"/>
                  <a:sym typeface="Arial" panose="020B0604020202020204"/>
                </a:rPr>
                <a:t>赋能个体</a:t>
              </a:r>
              <a:r>
                <a:rPr lang="en-US" altLang="zh-CN" sz="2000" b="0">
                  <a:solidFill>
                    <a:schemeClr val="tx1">
                      <a:lumMod val="65000"/>
                      <a:lumOff val="35000"/>
                      <a:alpha val="100000"/>
                    </a:schemeClr>
                  </a:solidFill>
                  <a:cs typeface="思源黑体 Normal"/>
                  <a:sym typeface="Arial" panose="020B0604020202020204"/>
                </a:rPr>
                <a:t>“</a:t>
              </a:r>
              <a:r>
                <a:rPr lang="zh-CN" altLang="en-US" sz="2000" b="0">
                  <a:solidFill>
                    <a:schemeClr val="tx1">
                      <a:lumMod val="65000"/>
                      <a:lumOff val="35000"/>
                      <a:alpha val="100000"/>
                    </a:schemeClr>
                  </a:solidFill>
                  <a:cs typeface="思源黑体 Normal"/>
                  <a:sym typeface="Arial" panose="020B0604020202020204"/>
                </a:rPr>
                <a:t>走出去</a:t>
              </a:r>
              <a:r>
                <a:rPr lang="en-US" altLang="zh-CN" sz="2000" b="0">
                  <a:solidFill>
                    <a:schemeClr val="tx1">
                      <a:lumMod val="65000"/>
                      <a:lumOff val="35000"/>
                      <a:alpha val="100000"/>
                    </a:schemeClr>
                  </a:solidFill>
                  <a:cs typeface="思源黑体 Normal"/>
                  <a:sym typeface="Arial" panose="020B0604020202020204"/>
                </a:rPr>
                <a:t>”</a:t>
              </a:r>
              <a:r>
                <a:rPr lang="zh-CN" altLang="en-US" sz="2000" b="0">
                  <a:solidFill>
                    <a:schemeClr val="tx1">
                      <a:lumMod val="65000"/>
                      <a:lumOff val="35000"/>
                      <a:alpha val="100000"/>
                    </a:schemeClr>
                  </a:solidFill>
                  <a:cs typeface="思源黑体 Normal"/>
                  <a:sym typeface="Arial" panose="020B0604020202020204"/>
                </a:rPr>
                <a:t>和</a:t>
              </a:r>
              <a:r>
                <a:rPr lang="en-US" altLang="zh-CN" sz="2000" b="0">
                  <a:solidFill>
                    <a:schemeClr val="tx1">
                      <a:lumMod val="65000"/>
                      <a:lumOff val="35000"/>
                      <a:alpha val="100000"/>
                    </a:schemeClr>
                  </a:solidFill>
                  <a:cs typeface="思源黑体 Normal"/>
                  <a:sym typeface="Arial" panose="020B0604020202020204"/>
                </a:rPr>
                <a:t>“</a:t>
              </a:r>
              <a:r>
                <a:rPr lang="zh-CN" altLang="en-US" sz="2000" b="0">
                  <a:solidFill>
                    <a:schemeClr val="tx1">
                      <a:lumMod val="65000"/>
                      <a:lumOff val="35000"/>
                      <a:alpha val="100000"/>
                    </a:schemeClr>
                  </a:solidFill>
                  <a:cs typeface="思源黑体 Normal"/>
                  <a:sym typeface="Arial" panose="020B0604020202020204"/>
                </a:rPr>
                <a:t>引进来</a:t>
              </a:r>
              <a:r>
                <a:rPr lang="en-US" altLang="zh-CN" sz="2000" b="0">
                  <a:solidFill>
                    <a:schemeClr val="tx1">
                      <a:lumMod val="65000"/>
                      <a:lumOff val="35000"/>
                      <a:alpha val="100000"/>
                    </a:schemeClr>
                  </a:solidFill>
                  <a:cs typeface="思源黑体 Normal"/>
                  <a:sym typeface="Arial" panose="020B0604020202020204"/>
                </a:rPr>
                <a:t>”</a:t>
              </a:r>
              <a:r>
                <a:rPr lang="zh-CN" altLang="en-US" sz="2000" b="0">
                  <a:solidFill>
                    <a:schemeClr val="tx1">
                      <a:lumMod val="65000"/>
                      <a:lumOff val="35000"/>
                      <a:alpha val="100000"/>
                    </a:schemeClr>
                  </a:solidFill>
                  <a:cs typeface="思源黑体 Normal"/>
                  <a:sym typeface="Arial" panose="020B0604020202020204"/>
                </a:rPr>
                <a:t>，打破与外界的沟通壁垒，助力中国企业全球化</a:t>
              </a:r>
            </a:p>
          </p:txBody>
        </p:sp>
        <p:sp>
          <p:nvSpPr>
            <p:cNvPr id="170" name="图形"/>
            <p:cNvSpPr>
              <a:spLocks noChangeAspect="1"/>
            </p:cNvSpPr>
            <p:nvPr/>
          </p:nvSpPr>
          <p:spPr bwMode="auto">
            <a:xfrm>
              <a:off x="1740" y="4709"/>
              <a:ext cx="624" cy="559"/>
            </a:xfrm>
            <a:custGeom>
              <a:avLst/>
              <a:gdLst>
                <a:gd name="connsiteX0" fmla="*/ 187163 w 607639"/>
                <a:gd name="connsiteY0" fmla="*/ 266102 h 544483"/>
                <a:gd name="connsiteX1" fmla="*/ 211979 w 607639"/>
                <a:gd name="connsiteY1" fmla="*/ 352827 h 544483"/>
                <a:gd name="connsiteX2" fmla="*/ 161101 w 607639"/>
                <a:gd name="connsiteY2" fmla="*/ 352827 h 544483"/>
                <a:gd name="connsiteX3" fmla="*/ 152027 w 607639"/>
                <a:gd name="connsiteY3" fmla="*/ 178959 h 544483"/>
                <a:gd name="connsiteX4" fmla="*/ 54562 w 607639"/>
                <a:gd name="connsiteY4" fmla="*/ 458812 h 544483"/>
                <a:gd name="connsiteX5" fmla="*/ 133068 w 607639"/>
                <a:gd name="connsiteY5" fmla="*/ 458812 h 544483"/>
                <a:gd name="connsiteX6" fmla="*/ 149624 w 607639"/>
                <a:gd name="connsiteY6" fmla="*/ 403979 h 544483"/>
                <a:gd name="connsiteX7" fmla="*/ 224302 w 607639"/>
                <a:gd name="connsiteY7" fmla="*/ 403979 h 544483"/>
                <a:gd name="connsiteX8" fmla="*/ 241214 w 607639"/>
                <a:gd name="connsiteY8" fmla="*/ 458812 h 544483"/>
                <a:gd name="connsiteX9" fmla="*/ 319364 w 607639"/>
                <a:gd name="connsiteY9" fmla="*/ 458812 h 544483"/>
                <a:gd name="connsiteX10" fmla="*/ 222255 w 607639"/>
                <a:gd name="connsiteY10" fmla="*/ 178959 h 544483"/>
                <a:gd name="connsiteX11" fmla="*/ 420819 w 607639"/>
                <a:gd name="connsiteY11" fmla="*/ 172744 h 544483"/>
                <a:gd name="connsiteX12" fmla="*/ 445762 w 607639"/>
                <a:gd name="connsiteY12" fmla="*/ 259469 h 544483"/>
                <a:gd name="connsiteX13" fmla="*/ 420641 w 607639"/>
                <a:gd name="connsiteY13" fmla="*/ 259469 h 544483"/>
                <a:gd name="connsiteX14" fmla="*/ 420641 w 607639"/>
                <a:gd name="connsiteY14" fmla="*/ 173366 h 544483"/>
                <a:gd name="connsiteX15" fmla="*/ 0 w 607639"/>
                <a:gd name="connsiteY15" fmla="*/ 93288 h 544483"/>
                <a:gd name="connsiteX16" fmla="*/ 373926 w 607639"/>
                <a:gd name="connsiteY16" fmla="*/ 93288 h 544483"/>
                <a:gd name="connsiteX17" fmla="*/ 373926 w 607639"/>
                <a:gd name="connsiteY17" fmla="*/ 544483 h 544483"/>
                <a:gd name="connsiteX18" fmla="*/ 0 w 607639"/>
                <a:gd name="connsiteY18" fmla="*/ 544483 h 544483"/>
                <a:gd name="connsiteX19" fmla="*/ 233713 w 607639"/>
                <a:gd name="connsiteY19" fmla="*/ 0 h 544483"/>
                <a:gd name="connsiteX20" fmla="*/ 607639 w 607639"/>
                <a:gd name="connsiteY20" fmla="*/ 0 h 544483"/>
                <a:gd name="connsiteX21" fmla="*/ 607639 w 607639"/>
                <a:gd name="connsiteY21" fmla="*/ 451125 h 544483"/>
                <a:gd name="connsiteX22" fmla="*/ 420632 w 607639"/>
                <a:gd name="connsiteY22" fmla="*/ 451125 h 544483"/>
                <a:gd name="connsiteX23" fmla="*/ 420632 w 607639"/>
                <a:gd name="connsiteY23" fmla="*/ 310704 h 544483"/>
                <a:gd name="connsiteX24" fmla="*/ 457926 w 607639"/>
                <a:gd name="connsiteY24" fmla="*/ 310704 h 544483"/>
                <a:gd name="connsiteX25" fmla="*/ 474927 w 607639"/>
                <a:gd name="connsiteY25" fmla="*/ 365539 h 544483"/>
                <a:gd name="connsiteX26" fmla="*/ 553077 w 607639"/>
                <a:gd name="connsiteY26" fmla="*/ 365539 h 544483"/>
                <a:gd name="connsiteX27" fmla="*/ 455968 w 607639"/>
                <a:gd name="connsiteY27" fmla="*/ 85675 h 544483"/>
                <a:gd name="connsiteX28" fmla="*/ 420632 w 607639"/>
                <a:gd name="connsiteY28" fmla="*/ 85675 h 544483"/>
                <a:gd name="connsiteX29" fmla="*/ 420632 w 607639"/>
                <a:gd name="connsiteY29" fmla="*/ 46659 h 544483"/>
                <a:gd name="connsiteX30" fmla="*/ 233713 w 607639"/>
                <a:gd name="connsiteY30" fmla="*/ 46659 h 54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39" h="544483">
                  <a:moveTo>
                    <a:pt x="187163" y="266102"/>
                  </a:moveTo>
                  <a:lnTo>
                    <a:pt x="211979" y="352827"/>
                  </a:lnTo>
                  <a:lnTo>
                    <a:pt x="161101" y="352827"/>
                  </a:lnTo>
                  <a:close/>
                  <a:moveTo>
                    <a:pt x="152027" y="178959"/>
                  </a:moveTo>
                  <a:lnTo>
                    <a:pt x="54562" y="458812"/>
                  </a:lnTo>
                  <a:lnTo>
                    <a:pt x="133068" y="458812"/>
                  </a:lnTo>
                  <a:lnTo>
                    <a:pt x="149624" y="403979"/>
                  </a:lnTo>
                  <a:lnTo>
                    <a:pt x="224302" y="403979"/>
                  </a:lnTo>
                  <a:lnTo>
                    <a:pt x="241214" y="458812"/>
                  </a:lnTo>
                  <a:lnTo>
                    <a:pt x="319364" y="458812"/>
                  </a:lnTo>
                  <a:lnTo>
                    <a:pt x="222255" y="178959"/>
                  </a:lnTo>
                  <a:close/>
                  <a:moveTo>
                    <a:pt x="420819" y="172744"/>
                  </a:moveTo>
                  <a:lnTo>
                    <a:pt x="445762" y="259469"/>
                  </a:lnTo>
                  <a:lnTo>
                    <a:pt x="420641" y="259469"/>
                  </a:lnTo>
                  <a:lnTo>
                    <a:pt x="420641" y="173366"/>
                  </a:lnTo>
                  <a:close/>
                  <a:moveTo>
                    <a:pt x="0" y="93288"/>
                  </a:moveTo>
                  <a:lnTo>
                    <a:pt x="373926" y="93288"/>
                  </a:lnTo>
                  <a:lnTo>
                    <a:pt x="373926" y="544483"/>
                  </a:lnTo>
                  <a:lnTo>
                    <a:pt x="0" y="544483"/>
                  </a:lnTo>
                  <a:close/>
                  <a:moveTo>
                    <a:pt x="233713" y="0"/>
                  </a:moveTo>
                  <a:lnTo>
                    <a:pt x="607639" y="0"/>
                  </a:lnTo>
                  <a:lnTo>
                    <a:pt x="607639" y="451125"/>
                  </a:lnTo>
                  <a:lnTo>
                    <a:pt x="420632" y="451125"/>
                  </a:lnTo>
                  <a:lnTo>
                    <a:pt x="420632" y="310704"/>
                  </a:lnTo>
                  <a:lnTo>
                    <a:pt x="457926" y="310704"/>
                  </a:lnTo>
                  <a:lnTo>
                    <a:pt x="474927" y="365539"/>
                  </a:lnTo>
                  <a:lnTo>
                    <a:pt x="553077" y="365539"/>
                  </a:lnTo>
                  <a:lnTo>
                    <a:pt x="455968" y="85675"/>
                  </a:lnTo>
                  <a:lnTo>
                    <a:pt x="420632" y="85675"/>
                  </a:lnTo>
                  <a:lnTo>
                    <a:pt x="420632" y="46659"/>
                  </a:lnTo>
                  <a:lnTo>
                    <a:pt x="233713" y="46659"/>
                  </a:lnTo>
                  <a:close/>
                </a:path>
              </a:pathLst>
            </a:custGeom>
            <a:solidFill>
              <a:srgbClr val="F7B75D"/>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171" name="图形"/>
            <p:cNvSpPr>
              <a:spLocks noChangeAspect="1"/>
            </p:cNvSpPr>
            <p:nvPr/>
          </p:nvSpPr>
          <p:spPr bwMode="auto">
            <a:xfrm>
              <a:off x="16893" y="8247"/>
              <a:ext cx="567" cy="499"/>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rgbClr val="F7B75D"/>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172" name="图形"/>
            <p:cNvSpPr>
              <a:spLocks noChangeAspect="1"/>
            </p:cNvSpPr>
            <p:nvPr/>
          </p:nvSpPr>
          <p:spPr bwMode="auto">
            <a:xfrm>
              <a:off x="16753" y="4578"/>
              <a:ext cx="485" cy="510"/>
            </a:xfrm>
            <a:custGeom>
              <a:avLst/>
              <a:gdLst>
                <a:gd name="T0" fmla="*/ 600116 w 606244"/>
                <a:gd name="T1" fmla="*/ 600116 w 606244"/>
                <a:gd name="T2" fmla="*/ 600116 w 606244"/>
                <a:gd name="T3" fmla="*/ 600116 w 606244"/>
                <a:gd name="T4" fmla="*/ 600116 w 606244"/>
                <a:gd name="T5" fmla="*/ 600116 w 606244"/>
                <a:gd name="T6" fmla="*/ 600116 w 606244"/>
                <a:gd name="T7" fmla="*/ 600116 w 606244"/>
                <a:gd name="T8" fmla="*/ 600116 w 606244"/>
                <a:gd name="T9" fmla="*/ 600116 w 606244"/>
                <a:gd name="T10" fmla="*/ 600116 w 606244"/>
                <a:gd name="T11" fmla="*/ 600116 w 606244"/>
                <a:gd name="T12" fmla="*/ 600116 w 606244"/>
                <a:gd name="T13" fmla="*/ 600116 w 606244"/>
                <a:gd name="T14" fmla="*/ 600116 w 606244"/>
                <a:gd name="T15" fmla="*/ 600116 w 606244"/>
                <a:gd name="T16" fmla="*/ 600116 w 606244"/>
                <a:gd name="T17" fmla="*/ 600116 w 606244"/>
                <a:gd name="T18" fmla="*/ 600116 w 606244"/>
                <a:gd name="T19" fmla="*/ 600116 w 606244"/>
                <a:gd name="T20" fmla="*/ 600116 w 606244"/>
                <a:gd name="T21" fmla="*/ 600116 w 606244"/>
                <a:gd name="T22" fmla="*/ 600116 w 606244"/>
                <a:gd name="T23" fmla="*/ 600116 w 606244"/>
                <a:gd name="T24" fmla="*/ 455839 w 606244"/>
                <a:gd name="T25" fmla="*/ 455839 w 606244"/>
                <a:gd name="T26" fmla="*/ 600116 w 606244"/>
                <a:gd name="T27" fmla="*/ 600116 w 606244"/>
                <a:gd name="T28" fmla="*/ 600116 w 606244"/>
                <a:gd name="T29" fmla="*/ 600116 w 606244"/>
                <a:gd name="T30" fmla="*/ 600116 w 606244"/>
                <a:gd name="T31" fmla="*/ 600116 w 606244"/>
                <a:gd name="T32" fmla="*/ 600116 w 606244"/>
                <a:gd name="T33" fmla="*/ 600116 w 606244"/>
                <a:gd name="T34" fmla="*/ 600116 w 606244"/>
                <a:gd name="T35" fmla="*/ 600116 w 606244"/>
                <a:gd name="T36" fmla="*/ 600116 w 606244"/>
                <a:gd name="T37" fmla="*/ 600116 w 606244"/>
                <a:gd name="T38" fmla="*/ 455839 w 606244"/>
                <a:gd name="T39" fmla="*/ 455839 w 606244"/>
                <a:gd name="T40" fmla="*/ 600116 w 606244"/>
                <a:gd name="T41" fmla="*/ 600116 w 606244"/>
                <a:gd name="T42" fmla="*/ 600116 w 606244"/>
                <a:gd name="T43" fmla="*/ 600116 w 606244"/>
                <a:gd name="T44" fmla="*/ 600116 w 606244"/>
                <a:gd name="T45" fmla="*/ 600116 w 606244"/>
                <a:gd name="T46" fmla="*/ 600116 w 606244"/>
                <a:gd name="T47" fmla="*/ 600116 w 606244"/>
                <a:gd name="T48" fmla="*/ 600116 w 606244"/>
                <a:gd name="T49" fmla="*/ 600116 w 606244"/>
                <a:gd name="T50" fmla="*/ 600116 w 606244"/>
                <a:gd name="T51" fmla="*/ 600116 w 606244"/>
                <a:gd name="T52" fmla="*/ 600116 w 606244"/>
                <a:gd name="T53" fmla="*/ 600116 w 606244"/>
                <a:gd name="T54" fmla="*/ 600116 w 606244"/>
                <a:gd name="T55" fmla="*/ 600116 w 606244"/>
                <a:gd name="T56" fmla="*/ 600116 w 606244"/>
                <a:gd name="T57" fmla="*/ 600116 w 606244"/>
                <a:gd name="T58" fmla="*/ 455839 w 606244"/>
                <a:gd name="T59" fmla="*/ 455839 w 606244"/>
                <a:gd name="T60" fmla="*/ 600116 w 606244"/>
                <a:gd name="T61" fmla="*/ 600116 w 606244"/>
                <a:gd name="T62" fmla="*/ 600116 w 606244"/>
                <a:gd name="T63" fmla="*/ 600116 w 606244"/>
                <a:gd name="T64" fmla="*/ 600116 w 606244"/>
                <a:gd name="T65" fmla="*/ 600116 w 606244"/>
                <a:gd name="T66" fmla="*/ 600116 w 606244"/>
                <a:gd name="T67" fmla="*/ 600116 w 606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746" h="8160">
                  <a:moveTo>
                    <a:pt x="6552" y="5817"/>
                  </a:moveTo>
                  <a:cubicBezTo>
                    <a:pt x="6441" y="5817"/>
                    <a:pt x="6351" y="5727"/>
                    <a:pt x="6351" y="5616"/>
                  </a:cubicBezTo>
                  <a:cubicBezTo>
                    <a:pt x="6351" y="5505"/>
                    <a:pt x="6441" y="5415"/>
                    <a:pt x="6552" y="5415"/>
                  </a:cubicBezTo>
                  <a:lnTo>
                    <a:pt x="6903" y="5415"/>
                  </a:lnTo>
                  <a:lnTo>
                    <a:pt x="6903" y="2291"/>
                  </a:lnTo>
                  <a:lnTo>
                    <a:pt x="6552" y="2291"/>
                  </a:lnTo>
                  <a:cubicBezTo>
                    <a:pt x="6441" y="2291"/>
                    <a:pt x="6351" y="2201"/>
                    <a:pt x="6351" y="2089"/>
                  </a:cubicBezTo>
                  <a:cubicBezTo>
                    <a:pt x="6351" y="1978"/>
                    <a:pt x="6441" y="1888"/>
                    <a:pt x="6552" y="1888"/>
                  </a:cubicBezTo>
                  <a:lnTo>
                    <a:pt x="6903" y="1888"/>
                  </a:lnTo>
                  <a:lnTo>
                    <a:pt x="6903" y="935"/>
                  </a:lnTo>
                  <a:cubicBezTo>
                    <a:pt x="6903" y="880"/>
                    <a:pt x="6858" y="836"/>
                    <a:pt x="6803" y="836"/>
                  </a:cubicBezTo>
                  <a:lnTo>
                    <a:pt x="942" y="836"/>
                  </a:lnTo>
                  <a:cubicBezTo>
                    <a:pt x="888" y="836"/>
                    <a:pt x="843" y="880"/>
                    <a:pt x="843" y="935"/>
                  </a:cubicBezTo>
                  <a:lnTo>
                    <a:pt x="843" y="6771"/>
                  </a:lnTo>
                  <a:cubicBezTo>
                    <a:pt x="843" y="6826"/>
                    <a:pt x="888" y="6870"/>
                    <a:pt x="942" y="6870"/>
                  </a:cubicBezTo>
                  <a:lnTo>
                    <a:pt x="6803" y="6870"/>
                  </a:lnTo>
                  <a:cubicBezTo>
                    <a:pt x="6858" y="6870"/>
                    <a:pt x="6903" y="6826"/>
                    <a:pt x="6903" y="6771"/>
                  </a:cubicBezTo>
                  <a:lnTo>
                    <a:pt x="6903" y="5817"/>
                  </a:lnTo>
                  <a:lnTo>
                    <a:pt x="6552" y="5817"/>
                  </a:lnTo>
                  <a:lnTo>
                    <a:pt x="6552" y="5817"/>
                  </a:lnTo>
                  <a:close/>
                  <a:moveTo>
                    <a:pt x="2416" y="4826"/>
                  </a:moveTo>
                  <a:cubicBezTo>
                    <a:pt x="1880" y="4826"/>
                    <a:pt x="1443" y="4389"/>
                    <a:pt x="1443" y="3853"/>
                  </a:cubicBezTo>
                  <a:cubicBezTo>
                    <a:pt x="1443" y="3316"/>
                    <a:pt x="1880" y="2880"/>
                    <a:pt x="2416" y="2880"/>
                  </a:cubicBezTo>
                  <a:cubicBezTo>
                    <a:pt x="2953" y="2880"/>
                    <a:pt x="3389" y="3316"/>
                    <a:pt x="3389" y="3853"/>
                  </a:cubicBezTo>
                  <a:cubicBezTo>
                    <a:pt x="3389" y="4389"/>
                    <a:pt x="2953" y="4826"/>
                    <a:pt x="2416" y="4826"/>
                  </a:cubicBezTo>
                  <a:close/>
                  <a:moveTo>
                    <a:pt x="6149" y="4531"/>
                  </a:moveTo>
                  <a:lnTo>
                    <a:pt x="4205" y="4531"/>
                  </a:lnTo>
                  <a:cubicBezTo>
                    <a:pt x="4094" y="4531"/>
                    <a:pt x="4004" y="4441"/>
                    <a:pt x="4004" y="4330"/>
                  </a:cubicBezTo>
                  <a:lnTo>
                    <a:pt x="4004" y="3376"/>
                  </a:lnTo>
                  <a:cubicBezTo>
                    <a:pt x="4004" y="3265"/>
                    <a:pt x="4094" y="3175"/>
                    <a:pt x="4205" y="3175"/>
                  </a:cubicBezTo>
                  <a:lnTo>
                    <a:pt x="6149" y="3175"/>
                  </a:lnTo>
                  <a:cubicBezTo>
                    <a:pt x="6261" y="3175"/>
                    <a:pt x="6351" y="3265"/>
                    <a:pt x="6351" y="3376"/>
                  </a:cubicBezTo>
                  <a:lnTo>
                    <a:pt x="6351" y="4330"/>
                  </a:lnTo>
                  <a:cubicBezTo>
                    <a:pt x="6351" y="4441"/>
                    <a:pt x="6261" y="4531"/>
                    <a:pt x="6149" y="4531"/>
                  </a:cubicBezTo>
                  <a:close/>
                  <a:moveTo>
                    <a:pt x="2987" y="3853"/>
                  </a:moveTo>
                  <a:cubicBezTo>
                    <a:pt x="2987" y="4168"/>
                    <a:pt x="2731" y="4424"/>
                    <a:pt x="2416" y="4424"/>
                  </a:cubicBezTo>
                  <a:cubicBezTo>
                    <a:pt x="2102" y="4424"/>
                    <a:pt x="1846" y="4168"/>
                    <a:pt x="1846" y="3853"/>
                  </a:cubicBezTo>
                  <a:cubicBezTo>
                    <a:pt x="1846" y="3538"/>
                    <a:pt x="2102" y="3282"/>
                    <a:pt x="2416" y="3282"/>
                  </a:cubicBezTo>
                  <a:cubicBezTo>
                    <a:pt x="2731" y="3282"/>
                    <a:pt x="2987" y="3538"/>
                    <a:pt x="2987" y="3853"/>
                  </a:cubicBezTo>
                  <a:close/>
                  <a:moveTo>
                    <a:pt x="7124" y="0"/>
                  </a:moveTo>
                  <a:lnTo>
                    <a:pt x="622" y="0"/>
                  </a:lnTo>
                  <a:cubicBezTo>
                    <a:pt x="279" y="0"/>
                    <a:pt x="0" y="279"/>
                    <a:pt x="0" y="622"/>
                  </a:cubicBezTo>
                  <a:lnTo>
                    <a:pt x="0" y="7125"/>
                  </a:lnTo>
                  <a:cubicBezTo>
                    <a:pt x="0" y="7463"/>
                    <a:pt x="271" y="7739"/>
                    <a:pt x="608" y="7747"/>
                  </a:cubicBezTo>
                  <a:lnTo>
                    <a:pt x="608" y="7959"/>
                  </a:lnTo>
                  <a:cubicBezTo>
                    <a:pt x="608" y="8070"/>
                    <a:pt x="698" y="8160"/>
                    <a:pt x="809" y="8160"/>
                  </a:cubicBezTo>
                  <a:lnTo>
                    <a:pt x="1472" y="8160"/>
                  </a:lnTo>
                  <a:cubicBezTo>
                    <a:pt x="1583" y="8160"/>
                    <a:pt x="1673" y="8070"/>
                    <a:pt x="1673" y="7959"/>
                  </a:cubicBezTo>
                  <a:lnTo>
                    <a:pt x="1673" y="7747"/>
                  </a:lnTo>
                  <a:lnTo>
                    <a:pt x="6003" y="7747"/>
                  </a:lnTo>
                  <a:lnTo>
                    <a:pt x="6003" y="7959"/>
                  </a:lnTo>
                  <a:cubicBezTo>
                    <a:pt x="6003" y="8070"/>
                    <a:pt x="6093" y="8160"/>
                    <a:pt x="6204" y="8160"/>
                  </a:cubicBezTo>
                  <a:lnTo>
                    <a:pt x="6867" y="8160"/>
                  </a:lnTo>
                  <a:cubicBezTo>
                    <a:pt x="6978" y="8160"/>
                    <a:pt x="7068" y="8070"/>
                    <a:pt x="7068" y="7959"/>
                  </a:cubicBezTo>
                  <a:lnTo>
                    <a:pt x="7068" y="7747"/>
                  </a:lnTo>
                  <a:lnTo>
                    <a:pt x="7124" y="7747"/>
                  </a:lnTo>
                  <a:cubicBezTo>
                    <a:pt x="7467" y="7747"/>
                    <a:pt x="7746" y="7468"/>
                    <a:pt x="7746" y="7125"/>
                  </a:cubicBezTo>
                  <a:lnTo>
                    <a:pt x="7746" y="622"/>
                  </a:lnTo>
                  <a:cubicBezTo>
                    <a:pt x="7746" y="279"/>
                    <a:pt x="7467" y="0"/>
                    <a:pt x="7124" y="0"/>
                  </a:cubicBezTo>
                  <a:close/>
                  <a:moveTo>
                    <a:pt x="7305" y="6771"/>
                  </a:moveTo>
                  <a:cubicBezTo>
                    <a:pt x="7305" y="7048"/>
                    <a:pt x="7080" y="7273"/>
                    <a:pt x="6803" y="7273"/>
                  </a:cubicBezTo>
                  <a:lnTo>
                    <a:pt x="942" y="7273"/>
                  </a:lnTo>
                  <a:cubicBezTo>
                    <a:pt x="666" y="7273"/>
                    <a:pt x="441" y="7048"/>
                    <a:pt x="441" y="6771"/>
                  </a:cubicBezTo>
                  <a:lnTo>
                    <a:pt x="441" y="935"/>
                  </a:lnTo>
                  <a:cubicBezTo>
                    <a:pt x="441" y="658"/>
                    <a:pt x="666" y="433"/>
                    <a:pt x="942" y="433"/>
                  </a:cubicBezTo>
                  <a:lnTo>
                    <a:pt x="6803" y="433"/>
                  </a:lnTo>
                  <a:cubicBezTo>
                    <a:pt x="7080" y="433"/>
                    <a:pt x="7305" y="658"/>
                    <a:pt x="7305" y="935"/>
                  </a:cubicBezTo>
                  <a:lnTo>
                    <a:pt x="7305" y="6771"/>
                  </a:lnTo>
                  <a:close/>
                </a:path>
              </a:pathLst>
            </a:custGeom>
            <a:solidFill>
              <a:srgbClr val="566CD3"/>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173" name="图形"/>
            <p:cNvSpPr>
              <a:spLocks noChangeAspect="1"/>
            </p:cNvSpPr>
            <p:nvPr/>
          </p:nvSpPr>
          <p:spPr bwMode="auto">
            <a:xfrm>
              <a:off x="1823" y="8347"/>
              <a:ext cx="611" cy="567"/>
            </a:xfrm>
            <a:custGeom>
              <a:avLst/>
              <a:gdLst>
                <a:gd name="connsiteX0" fmla="*/ 331621 w 608704"/>
                <a:gd name="connsiteY0" fmla="*/ 496781 h 565088"/>
                <a:gd name="connsiteX1" fmla="*/ 441006 w 608704"/>
                <a:gd name="connsiteY1" fmla="*/ 496781 h 565088"/>
                <a:gd name="connsiteX2" fmla="*/ 446506 w 608704"/>
                <a:gd name="connsiteY2" fmla="*/ 497758 h 565088"/>
                <a:gd name="connsiteX3" fmla="*/ 454289 w 608704"/>
                <a:gd name="connsiteY3" fmla="*/ 504273 h 565088"/>
                <a:gd name="connsiteX4" fmla="*/ 456526 w 608704"/>
                <a:gd name="connsiteY4" fmla="*/ 512276 h 565088"/>
                <a:gd name="connsiteX5" fmla="*/ 456526 w 608704"/>
                <a:gd name="connsiteY5" fmla="*/ 517999 h 565088"/>
                <a:gd name="connsiteX6" fmla="*/ 456526 w 608704"/>
                <a:gd name="connsiteY6" fmla="*/ 549547 h 565088"/>
                <a:gd name="connsiteX7" fmla="*/ 441006 w 608704"/>
                <a:gd name="connsiteY7" fmla="*/ 565088 h 565088"/>
                <a:gd name="connsiteX8" fmla="*/ 331621 w 608704"/>
                <a:gd name="connsiteY8" fmla="*/ 565088 h 565088"/>
                <a:gd name="connsiteX9" fmla="*/ 316101 w 608704"/>
                <a:gd name="connsiteY9" fmla="*/ 549547 h 565088"/>
                <a:gd name="connsiteX10" fmla="*/ 316101 w 608704"/>
                <a:gd name="connsiteY10" fmla="*/ 517627 h 565088"/>
                <a:gd name="connsiteX11" fmla="*/ 316101 w 608704"/>
                <a:gd name="connsiteY11" fmla="*/ 512276 h 565088"/>
                <a:gd name="connsiteX12" fmla="*/ 318525 w 608704"/>
                <a:gd name="connsiteY12" fmla="*/ 503947 h 565088"/>
                <a:gd name="connsiteX13" fmla="*/ 326401 w 608704"/>
                <a:gd name="connsiteY13" fmla="*/ 497712 h 565088"/>
                <a:gd name="connsiteX14" fmla="*/ 331621 w 608704"/>
                <a:gd name="connsiteY14" fmla="*/ 496781 h 565088"/>
                <a:gd name="connsiteX15" fmla="*/ 166349 w 608704"/>
                <a:gd name="connsiteY15" fmla="*/ 496640 h 565088"/>
                <a:gd name="connsiteX16" fmla="*/ 275680 w 608704"/>
                <a:gd name="connsiteY16" fmla="*/ 496640 h 565088"/>
                <a:gd name="connsiteX17" fmla="*/ 282109 w 608704"/>
                <a:gd name="connsiteY17" fmla="*/ 498083 h 565088"/>
                <a:gd name="connsiteX18" fmla="*/ 289515 w 608704"/>
                <a:gd name="connsiteY18" fmla="*/ 505202 h 565088"/>
                <a:gd name="connsiteX19" fmla="*/ 291192 w 608704"/>
                <a:gd name="connsiteY19" fmla="*/ 512181 h 565088"/>
                <a:gd name="connsiteX20" fmla="*/ 291192 w 608704"/>
                <a:gd name="connsiteY20" fmla="*/ 518928 h 565088"/>
                <a:gd name="connsiteX21" fmla="*/ 291192 w 608704"/>
                <a:gd name="connsiteY21" fmla="*/ 549453 h 565088"/>
                <a:gd name="connsiteX22" fmla="*/ 275680 w 608704"/>
                <a:gd name="connsiteY22" fmla="*/ 564947 h 565088"/>
                <a:gd name="connsiteX23" fmla="*/ 166349 w 608704"/>
                <a:gd name="connsiteY23" fmla="*/ 564947 h 565088"/>
                <a:gd name="connsiteX24" fmla="*/ 150884 w 608704"/>
                <a:gd name="connsiteY24" fmla="*/ 549406 h 565088"/>
                <a:gd name="connsiteX25" fmla="*/ 150884 w 608704"/>
                <a:gd name="connsiteY25" fmla="*/ 516276 h 565088"/>
                <a:gd name="connsiteX26" fmla="*/ 150884 w 608704"/>
                <a:gd name="connsiteY26" fmla="*/ 512181 h 565088"/>
                <a:gd name="connsiteX27" fmla="*/ 153912 w 608704"/>
                <a:gd name="connsiteY27" fmla="*/ 502922 h 565088"/>
                <a:gd name="connsiteX28" fmla="*/ 162064 w 608704"/>
                <a:gd name="connsiteY28" fmla="*/ 497292 h 565088"/>
                <a:gd name="connsiteX29" fmla="*/ 166349 w 608704"/>
                <a:gd name="connsiteY29" fmla="*/ 496640 h 565088"/>
                <a:gd name="connsiteX30" fmla="*/ 560321 w 608704"/>
                <a:gd name="connsiteY30" fmla="*/ 169851 h 565088"/>
                <a:gd name="connsiteX31" fmla="*/ 572108 w 608704"/>
                <a:gd name="connsiteY31" fmla="*/ 175247 h 565088"/>
                <a:gd name="connsiteX32" fmla="*/ 577884 w 608704"/>
                <a:gd name="connsiteY32" fmla="*/ 346298 h 565088"/>
                <a:gd name="connsiteX33" fmla="*/ 535489 w 608704"/>
                <a:gd name="connsiteY33" fmla="*/ 388677 h 565088"/>
                <a:gd name="connsiteX34" fmla="*/ 492862 w 608704"/>
                <a:gd name="connsiteY34" fmla="*/ 424822 h 565088"/>
                <a:gd name="connsiteX35" fmla="*/ 455964 w 608704"/>
                <a:gd name="connsiteY35" fmla="*/ 451292 h 565088"/>
                <a:gd name="connsiteX36" fmla="*/ 446972 w 608704"/>
                <a:gd name="connsiteY36" fmla="*/ 468876 h 565088"/>
                <a:gd name="connsiteX37" fmla="*/ 446879 w 608704"/>
                <a:gd name="connsiteY37" fmla="*/ 478645 h 565088"/>
                <a:gd name="connsiteX38" fmla="*/ 441056 w 608704"/>
                <a:gd name="connsiteY38" fmla="*/ 478180 h 565088"/>
                <a:gd name="connsiteX39" fmla="*/ 331714 w 608704"/>
                <a:gd name="connsiteY39" fmla="*/ 478180 h 565088"/>
                <a:gd name="connsiteX40" fmla="*/ 326263 w 608704"/>
                <a:gd name="connsiteY40" fmla="*/ 478598 h 565088"/>
                <a:gd name="connsiteX41" fmla="*/ 326263 w 608704"/>
                <a:gd name="connsiteY41" fmla="*/ 409517 h 565088"/>
                <a:gd name="connsiteX42" fmla="*/ 327148 w 608704"/>
                <a:gd name="connsiteY42" fmla="*/ 404307 h 565088"/>
                <a:gd name="connsiteX43" fmla="*/ 434301 w 608704"/>
                <a:gd name="connsiteY43" fmla="*/ 313130 h 565088"/>
                <a:gd name="connsiteX44" fmla="*/ 441568 w 608704"/>
                <a:gd name="connsiteY44" fmla="*/ 309036 h 565088"/>
                <a:gd name="connsiteX45" fmla="*/ 476136 w 608704"/>
                <a:gd name="connsiteY45" fmla="*/ 274472 h 565088"/>
                <a:gd name="connsiteX46" fmla="*/ 487131 w 608704"/>
                <a:gd name="connsiteY46" fmla="*/ 269960 h 565088"/>
                <a:gd name="connsiteX47" fmla="*/ 498126 w 608704"/>
                <a:gd name="connsiteY47" fmla="*/ 274472 h 565088"/>
                <a:gd name="connsiteX48" fmla="*/ 510612 w 608704"/>
                <a:gd name="connsiteY48" fmla="*/ 286986 h 565088"/>
                <a:gd name="connsiteX49" fmla="*/ 513873 w 608704"/>
                <a:gd name="connsiteY49" fmla="*/ 290242 h 565088"/>
                <a:gd name="connsiteX50" fmla="*/ 513873 w 608704"/>
                <a:gd name="connsiteY50" fmla="*/ 312199 h 565088"/>
                <a:gd name="connsiteX51" fmla="*/ 445948 w 608704"/>
                <a:gd name="connsiteY51" fmla="*/ 379978 h 565088"/>
                <a:gd name="connsiteX52" fmla="*/ 445948 w 608704"/>
                <a:gd name="connsiteY52" fmla="*/ 388723 h 565088"/>
                <a:gd name="connsiteX53" fmla="*/ 447159 w 608704"/>
                <a:gd name="connsiteY53" fmla="*/ 389886 h 565088"/>
                <a:gd name="connsiteX54" fmla="*/ 451538 w 608704"/>
                <a:gd name="connsiteY54" fmla="*/ 391700 h 565088"/>
                <a:gd name="connsiteX55" fmla="*/ 455964 w 608704"/>
                <a:gd name="connsiteY55" fmla="*/ 389886 h 565088"/>
                <a:gd name="connsiteX56" fmla="*/ 533626 w 608704"/>
                <a:gd name="connsiteY56" fmla="*/ 312292 h 565088"/>
                <a:gd name="connsiteX57" fmla="*/ 533999 w 608704"/>
                <a:gd name="connsiteY57" fmla="*/ 209345 h 565088"/>
                <a:gd name="connsiteX58" fmla="*/ 535024 w 608704"/>
                <a:gd name="connsiteY58" fmla="*/ 188644 h 565088"/>
                <a:gd name="connsiteX59" fmla="*/ 535909 w 608704"/>
                <a:gd name="connsiteY59" fmla="*/ 187761 h 565088"/>
                <a:gd name="connsiteX60" fmla="*/ 549326 w 608704"/>
                <a:gd name="connsiteY60" fmla="*/ 174363 h 565088"/>
                <a:gd name="connsiteX61" fmla="*/ 560321 w 608704"/>
                <a:gd name="connsiteY61" fmla="*/ 169851 h 565088"/>
                <a:gd name="connsiteX62" fmla="*/ 48337 w 608704"/>
                <a:gd name="connsiteY62" fmla="*/ 169851 h 565088"/>
                <a:gd name="connsiteX63" fmla="*/ 59331 w 608704"/>
                <a:gd name="connsiteY63" fmla="*/ 174364 h 565088"/>
                <a:gd name="connsiteX64" fmla="*/ 72749 w 608704"/>
                <a:gd name="connsiteY64" fmla="*/ 187763 h 565088"/>
                <a:gd name="connsiteX65" fmla="*/ 73587 w 608704"/>
                <a:gd name="connsiteY65" fmla="*/ 188647 h 565088"/>
                <a:gd name="connsiteX66" fmla="*/ 74659 w 608704"/>
                <a:gd name="connsiteY66" fmla="*/ 209352 h 565088"/>
                <a:gd name="connsiteX67" fmla="*/ 75031 w 608704"/>
                <a:gd name="connsiteY67" fmla="*/ 312361 h 565088"/>
                <a:gd name="connsiteX68" fmla="*/ 152601 w 608704"/>
                <a:gd name="connsiteY68" fmla="*/ 389874 h 565088"/>
                <a:gd name="connsiteX69" fmla="*/ 157027 w 608704"/>
                <a:gd name="connsiteY69" fmla="*/ 391688 h 565088"/>
                <a:gd name="connsiteX70" fmla="*/ 161452 w 608704"/>
                <a:gd name="connsiteY70" fmla="*/ 389874 h 565088"/>
                <a:gd name="connsiteX71" fmla="*/ 162617 w 608704"/>
                <a:gd name="connsiteY71" fmla="*/ 388711 h 565088"/>
                <a:gd name="connsiteX72" fmla="*/ 162617 w 608704"/>
                <a:gd name="connsiteY72" fmla="*/ 379964 h 565088"/>
                <a:gd name="connsiteX73" fmla="*/ 94738 w 608704"/>
                <a:gd name="connsiteY73" fmla="*/ 312175 h 565088"/>
                <a:gd name="connsiteX74" fmla="*/ 94738 w 608704"/>
                <a:gd name="connsiteY74" fmla="*/ 290214 h 565088"/>
                <a:gd name="connsiteX75" fmla="*/ 97953 w 608704"/>
                <a:gd name="connsiteY75" fmla="*/ 286958 h 565088"/>
                <a:gd name="connsiteX76" fmla="*/ 110485 w 608704"/>
                <a:gd name="connsiteY76" fmla="*/ 274442 h 565088"/>
                <a:gd name="connsiteX77" fmla="*/ 121480 w 608704"/>
                <a:gd name="connsiteY77" fmla="*/ 269929 h 565088"/>
                <a:gd name="connsiteX78" fmla="*/ 132474 w 608704"/>
                <a:gd name="connsiteY78" fmla="*/ 274442 h 565088"/>
                <a:gd name="connsiteX79" fmla="*/ 167136 w 608704"/>
                <a:gd name="connsiteY79" fmla="*/ 309011 h 565088"/>
                <a:gd name="connsiteX80" fmla="*/ 174404 w 608704"/>
                <a:gd name="connsiteY80" fmla="*/ 313105 h 565088"/>
                <a:gd name="connsiteX81" fmla="*/ 281556 w 608704"/>
                <a:gd name="connsiteY81" fmla="*/ 404297 h 565088"/>
                <a:gd name="connsiteX82" fmla="*/ 282441 w 608704"/>
                <a:gd name="connsiteY82" fmla="*/ 409508 h 565088"/>
                <a:gd name="connsiteX83" fmla="*/ 282441 w 608704"/>
                <a:gd name="connsiteY83" fmla="*/ 478786 h 565088"/>
                <a:gd name="connsiteX84" fmla="*/ 275686 w 608704"/>
                <a:gd name="connsiteY84" fmla="*/ 478088 h 565088"/>
                <a:gd name="connsiteX85" fmla="*/ 166344 w 608704"/>
                <a:gd name="connsiteY85" fmla="*/ 478088 h 565088"/>
                <a:gd name="connsiteX86" fmla="*/ 161825 w 608704"/>
                <a:gd name="connsiteY86" fmla="*/ 478414 h 565088"/>
                <a:gd name="connsiteX87" fmla="*/ 161732 w 608704"/>
                <a:gd name="connsiteY87" fmla="*/ 468783 h 565088"/>
                <a:gd name="connsiteX88" fmla="*/ 152741 w 608704"/>
                <a:gd name="connsiteY88" fmla="*/ 451242 h 565088"/>
                <a:gd name="connsiteX89" fmla="*/ 115842 w 608704"/>
                <a:gd name="connsiteY89" fmla="*/ 424769 h 565088"/>
                <a:gd name="connsiteX90" fmla="*/ 73215 w 608704"/>
                <a:gd name="connsiteY90" fmla="*/ 388711 h 565088"/>
                <a:gd name="connsiteX91" fmla="*/ 30820 w 608704"/>
                <a:gd name="connsiteY91" fmla="*/ 346325 h 565088"/>
                <a:gd name="connsiteX92" fmla="*/ 36596 w 608704"/>
                <a:gd name="connsiteY92" fmla="*/ 175248 h 565088"/>
                <a:gd name="connsiteX93" fmla="*/ 48337 w 608704"/>
                <a:gd name="connsiteY93" fmla="*/ 169851 h 565088"/>
                <a:gd name="connsiteX94" fmla="*/ 101464 w 608704"/>
                <a:gd name="connsiteY94" fmla="*/ 164593 h 565088"/>
                <a:gd name="connsiteX95" fmla="*/ 112641 w 608704"/>
                <a:gd name="connsiteY95" fmla="*/ 169193 h 565088"/>
                <a:gd name="connsiteX96" fmla="*/ 131324 w 608704"/>
                <a:gd name="connsiteY96" fmla="*/ 188128 h 565088"/>
                <a:gd name="connsiteX97" fmla="*/ 131557 w 608704"/>
                <a:gd name="connsiteY97" fmla="*/ 209667 h 565088"/>
                <a:gd name="connsiteX98" fmla="*/ 117486 w 608704"/>
                <a:gd name="connsiteY98" fmla="*/ 224601 h 565088"/>
                <a:gd name="connsiteX99" fmla="*/ 94656 w 608704"/>
                <a:gd name="connsiteY99" fmla="*/ 264005 h 565088"/>
                <a:gd name="connsiteX100" fmla="*/ 81564 w 608704"/>
                <a:gd name="connsiteY100" fmla="*/ 277078 h 565088"/>
                <a:gd name="connsiteX101" fmla="*/ 77091 w 608704"/>
                <a:gd name="connsiteY101" fmla="*/ 282614 h 565088"/>
                <a:gd name="connsiteX102" fmla="*/ 74435 w 608704"/>
                <a:gd name="connsiteY102" fmla="*/ 275542 h 565088"/>
                <a:gd name="connsiteX103" fmla="*/ 73224 w 608704"/>
                <a:gd name="connsiteY103" fmla="*/ 252188 h 565088"/>
                <a:gd name="connsiteX104" fmla="*/ 89158 w 608704"/>
                <a:gd name="connsiteY104" fmla="*/ 221205 h 565088"/>
                <a:gd name="connsiteX105" fmla="*/ 96799 w 608704"/>
                <a:gd name="connsiteY105" fmla="*/ 197851 h 565088"/>
                <a:gd name="connsiteX106" fmla="*/ 86782 w 608704"/>
                <a:gd name="connsiteY106" fmla="*/ 175520 h 565088"/>
                <a:gd name="connsiteX107" fmla="*/ 85617 w 608704"/>
                <a:gd name="connsiteY107" fmla="*/ 174357 h 565088"/>
                <a:gd name="connsiteX108" fmla="*/ 90323 w 608704"/>
                <a:gd name="connsiteY108" fmla="*/ 169379 h 565088"/>
                <a:gd name="connsiteX109" fmla="*/ 101464 w 608704"/>
                <a:gd name="connsiteY109" fmla="*/ 164593 h 565088"/>
                <a:gd name="connsiteX110" fmla="*/ 507200 w 608704"/>
                <a:gd name="connsiteY110" fmla="*/ 164524 h 565088"/>
                <a:gd name="connsiteX111" fmla="*/ 518327 w 608704"/>
                <a:gd name="connsiteY111" fmla="*/ 169311 h 565088"/>
                <a:gd name="connsiteX112" fmla="*/ 523035 w 608704"/>
                <a:gd name="connsiteY112" fmla="*/ 174289 h 565088"/>
                <a:gd name="connsiteX113" fmla="*/ 521870 w 608704"/>
                <a:gd name="connsiteY113" fmla="*/ 175453 h 565088"/>
                <a:gd name="connsiteX114" fmla="*/ 511895 w 608704"/>
                <a:gd name="connsiteY114" fmla="*/ 197788 h 565088"/>
                <a:gd name="connsiteX115" fmla="*/ 519539 w 608704"/>
                <a:gd name="connsiteY115" fmla="*/ 221100 h 565088"/>
                <a:gd name="connsiteX116" fmla="*/ 535387 w 608704"/>
                <a:gd name="connsiteY116" fmla="*/ 252183 h 565088"/>
                <a:gd name="connsiteX117" fmla="*/ 534221 w 608704"/>
                <a:gd name="connsiteY117" fmla="*/ 275542 h 565088"/>
                <a:gd name="connsiteX118" fmla="*/ 531565 w 608704"/>
                <a:gd name="connsiteY118" fmla="*/ 282615 h 565088"/>
                <a:gd name="connsiteX119" fmla="*/ 527090 w 608704"/>
                <a:gd name="connsiteY119" fmla="*/ 277078 h 565088"/>
                <a:gd name="connsiteX120" fmla="*/ 513946 w 608704"/>
                <a:gd name="connsiteY120" fmla="*/ 264002 h 565088"/>
                <a:gd name="connsiteX121" fmla="*/ 491154 w 608704"/>
                <a:gd name="connsiteY121" fmla="*/ 224590 h 565088"/>
                <a:gd name="connsiteX122" fmla="*/ 477032 w 608704"/>
                <a:gd name="connsiteY122" fmla="*/ 209653 h 565088"/>
                <a:gd name="connsiteX123" fmla="*/ 477311 w 608704"/>
                <a:gd name="connsiteY123" fmla="*/ 188109 h 565088"/>
                <a:gd name="connsiteX124" fmla="*/ 496002 w 608704"/>
                <a:gd name="connsiteY124" fmla="*/ 169124 h 565088"/>
                <a:gd name="connsiteX125" fmla="*/ 507200 w 608704"/>
                <a:gd name="connsiteY125" fmla="*/ 164524 h 565088"/>
                <a:gd name="connsiteX126" fmla="*/ 255331 w 608704"/>
                <a:gd name="connsiteY126" fmla="*/ 53303 h 565088"/>
                <a:gd name="connsiteX127" fmla="*/ 244789 w 608704"/>
                <a:gd name="connsiteY127" fmla="*/ 55176 h 565088"/>
                <a:gd name="connsiteX128" fmla="*/ 240503 w 608704"/>
                <a:gd name="connsiteY128" fmla="*/ 74437 h 565088"/>
                <a:gd name="connsiteX129" fmla="*/ 282110 w 608704"/>
                <a:gd name="connsiteY129" fmla="*/ 139662 h 565088"/>
                <a:gd name="connsiteX130" fmla="*/ 268132 w 608704"/>
                <a:gd name="connsiteY130" fmla="*/ 139662 h 565088"/>
                <a:gd name="connsiteX131" fmla="*/ 254154 w 608704"/>
                <a:gd name="connsiteY131" fmla="*/ 153619 h 565088"/>
                <a:gd name="connsiteX132" fmla="*/ 268132 w 608704"/>
                <a:gd name="connsiteY132" fmla="*/ 167576 h 565088"/>
                <a:gd name="connsiteX133" fmla="*/ 292174 w 608704"/>
                <a:gd name="connsiteY133" fmla="*/ 167576 h 565088"/>
                <a:gd name="connsiteX134" fmla="*/ 292174 w 608704"/>
                <a:gd name="connsiteY134" fmla="*/ 177346 h 565088"/>
                <a:gd name="connsiteX135" fmla="*/ 268132 w 608704"/>
                <a:gd name="connsiteY135" fmla="*/ 177346 h 565088"/>
                <a:gd name="connsiteX136" fmla="*/ 254154 w 608704"/>
                <a:gd name="connsiteY136" fmla="*/ 191302 h 565088"/>
                <a:gd name="connsiteX137" fmla="*/ 268132 w 608704"/>
                <a:gd name="connsiteY137" fmla="*/ 205259 h 565088"/>
                <a:gd name="connsiteX138" fmla="*/ 292174 w 608704"/>
                <a:gd name="connsiteY138" fmla="*/ 205259 h 565088"/>
                <a:gd name="connsiteX139" fmla="*/ 292174 w 608704"/>
                <a:gd name="connsiteY139" fmla="*/ 224706 h 565088"/>
                <a:gd name="connsiteX140" fmla="*/ 306151 w 608704"/>
                <a:gd name="connsiteY140" fmla="*/ 238663 h 565088"/>
                <a:gd name="connsiteX141" fmla="*/ 320129 w 608704"/>
                <a:gd name="connsiteY141" fmla="*/ 224706 h 565088"/>
                <a:gd name="connsiteX142" fmla="*/ 320129 w 608704"/>
                <a:gd name="connsiteY142" fmla="*/ 205259 h 565088"/>
                <a:gd name="connsiteX143" fmla="*/ 344171 w 608704"/>
                <a:gd name="connsiteY143" fmla="*/ 205259 h 565088"/>
                <a:gd name="connsiteX144" fmla="*/ 358149 w 608704"/>
                <a:gd name="connsiteY144" fmla="*/ 191302 h 565088"/>
                <a:gd name="connsiteX145" fmla="*/ 344171 w 608704"/>
                <a:gd name="connsiteY145" fmla="*/ 177346 h 565088"/>
                <a:gd name="connsiteX146" fmla="*/ 320129 w 608704"/>
                <a:gd name="connsiteY146" fmla="*/ 177346 h 565088"/>
                <a:gd name="connsiteX147" fmla="*/ 320129 w 608704"/>
                <a:gd name="connsiteY147" fmla="*/ 167576 h 565088"/>
                <a:gd name="connsiteX148" fmla="*/ 344264 w 608704"/>
                <a:gd name="connsiteY148" fmla="*/ 167576 h 565088"/>
                <a:gd name="connsiteX149" fmla="*/ 358242 w 608704"/>
                <a:gd name="connsiteY149" fmla="*/ 153619 h 565088"/>
                <a:gd name="connsiteX150" fmla="*/ 344264 w 608704"/>
                <a:gd name="connsiteY150" fmla="*/ 139662 h 565088"/>
                <a:gd name="connsiteX151" fmla="*/ 330286 w 608704"/>
                <a:gd name="connsiteY151" fmla="*/ 139662 h 565088"/>
                <a:gd name="connsiteX152" fmla="*/ 371893 w 608704"/>
                <a:gd name="connsiteY152" fmla="*/ 74437 h 565088"/>
                <a:gd name="connsiteX153" fmla="*/ 367793 w 608704"/>
                <a:gd name="connsiteY153" fmla="*/ 55176 h 565088"/>
                <a:gd name="connsiteX154" fmla="*/ 348457 w 608704"/>
                <a:gd name="connsiteY154" fmla="*/ 59456 h 565088"/>
                <a:gd name="connsiteX155" fmla="*/ 306291 w 608704"/>
                <a:gd name="connsiteY155" fmla="*/ 125426 h 565088"/>
                <a:gd name="connsiteX156" fmla="*/ 264125 w 608704"/>
                <a:gd name="connsiteY156" fmla="*/ 59456 h 565088"/>
                <a:gd name="connsiteX157" fmla="*/ 255331 w 608704"/>
                <a:gd name="connsiteY157" fmla="*/ 53303 h 565088"/>
                <a:gd name="connsiteX158" fmla="*/ 304940 w 608704"/>
                <a:gd name="connsiteY158" fmla="*/ 0 h 565088"/>
                <a:gd name="connsiteX159" fmla="*/ 447000 w 608704"/>
                <a:gd name="connsiteY159" fmla="*/ 141895 h 565088"/>
                <a:gd name="connsiteX160" fmla="*/ 304940 w 608704"/>
                <a:gd name="connsiteY160" fmla="*/ 283744 h 565088"/>
                <a:gd name="connsiteX161" fmla="*/ 162833 w 608704"/>
                <a:gd name="connsiteY161" fmla="*/ 141895 h 565088"/>
                <a:gd name="connsiteX162" fmla="*/ 304940 w 608704"/>
                <a:gd name="connsiteY162" fmla="*/ 0 h 565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608704" h="565088">
                  <a:moveTo>
                    <a:pt x="331621" y="496781"/>
                  </a:moveTo>
                  <a:lnTo>
                    <a:pt x="441006" y="496781"/>
                  </a:lnTo>
                  <a:cubicBezTo>
                    <a:pt x="442917" y="496781"/>
                    <a:pt x="444781" y="497060"/>
                    <a:pt x="446506" y="497758"/>
                  </a:cubicBezTo>
                  <a:cubicBezTo>
                    <a:pt x="449815" y="499015"/>
                    <a:pt x="452565" y="501341"/>
                    <a:pt x="454289" y="504273"/>
                  </a:cubicBezTo>
                  <a:cubicBezTo>
                    <a:pt x="455734" y="506646"/>
                    <a:pt x="456526" y="509345"/>
                    <a:pt x="456526" y="512276"/>
                  </a:cubicBezTo>
                  <a:lnTo>
                    <a:pt x="456526" y="517999"/>
                  </a:lnTo>
                  <a:lnTo>
                    <a:pt x="456526" y="549547"/>
                  </a:lnTo>
                  <a:cubicBezTo>
                    <a:pt x="456526" y="558109"/>
                    <a:pt x="449582" y="565088"/>
                    <a:pt x="441006" y="565088"/>
                  </a:cubicBezTo>
                  <a:lnTo>
                    <a:pt x="331621" y="565088"/>
                  </a:lnTo>
                  <a:cubicBezTo>
                    <a:pt x="323046" y="565088"/>
                    <a:pt x="316101" y="558109"/>
                    <a:pt x="316101" y="549547"/>
                  </a:cubicBezTo>
                  <a:lnTo>
                    <a:pt x="316101" y="517627"/>
                  </a:lnTo>
                  <a:lnTo>
                    <a:pt x="316101" y="512276"/>
                  </a:lnTo>
                  <a:cubicBezTo>
                    <a:pt x="316101" y="509251"/>
                    <a:pt x="316940" y="506367"/>
                    <a:pt x="318525" y="503947"/>
                  </a:cubicBezTo>
                  <a:cubicBezTo>
                    <a:pt x="320389" y="501109"/>
                    <a:pt x="323092" y="498875"/>
                    <a:pt x="326401" y="497712"/>
                  </a:cubicBezTo>
                  <a:cubicBezTo>
                    <a:pt x="328032" y="497060"/>
                    <a:pt x="329757" y="496781"/>
                    <a:pt x="331621" y="496781"/>
                  </a:cubicBezTo>
                  <a:close/>
                  <a:moveTo>
                    <a:pt x="166349" y="496640"/>
                  </a:moveTo>
                  <a:lnTo>
                    <a:pt x="275680" y="496640"/>
                  </a:lnTo>
                  <a:cubicBezTo>
                    <a:pt x="277963" y="496640"/>
                    <a:pt x="280152" y="497152"/>
                    <a:pt x="282109" y="498083"/>
                  </a:cubicBezTo>
                  <a:cubicBezTo>
                    <a:pt x="285276" y="499572"/>
                    <a:pt x="287978" y="502038"/>
                    <a:pt x="289515" y="505202"/>
                  </a:cubicBezTo>
                  <a:cubicBezTo>
                    <a:pt x="290587" y="507249"/>
                    <a:pt x="291192" y="509669"/>
                    <a:pt x="291192" y="512181"/>
                  </a:cubicBezTo>
                  <a:lnTo>
                    <a:pt x="291192" y="518928"/>
                  </a:lnTo>
                  <a:lnTo>
                    <a:pt x="291192" y="549453"/>
                  </a:lnTo>
                  <a:cubicBezTo>
                    <a:pt x="291192" y="558014"/>
                    <a:pt x="284251" y="564947"/>
                    <a:pt x="275680" y="564947"/>
                  </a:cubicBezTo>
                  <a:lnTo>
                    <a:pt x="166349" y="564947"/>
                  </a:lnTo>
                  <a:cubicBezTo>
                    <a:pt x="157732" y="564947"/>
                    <a:pt x="150837" y="558014"/>
                    <a:pt x="150884" y="549406"/>
                  </a:cubicBezTo>
                  <a:lnTo>
                    <a:pt x="150884" y="516276"/>
                  </a:lnTo>
                  <a:lnTo>
                    <a:pt x="150884" y="512181"/>
                  </a:lnTo>
                  <a:cubicBezTo>
                    <a:pt x="150884" y="508692"/>
                    <a:pt x="152002" y="505528"/>
                    <a:pt x="153912" y="502922"/>
                  </a:cubicBezTo>
                  <a:cubicBezTo>
                    <a:pt x="155915" y="500270"/>
                    <a:pt x="158756" y="498222"/>
                    <a:pt x="162064" y="497292"/>
                  </a:cubicBezTo>
                  <a:cubicBezTo>
                    <a:pt x="163415" y="496826"/>
                    <a:pt x="164859" y="496640"/>
                    <a:pt x="166349" y="496640"/>
                  </a:cubicBezTo>
                  <a:close/>
                  <a:moveTo>
                    <a:pt x="560321" y="169851"/>
                  </a:moveTo>
                  <a:cubicBezTo>
                    <a:pt x="564653" y="169851"/>
                    <a:pt x="569033" y="171618"/>
                    <a:pt x="572108" y="175247"/>
                  </a:cubicBezTo>
                  <a:cubicBezTo>
                    <a:pt x="650934" y="266843"/>
                    <a:pt x="577884" y="346298"/>
                    <a:pt x="577884" y="346298"/>
                  </a:cubicBezTo>
                  <a:lnTo>
                    <a:pt x="535489" y="388677"/>
                  </a:lnTo>
                  <a:cubicBezTo>
                    <a:pt x="522258" y="401795"/>
                    <a:pt x="508003" y="413890"/>
                    <a:pt x="492862" y="424822"/>
                  </a:cubicBezTo>
                  <a:lnTo>
                    <a:pt x="455964" y="451292"/>
                  </a:lnTo>
                  <a:cubicBezTo>
                    <a:pt x="450373" y="455385"/>
                    <a:pt x="446972" y="461898"/>
                    <a:pt x="446972" y="468876"/>
                  </a:cubicBezTo>
                  <a:lnTo>
                    <a:pt x="446879" y="478645"/>
                  </a:lnTo>
                  <a:cubicBezTo>
                    <a:pt x="445016" y="478366"/>
                    <a:pt x="443059" y="478180"/>
                    <a:pt x="441056" y="478180"/>
                  </a:cubicBezTo>
                  <a:lnTo>
                    <a:pt x="331714" y="478180"/>
                  </a:lnTo>
                  <a:cubicBezTo>
                    <a:pt x="329851" y="478180"/>
                    <a:pt x="328080" y="478273"/>
                    <a:pt x="326263" y="478598"/>
                  </a:cubicBezTo>
                  <a:lnTo>
                    <a:pt x="326263" y="409517"/>
                  </a:lnTo>
                  <a:cubicBezTo>
                    <a:pt x="326263" y="407703"/>
                    <a:pt x="326589" y="405982"/>
                    <a:pt x="327148" y="404307"/>
                  </a:cubicBezTo>
                  <a:cubicBezTo>
                    <a:pt x="350489" y="337599"/>
                    <a:pt x="417063" y="317316"/>
                    <a:pt x="434301" y="313130"/>
                  </a:cubicBezTo>
                  <a:cubicBezTo>
                    <a:pt x="437003" y="312432"/>
                    <a:pt x="439565" y="310990"/>
                    <a:pt x="441568" y="309036"/>
                  </a:cubicBezTo>
                  <a:lnTo>
                    <a:pt x="476136" y="274472"/>
                  </a:lnTo>
                  <a:cubicBezTo>
                    <a:pt x="479211" y="271449"/>
                    <a:pt x="483171" y="269960"/>
                    <a:pt x="487131" y="269960"/>
                  </a:cubicBezTo>
                  <a:cubicBezTo>
                    <a:pt x="491138" y="269960"/>
                    <a:pt x="495098" y="271449"/>
                    <a:pt x="498126" y="274472"/>
                  </a:cubicBezTo>
                  <a:lnTo>
                    <a:pt x="510612" y="286986"/>
                  </a:lnTo>
                  <a:lnTo>
                    <a:pt x="513873" y="290242"/>
                  </a:lnTo>
                  <a:cubicBezTo>
                    <a:pt x="519929" y="296290"/>
                    <a:pt x="519929" y="306105"/>
                    <a:pt x="513873" y="312199"/>
                  </a:cubicBezTo>
                  <a:lnTo>
                    <a:pt x="445948" y="379978"/>
                  </a:lnTo>
                  <a:cubicBezTo>
                    <a:pt x="443525" y="382397"/>
                    <a:pt x="443525" y="386304"/>
                    <a:pt x="445948" y="388723"/>
                  </a:cubicBezTo>
                  <a:lnTo>
                    <a:pt x="447159" y="389886"/>
                  </a:lnTo>
                  <a:cubicBezTo>
                    <a:pt x="448370" y="391096"/>
                    <a:pt x="449954" y="391700"/>
                    <a:pt x="451538" y="391700"/>
                  </a:cubicBezTo>
                  <a:cubicBezTo>
                    <a:pt x="453169" y="391700"/>
                    <a:pt x="454706" y="391142"/>
                    <a:pt x="455964" y="389886"/>
                  </a:cubicBezTo>
                  <a:lnTo>
                    <a:pt x="533626" y="312292"/>
                  </a:lnTo>
                  <a:cubicBezTo>
                    <a:pt x="533626" y="312292"/>
                    <a:pt x="581379" y="266983"/>
                    <a:pt x="533999" y="209345"/>
                  </a:cubicBezTo>
                  <a:cubicBezTo>
                    <a:pt x="528874" y="203205"/>
                    <a:pt x="529386" y="194273"/>
                    <a:pt x="535024" y="188644"/>
                  </a:cubicBezTo>
                  <a:lnTo>
                    <a:pt x="535909" y="187761"/>
                  </a:lnTo>
                  <a:lnTo>
                    <a:pt x="549326" y="174363"/>
                  </a:lnTo>
                  <a:cubicBezTo>
                    <a:pt x="552354" y="171339"/>
                    <a:pt x="556361" y="169851"/>
                    <a:pt x="560321" y="169851"/>
                  </a:cubicBezTo>
                  <a:close/>
                  <a:moveTo>
                    <a:pt x="48337" y="169851"/>
                  </a:moveTo>
                  <a:cubicBezTo>
                    <a:pt x="52297" y="169851"/>
                    <a:pt x="56257" y="171340"/>
                    <a:pt x="59331" y="174364"/>
                  </a:cubicBezTo>
                  <a:lnTo>
                    <a:pt x="72749" y="187763"/>
                  </a:lnTo>
                  <a:lnTo>
                    <a:pt x="73587" y="188647"/>
                  </a:lnTo>
                  <a:cubicBezTo>
                    <a:pt x="79178" y="194231"/>
                    <a:pt x="79690" y="203210"/>
                    <a:pt x="74659" y="209352"/>
                  </a:cubicBezTo>
                  <a:cubicBezTo>
                    <a:pt x="27279" y="266998"/>
                    <a:pt x="75031" y="312361"/>
                    <a:pt x="75031" y="312361"/>
                  </a:cubicBezTo>
                  <a:lnTo>
                    <a:pt x="152601" y="389874"/>
                  </a:lnTo>
                  <a:cubicBezTo>
                    <a:pt x="153859" y="391084"/>
                    <a:pt x="155396" y="391688"/>
                    <a:pt x="157027" y="391688"/>
                  </a:cubicBezTo>
                  <a:cubicBezTo>
                    <a:pt x="158657" y="391688"/>
                    <a:pt x="160195" y="391130"/>
                    <a:pt x="161452" y="389874"/>
                  </a:cubicBezTo>
                  <a:lnTo>
                    <a:pt x="162617" y="388711"/>
                  </a:lnTo>
                  <a:cubicBezTo>
                    <a:pt x="165040" y="386291"/>
                    <a:pt x="165040" y="382383"/>
                    <a:pt x="162617" y="379964"/>
                  </a:cubicBezTo>
                  <a:lnTo>
                    <a:pt x="94738" y="312175"/>
                  </a:lnTo>
                  <a:cubicBezTo>
                    <a:pt x="88635" y="306080"/>
                    <a:pt x="88635" y="296263"/>
                    <a:pt x="94738" y="290214"/>
                  </a:cubicBezTo>
                  <a:lnTo>
                    <a:pt x="97953" y="286958"/>
                  </a:lnTo>
                  <a:lnTo>
                    <a:pt x="110485" y="274442"/>
                  </a:lnTo>
                  <a:cubicBezTo>
                    <a:pt x="113560" y="271418"/>
                    <a:pt x="117520" y="269929"/>
                    <a:pt x="121480" y="269929"/>
                  </a:cubicBezTo>
                  <a:cubicBezTo>
                    <a:pt x="125486" y="269929"/>
                    <a:pt x="129446" y="271418"/>
                    <a:pt x="132474" y="274442"/>
                  </a:cubicBezTo>
                  <a:lnTo>
                    <a:pt x="167136" y="309011"/>
                  </a:lnTo>
                  <a:cubicBezTo>
                    <a:pt x="169139" y="310965"/>
                    <a:pt x="171702" y="312408"/>
                    <a:pt x="174404" y="313105"/>
                  </a:cubicBezTo>
                  <a:cubicBezTo>
                    <a:pt x="191641" y="317293"/>
                    <a:pt x="258216" y="337578"/>
                    <a:pt x="281556" y="404297"/>
                  </a:cubicBezTo>
                  <a:cubicBezTo>
                    <a:pt x="282115" y="405972"/>
                    <a:pt x="282441" y="407740"/>
                    <a:pt x="282441" y="409508"/>
                  </a:cubicBezTo>
                  <a:lnTo>
                    <a:pt x="282441" y="478786"/>
                  </a:lnTo>
                  <a:cubicBezTo>
                    <a:pt x="280252" y="478367"/>
                    <a:pt x="277969" y="478088"/>
                    <a:pt x="275686" y="478088"/>
                  </a:cubicBezTo>
                  <a:lnTo>
                    <a:pt x="166344" y="478088"/>
                  </a:lnTo>
                  <a:cubicBezTo>
                    <a:pt x="164807" y="478088"/>
                    <a:pt x="163316" y="478227"/>
                    <a:pt x="161825" y="478414"/>
                  </a:cubicBezTo>
                  <a:lnTo>
                    <a:pt x="161732" y="468783"/>
                  </a:lnTo>
                  <a:cubicBezTo>
                    <a:pt x="161732" y="461850"/>
                    <a:pt x="158378" y="455290"/>
                    <a:pt x="152741" y="451242"/>
                  </a:cubicBezTo>
                  <a:lnTo>
                    <a:pt x="115842" y="424769"/>
                  </a:lnTo>
                  <a:cubicBezTo>
                    <a:pt x="100701" y="413881"/>
                    <a:pt x="86399" y="401785"/>
                    <a:pt x="73215" y="388711"/>
                  </a:cubicBezTo>
                  <a:lnTo>
                    <a:pt x="30820" y="346325"/>
                  </a:lnTo>
                  <a:cubicBezTo>
                    <a:pt x="30820" y="346325"/>
                    <a:pt x="-42230" y="266858"/>
                    <a:pt x="36596" y="175248"/>
                  </a:cubicBezTo>
                  <a:cubicBezTo>
                    <a:pt x="39625" y="171665"/>
                    <a:pt x="43957" y="169851"/>
                    <a:pt x="48337" y="169851"/>
                  </a:cubicBezTo>
                  <a:close/>
                  <a:moveTo>
                    <a:pt x="101464" y="164593"/>
                  </a:moveTo>
                  <a:cubicBezTo>
                    <a:pt x="105512" y="164564"/>
                    <a:pt x="109566" y="166100"/>
                    <a:pt x="112641" y="169193"/>
                  </a:cubicBezTo>
                  <a:lnTo>
                    <a:pt x="131324" y="188128"/>
                  </a:lnTo>
                  <a:cubicBezTo>
                    <a:pt x="137148" y="194082"/>
                    <a:pt x="137288" y="203573"/>
                    <a:pt x="131557" y="209667"/>
                  </a:cubicBezTo>
                  <a:lnTo>
                    <a:pt x="117486" y="224601"/>
                  </a:lnTo>
                  <a:cubicBezTo>
                    <a:pt x="102483" y="238790"/>
                    <a:pt x="96100" y="252142"/>
                    <a:pt x="94656" y="264005"/>
                  </a:cubicBezTo>
                  <a:lnTo>
                    <a:pt x="81564" y="277078"/>
                  </a:lnTo>
                  <a:cubicBezTo>
                    <a:pt x="79886" y="278799"/>
                    <a:pt x="78395" y="280613"/>
                    <a:pt x="77091" y="282614"/>
                  </a:cubicBezTo>
                  <a:cubicBezTo>
                    <a:pt x="76112" y="280427"/>
                    <a:pt x="75181" y="278055"/>
                    <a:pt x="74435" y="275542"/>
                  </a:cubicBezTo>
                  <a:cubicBezTo>
                    <a:pt x="72105" y="267820"/>
                    <a:pt x="71733" y="259958"/>
                    <a:pt x="73224" y="252188"/>
                  </a:cubicBezTo>
                  <a:cubicBezTo>
                    <a:pt x="75227" y="242047"/>
                    <a:pt x="80492" y="231533"/>
                    <a:pt x="89158" y="221205"/>
                  </a:cubicBezTo>
                  <a:cubicBezTo>
                    <a:pt x="94470" y="214692"/>
                    <a:pt x="97219" y="206364"/>
                    <a:pt x="96799" y="197851"/>
                  </a:cubicBezTo>
                  <a:cubicBezTo>
                    <a:pt x="96287" y="189430"/>
                    <a:pt x="92746" y="181475"/>
                    <a:pt x="86782" y="175520"/>
                  </a:cubicBezTo>
                  <a:lnTo>
                    <a:pt x="85617" y="174357"/>
                  </a:lnTo>
                  <a:lnTo>
                    <a:pt x="90323" y="169379"/>
                  </a:lnTo>
                  <a:cubicBezTo>
                    <a:pt x="93375" y="166216"/>
                    <a:pt x="97417" y="164622"/>
                    <a:pt x="101464" y="164593"/>
                  </a:cubicBezTo>
                  <a:close/>
                  <a:moveTo>
                    <a:pt x="507200" y="164524"/>
                  </a:moveTo>
                  <a:cubicBezTo>
                    <a:pt x="511255" y="164553"/>
                    <a:pt x="515298" y="166147"/>
                    <a:pt x="518327" y="169311"/>
                  </a:cubicBezTo>
                  <a:lnTo>
                    <a:pt x="523035" y="174289"/>
                  </a:lnTo>
                  <a:lnTo>
                    <a:pt x="521870" y="175453"/>
                  </a:lnTo>
                  <a:cubicBezTo>
                    <a:pt x="515904" y="181409"/>
                    <a:pt x="512361" y="189366"/>
                    <a:pt x="511895" y="197788"/>
                  </a:cubicBezTo>
                  <a:cubicBezTo>
                    <a:pt x="511429" y="206210"/>
                    <a:pt x="514133" y="214539"/>
                    <a:pt x="519539" y="221100"/>
                  </a:cubicBezTo>
                  <a:cubicBezTo>
                    <a:pt x="528069" y="231523"/>
                    <a:pt x="533429" y="241946"/>
                    <a:pt x="535387" y="252183"/>
                  </a:cubicBezTo>
                  <a:cubicBezTo>
                    <a:pt x="536971" y="259954"/>
                    <a:pt x="536505" y="267818"/>
                    <a:pt x="534221" y="275542"/>
                  </a:cubicBezTo>
                  <a:cubicBezTo>
                    <a:pt x="533476" y="278055"/>
                    <a:pt x="532543" y="280428"/>
                    <a:pt x="531565" y="282615"/>
                  </a:cubicBezTo>
                  <a:cubicBezTo>
                    <a:pt x="530306" y="280614"/>
                    <a:pt x="528815" y="278799"/>
                    <a:pt x="527090" y="277078"/>
                  </a:cubicBezTo>
                  <a:lnTo>
                    <a:pt x="513946" y="264002"/>
                  </a:lnTo>
                  <a:cubicBezTo>
                    <a:pt x="512548" y="252137"/>
                    <a:pt x="506069" y="238782"/>
                    <a:pt x="491154" y="224590"/>
                  </a:cubicBezTo>
                  <a:lnTo>
                    <a:pt x="477032" y="209653"/>
                  </a:lnTo>
                  <a:cubicBezTo>
                    <a:pt x="471345" y="203558"/>
                    <a:pt x="471438" y="194065"/>
                    <a:pt x="477311" y="188109"/>
                  </a:cubicBezTo>
                  <a:lnTo>
                    <a:pt x="496002" y="169124"/>
                  </a:lnTo>
                  <a:cubicBezTo>
                    <a:pt x="499078" y="166030"/>
                    <a:pt x="503145" y="164495"/>
                    <a:pt x="507200" y="164524"/>
                  </a:cubicBezTo>
                  <a:close/>
                  <a:moveTo>
                    <a:pt x="255331" y="53303"/>
                  </a:moveTo>
                  <a:cubicBezTo>
                    <a:pt x="251836" y="52524"/>
                    <a:pt x="248051" y="53083"/>
                    <a:pt x="244789" y="55176"/>
                  </a:cubicBezTo>
                  <a:cubicBezTo>
                    <a:pt x="238266" y="59317"/>
                    <a:pt x="236356" y="67923"/>
                    <a:pt x="240503" y="74437"/>
                  </a:cubicBezTo>
                  <a:lnTo>
                    <a:pt x="282110" y="139662"/>
                  </a:lnTo>
                  <a:lnTo>
                    <a:pt x="268132" y="139662"/>
                  </a:lnTo>
                  <a:cubicBezTo>
                    <a:pt x="260444" y="139662"/>
                    <a:pt x="254154" y="145896"/>
                    <a:pt x="254154" y="153619"/>
                  </a:cubicBezTo>
                  <a:cubicBezTo>
                    <a:pt x="254154" y="161295"/>
                    <a:pt x="260444" y="167576"/>
                    <a:pt x="268132" y="167576"/>
                  </a:cubicBezTo>
                  <a:lnTo>
                    <a:pt x="292174" y="167576"/>
                  </a:lnTo>
                  <a:lnTo>
                    <a:pt x="292174" y="177346"/>
                  </a:lnTo>
                  <a:lnTo>
                    <a:pt x="268132" y="177346"/>
                  </a:lnTo>
                  <a:cubicBezTo>
                    <a:pt x="260444" y="177346"/>
                    <a:pt x="254154" y="183626"/>
                    <a:pt x="254154" y="191302"/>
                  </a:cubicBezTo>
                  <a:cubicBezTo>
                    <a:pt x="254154" y="199025"/>
                    <a:pt x="260444" y="205259"/>
                    <a:pt x="268132" y="205259"/>
                  </a:cubicBezTo>
                  <a:lnTo>
                    <a:pt x="292174" y="205259"/>
                  </a:lnTo>
                  <a:lnTo>
                    <a:pt x="292174" y="224706"/>
                  </a:lnTo>
                  <a:cubicBezTo>
                    <a:pt x="292174" y="232382"/>
                    <a:pt x="298464" y="238663"/>
                    <a:pt x="306151" y="238663"/>
                  </a:cubicBezTo>
                  <a:cubicBezTo>
                    <a:pt x="313886" y="238663"/>
                    <a:pt x="320129" y="232382"/>
                    <a:pt x="320129" y="224706"/>
                  </a:cubicBezTo>
                  <a:lnTo>
                    <a:pt x="320129" y="205259"/>
                  </a:lnTo>
                  <a:lnTo>
                    <a:pt x="344171" y="205259"/>
                  </a:lnTo>
                  <a:cubicBezTo>
                    <a:pt x="351905" y="205259"/>
                    <a:pt x="358149" y="199025"/>
                    <a:pt x="358149" y="191302"/>
                  </a:cubicBezTo>
                  <a:cubicBezTo>
                    <a:pt x="358149" y="183626"/>
                    <a:pt x="351905" y="177346"/>
                    <a:pt x="344171" y="177346"/>
                  </a:cubicBezTo>
                  <a:lnTo>
                    <a:pt x="320129" y="177346"/>
                  </a:lnTo>
                  <a:lnTo>
                    <a:pt x="320129" y="167576"/>
                  </a:lnTo>
                  <a:lnTo>
                    <a:pt x="344264" y="167576"/>
                  </a:lnTo>
                  <a:cubicBezTo>
                    <a:pt x="351952" y="167576"/>
                    <a:pt x="358242" y="161295"/>
                    <a:pt x="358242" y="153619"/>
                  </a:cubicBezTo>
                  <a:cubicBezTo>
                    <a:pt x="358242" y="145896"/>
                    <a:pt x="351952" y="139662"/>
                    <a:pt x="344264" y="139662"/>
                  </a:cubicBezTo>
                  <a:lnTo>
                    <a:pt x="330286" y="139662"/>
                  </a:lnTo>
                  <a:lnTo>
                    <a:pt x="371893" y="74437"/>
                  </a:lnTo>
                  <a:cubicBezTo>
                    <a:pt x="376040" y="67923"/>
                    <a:pt x="374130" y="59317"/>
                    <a:pt x="367793" y="55176"/>
                  </a:cubicBezTo>
                  <a:cubicBezTo>
                    <a:pt x="361270" y="50989"/>
                    <a:pt x="352651" y="52943"/>
                    <a:pt x="348457" y="59456"/>
                  </a:cubicBezTo>
                  <a:lnTo>
                    <a:pt x="306291" y="125426"/>
                  </a:lnTo>
                  <a:lnTo>
                    <a:pt x="264125" y="59456"/>
                  </a:lnTo>
                  <a:cubicBezTo>
                    <a:pt x="262029" y="56200"/>
                    <a:pt x="258825" y="54083"/>
                    <a:pt x="255331" y="53303"/>
                  </a:cubicBezTo>
                  <a:close/>
                  <a:moveTo>
                    <a:pt x="304940" y="0"/>
                  </a:moveTo>
                  <a:cubicBezTo>
                    <a:pt x="383402" y="0"/>
                    <a:pt x="447000" y="63550"/>
                    <a:pt x="447000" y="141895"/>
                  </a:cubicBezTo>
                  <a:cubicBezTo>
                    <a:pt x="447000" y="220240"/>
                    <a:pt x="383402" y="283744"/>
                    <a:pt x="304940" y="283744"/>
                  </a:cubicBezTo>
                  <a:cubicBezTo>
                    <a:pt x="226478" y="283744"/>
                    <a:pt x="162833" y="220240"/>
                    <a:pt x="162833" y="141895"/>
                  </a:cubicBezTo>
                  <a:cubicBezTo>
                    <a:pt x="162833" y="63550"/>
                    <a:pt x="226478" y="0"/>
                    <a:pt x="304940" y="0"/>
                  </a:cubicBezTo>
                  <a:close/>
                </a:path>
              </a:pathLst>
            </a:custGeom>
            <a:solidFill>
              <a:srgbClr val="566CD3"/>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174" name="图形"/>
            <p:cNvSpPr txBox="1"/>
            <p:nvPr/>
          </p:nvSpPr>
          <p:spPr>
            <a:xfrm>
              <a:off x="8076" y="4129"/>
              <a:ext cx="2500" cy="721"/>
            </a:xfrm>
            <a:prstGeom prst="rect">
              <a:avLst/>
            </a:prstGeom>
            <a:noFill/>
          </p:spPr>
          <p:txBody>
            <a:bodyPr wrap="square" rtlCol="0">
              <a:spAutoFit/>
            </a:bodyPr>
            <a:lstStyle/>
            <a:p>
              <a:pPr algn="ctr"/>
              <a:r>
                <a:rPr lang="zh-CN" sz="2400" b="1">
                  <a:solidFill>
                    <a:schemeClr val="bg1">
                      <a:alpha val="100000"/>
                    </a:schemeClr>
                  </a:solidFill>
                  <a:latin typeface="宋体" panose="02010600030101010101" pitchFamily="2" charset="-122"/>
                  <a:ea typeface="宋体" panose="02010600030101010101" pitchFamily="2" charset="-122"/>
                  <a:cs typeface="思源黑体 Normal"/>
                  <a:sym typeface="Arial" panose="020B0604020202020204"/>
                </a:rPr>
                <a:t>文化传播</a:t>
              </a:r>
            </a:p>
          </p:txBody>
        </p:sp>
        <p:sp>
          <p:nvSpPr>
            <p:cNvPr id="175" name="图形"/>
            <p:cNvSpPr txBox="1"/>
            <p:nvPr/>
          </p:nvSpPr>
          <p:spPr>
            <a:xfrm>
              <a:off x="7561" y="5241"/>
              <a:ext cx="3539" cy="721"/>
            </a:xfrm>
            <a:prstGeom prst="rect">
              <a:avLst/>
            </a:prstGeom>
            <a:noFill/>
            <a:ln w="0"/>
          </p:spPr>
          <p:txBody>
            <a:bodyPr wrap="square" rtlCol="0">
              <a:spAutoFit/>
            </a:bodyPr>
            <a:lstStyle/>
            <a:p>
              <a:pPr algn="ctr"/>
              <a:r>
                <a:rPr lang="zh-CN" sz="2400" b="1">
                  <a:solidFill>
                    <a:schemeClr val="bg1">
                      <a:alpha val="100000"/>
                    </a:schemeClr>
                  </a:solidFill>
                  <a:latin typeface="宋体" panose="02010600030101010101" pitchFamily="2" charset="-122"/>
                  <a:ea typeface="宋体" panose="02010600030101010101" pitchFamily="2" charset="-122"/>
                </a:rPr>
                <a:t>打破沟通壁垒</a:t>
              </a:r>
            </a:p>
          </p:txBody>
        </p:sp>
        <p:sp>
          <p:nvSpPr>
            <p:cNvPr id="176" name="图形"/>
            <p:cNvSpPr txBox="1"/>
            <p:nvPr/>
          </p:nvSpPr>
          <p:spPr>
            <a:xfrm>
              <a:off x="8076" y="6525"/>
              <a:ext cx="2348" cy="721"/>
            </a:xfrm>
            <a:prstGeom prst="rect">
              <a:avLst/>
            </a:prstGeom>
            <a:noFill/>
          </p:spPr>
          <p:txBody>
            <a:bodyPr wrap="square" rtlCol="0">
              <a:spAutoFit/>
            </a:bodyPr>
            <a:lstStyle/>
            <a:p>
              <a:pPr algn="ctr"/>
              <a:r>
                <a:rPr lang="zh-CN" sz="2400" b="1">
                  <a:solidFill>
                    <a:schemeClr val="bg1">
                      <a:alpha val="100000"/>
                    </a:schemeClr>
                  </a:solidFill>
                  <a:latin typeface="宋体" panose="02010600030101010101" pitchFamily="2" charset="-122"/>
                  <a:ea typeface="宋体" panose="02010600030101010101" pitchFamily="2" charset="-122"/>
                  <a:cs typeface="思源黑体 Normal"/>
                  <a:sym typeface="Arial" panose="020B0604020202020204"/>
                </a:rPr>
                <a:t>信息平权</a:t>
              </a:r>
            </a:p>
          </p:txBody>
        </p:sp>
        <p:sp>
          <p:nvSpPr>
            <p:cNvPr id="177" name="图形"/>
            <p:cNvSpPr txBox="1"/>
            <p:nvPr/>
          </p:nvSpPr>
          <p:spPr>
            <a:xfrm>
              <a:off x="8076" y="7621"/>
              <a:ext cx="2281" cy="721"/>
            </a:xfrm>
            <a:prstGeom prst="rect">
              <a:avLst/>
            </a:prstGeom>
            <a:noFill/>
          </p:spPr>
          <p:txBody>
            <a:bodyPr wrap="square" rtlCol="0">
              <a:spAutoFit/>
            </a:bodyPr>
            <a:lstStyle/>
            <a:p>
              <a:pPr algn="ctr"/>
              <a:r>
                <a:rPr lang="zh-CN" sz="2400" b="1">
                  <a:solidFill>
                    <a:schemeClr val="bg1">
                      <a:alpha val="100000"/>
                    </a:schemeClr>
                  </a:solidFill>
                  <a:latin typeface="宋体" panose="02010600030101010101" pitchFamily="2" charset="-122"/>
                  <a:ea typeface="宋体" panose="02010600030101010101" pitchFamily="2" charset="-122"/>
                  <a:cs typeface="思源黑体 Normal"/>
                  <a:sym typeface="Arial" panose="020B0604020202020204"/>
                </a:rPr>
                <a:t>技术普惠</a:t>
              </a:r>
            </a:p>
          </p:txBody>
        </p:sp>
        <p:sp>
          <p:nvSpPr>
            <p:cNvPr id="178" name="图形"/>
            <p:cNvSpPr txBox="1"/>
            <p:nvPr/>
          </p:nvSpPr>
          <p:spPr>
            <a:xfrm>
              <a:off x="12734" y="5264"/>
              <a:ext cx="6057" cy="2429"/>
            </a:xfrm>
            <a:prstGeom prst="rect">
              <a:avLst/>
            </a:prstGeom>
            <a:noFill/>
          </p:spPr>
          <p:txBody>
            <a:bodyPr wrap="square" rtlCol="0">
              <a:noAutofit/>
            </a:bodyPr>
            <a:lstStyle>
              <a:defPPr>
                <a:defRPr lang="zh-CN"/>
              </a:defPPr>
              <a:lvl1pPr>
                <a:defRPr sz="2400" b="1">
                  <a:gradFill>
                    <a:gsLst>
                      <a:gs pos="97000">
                        <a:srgbClr val="F0CB30">
                          <a:lumMod val="82000"/>
                        </a:srgbClr>
                      </a:gs>
                      <a:gs pos="0">
                        <a:srgbClr val="F4ECA3"/>
                      </a:gs>
                      <a:gs pos="75000">
                        <a:srgbClr val="F6E65D">
                          <a:lumMod val="90000"/>
                        </a:srgbClr>
                      </a:gs>
                    </a:gsLst>
                    <a:lin ang="3600000" scaled="0"/>
                  </a:gradFill>
                  <a:latin typeface="微软雅黑" panose="020B0503020204020204" pitchFamily="34" charset="-122"/>
                  <a:ea typeface="微软雅黑" panose="020B0503020204020204" pitchFamily="34" charset="-122"/>
                </a:defRPr>
              </a:lvl1pPr>
            </a:lstStyle>
            <a:p>
              <a:pPr algn="l">
                <a:lnSpc>
                  <a:spcPct val="150000"/>
                </a:lnSpc>
              </a:pPr>
              <a:r>
                <a:rPr lang="zh-CN" sz="2000" b="0">
                  <a:solidFill>
                    <a:schemeClr val="tx1">
                      <a:lumMod val="65000"/>
                      <a:lumOff val="35000"/>
                      <a:alpha val="100000"/>
                    </a:schemeClr>
                  </a:solidFill>
                  <a:cs typeface="宋体" panose="02010600030101010101" pitchFamily="2" charset="-122"/>
                  <a:sym typeface="Arial" panose="020B0604020202020204"/>
                </a:rPr>
                <a:t>缩小数字鸿沟，使语言不再是信息获取的障碍，促进了信息的公平获取，提升社会整体各行各业的运行效率和学习效率</a:t>
              </a:r>
              <a:r>
                <a:rPr lang="zh-CN" sz="2000" b="0">
                  <a:solidFill>
                    <a:schemeClr val="tx1">
                      <a:lumMod val="65000"/>
                      <a:lumOff val="35000"/>
                      <a:alpha val="100000"/>
                    </a:schemeClr>
                  </a:solidFill>
                  <a:latin typeface="宋体" panose="02010600030101010101" pitchFamily="2" charset="-122"/>
                  <a:ea typeface="宋体" panose="02010600030101010101" pitchFamily="2" charset="-122"/>
                  <a:cs typeface="宋体" panose="02010600030101010101" pitchFamily="2" charset="-122"/>
                  <a:sym typeface="Arial" panose="020B0604020202020204"/>
                </a:rPr>
                <a:t>​</a:t>
              </a:r>
              <a:endParaRPr lang="zh-CN" sz="2000" b="0">
                <a:solidFill>
                  <a:schemeClr val="tx1">
                    <a:lumMod val="65000"/>
                    <a:lumOff val="35000"/>
                    <a:alpha val="100000"/>
                  </a:schemeClr>
                </a:solidFill>
                <a:cs typeface="思源黑体 Normal"/>
                <a:sym typeface="Arial" panose="020B0604020202020204"/>
              </a:endParaRPr>
            </a:p>
          </p:txBody>
        </p:sp>
        <p:sp>
          <p:nvSpPr>
            <p:cNvPr id="179" name="图形"/>
            <p:cNvSpPr txBox="1"/>
            <p:nvPr/>
          </p:nvSpPr>
          <p:spPr>
            <a:xfrm>
              <a:off x="1078" y="5340"/>
              <a:ext cx="5694" cy="3213"/>
            </a:xfrm>
            <a:prstGeom prst="rect">
              <a:avLst/>
            </a:prstGeom>
            <a:noFill/>
          </p:spPr>
          <p:txBody>
            <a:bodyPr wrap="square" rtlCol="0">
              <a:noAutofit/>
            </a:bodyPr>
            <a:lstStyle>
              <a:defPPr>
                <a:defRPr lang="zh-CN"/>
              </a:defPPr>
              <a:lvl1pPr>
                <a:defRPr sz="2400" b="1">
                  <a:gradFill>
                    <a:gsLst>
                      <a:gs pos="97000">
                        <a:srgbClr val="F0CB30">
                          <a:lumMod val="82000"/>
                        </a:srgbClr>
                      </a:gs>
                      <a:gs pos="0">
                        <a:srgbClr val="F4ECA3"/>
                      </a:gs>
                      <a:gs pos="75000">
                        <a:srgbClr val="F6E65D">
                          <a:lumMod val="90000"/>
                        </a:srgbClr>
                      </a:gs>
                    </a:gsLst>
                    <a:lin ang="3600000" scaled="0"/>
                  </a:gradFill>
                  <a:latin typeface="微软雅黑" panose="020B0503020204020204" pitchFamily="34" charset="-122"/>
                  <a:ea typeface="微软雅黑" panose="020B0503020204020204" pitchFamily="34" charset="-122"/>
                </a:defRPr>
              </a:lvl1pPr>
            </a:lstStyle>
            <a:p>
              <a:pPr algn="l">
                <a:lnSpc>
                  <a:spcPct val="150000"/>
                </a:lnSpc>
              </a:pPr>
              <a:r>
                <a:rPr lang="zh-CN" sz="2000" b="0">
                  <a:solidFill>
                    <a:schemeClr val="tx1">
                      <a:lumMod val="65000"/>
                      <a:lumOff val="35000"/>
                      <a:alpha val="100000"/>
                    </a:schemeClr>
                  </a:solidFill>
                  <a:latin typeface="宋体" panose="02010600030101010101" pitchFamily="2" charset="-122"/>
                  <a:ea typeface="宋体" panose="02010600030101010101" pitchFamily="2" charset="-122"/>
                  <a:cs typeface="宋体" panose="02010600030101010101" pitchFamily="2" charset="-122"/>
                  <a:sym typeface="Arial" panose="020B0604020202020204"/>
                </a:rPr>
                <a:t>该项目将</a:t>
              </a:r>
              <a:r>
                <a:rPr lang="en-US" altLang="zh-CN" sz="2000" b="0">
                  <a:solidFill>
                    <a:schemeClr val="tx1">
                      <a:lumMod val="65000"/>
                      <a:lumOff val="35000"/>
                      <a:alpha val="100000"/>
                    </a:schemeClr>
                  </a:solidFill>
                  <a:latin typeface="宋体" panose="02010600030101010101" pitchFamily="2" charset="-122"/>
                  <a:ea typeface="宋体" panose="02010600030101010101" pitchFamily="2" charset="-122"/>
                  <a:cs typeface="宋体" panose="02010600030101010101" pitchFamily="2" charset="-122"/>
                  <a:sym typeface="Arial" panose="020B0604020202020204"/>
                </a:rPr>
                <a:t>ai</a:t>
              </a:r>
              <a:r>
                <a:rPr lang="zh-CN" sz="2000" b="0">
                  <a:solidFill>
                    <a:schemeClr val="tx1">
                      <a:lumMod val="65000"/>
                      <a:lumOff val="35000"/>
                      <a:alpha val="100000"/>
                    </a:schemeClr>
                  </a:solidFill>
                  <a:latin typeface="宋体" panose="02010600030101010101" pitchFamily="2" charset="-122"/>
                  <a:ea typeface="宋体" panose="02010600030101010101" pitchFamily="2" charset="-122"/>
                  <a:cs typeface="宋体" panose="02010600030101010101" pitchFamily="2" charset="-122"/>
                  <a:sym typeface="Arial" panose="020B0604020202020204"/>
                </a:rPr>
                <a:t>前沿技术转化为实用工具，是技术造福社会的典型体现，是重塑翻译行业的工作流程，甚至可能催生新的岗位</a:t>
              </a:r>
            </a:p>
          </p:txBody>
        </p:sp>
        <p:sp>
          <p:nvSpPr>
            <p:cNvPr id="180" name="图形"/>
            <p:cNvSpPr txBox="1"/>
            <p:nvPr/>
          </p:nvSpPr>
          <p:spPr>
            <a:xfrm>
              <a:off x="2022" y="2418"/>
              <a:ext cx="6054" cy="1634"/>
            </a:xfrm>
            <a:prstGeom prst="rect">
              <a:avLst/>
            </a:prstGeom>
            <a:noFill/>
          </p:spPr>
          <p:txBody>
            <a:bodyPr wrap="square" rtlCol="0">
              <a:noAutofit/>
            </a:bodyPr>
            <a:lstStyle>
              <a:defPPr>
                <a:defRPr lang="zh-CN"/>
              </a:defPPr>
              <a:lvl1pPr>
                <a:defRPr sz="2400" b="1">
                  <a:gradFill>
                    <a:gsLst>
                      <a:gs pos="97000">
                        <a:srgbClr val="F0CB30">
                          <a:lumMod val="82000"/>
                        </a:srgbClr>
                      </a:gs>
                      <a:gs pos="0">
                        <a:srgbClr val="F4ECA3"/>
                      </a:gs>
                      <a:gs pos="75000">
                        <a:srgbClr val="F6E65D">
                          <a:lumMod val="90000"/>
                        </a:srgbClr>
                      </a:gs>
                    </a:gsLst>
                    <a:lin ang="3600000" scaled="0"/>
                  </a:gradFill>
                  <a:latin typeface="微软雅黑" panose="020B0503020204020204" pitchFamily="34" charset="-122"/>
                  <a:ea typeface="微软雅黑" panose="020B0503020204020204" pitchFamily="34" charset="-122"/>
                </a:defRPr>
              </a:lvl1pPr>
            </a:lstStyle>
            <a:p>
              <a:pPr algn="l">
                <a:lnSpc>
                  <a:spcPct val="150000"/>
                </a:lnSpc>
              </a:pPr>
              <a:r>
                <a:rPr lang="zh-CN" altLang="en-US" sz="2000" b="0">
                  <a:solidFill>
                    <a:schemeClr val="tx1">
                      <a:lumMod val="65000"/>
                      <a:lumOff val="35000"/>
                      <a:alpha val="100000"/>
                    </a:schemeClr>
                  </a:solidFill>
                  <a:cs typeface="思源黑体 Normal"/>
                  <a:sym typeface="Arial" panose="020B0604020202020204"/>
                </a:rPr>
                <a:t>将优秀的传统文化准确、地道地翻译成英文。是讲好中国故事的重要技术工具。</a:t>
              </a:r>
              <a:endParaRPr lang="zh-CN" sz="2000" b="0">
                <a:solidFill>
                  <a:schemeClr val="tx1">
                    <a:lumMod val="65000"/>
                    <a:lumOff val="35000"/>
                    <a:alpha val="100000"/>
                  </a:schemeClr>
                </a:solidFill>
                <a:cs typeface="思源黑体 Normal"/>
                <a:sym typeface="Arial" panose="020B0604020202020204"/>
              </a:endParaRP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barn(inVertical)">
                                      <p:cBhvr>
                                        <p:cTn id="7" dur="500"/>
                                        <p:tgtEl>
                                          <p:spTgt spid="155"/>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 name="图形"/>
          <p:cNvGrpSpPr/>
          <p:nvPr/>
        </p:nvGrpSpPr>
        <p:grpSpPr>
          <a:xfrm>
            <a:off x="-477520" y="-918210"/>
            <a:ext cx="4231640" cy="2447290"/>
            <a:chOff x="-752" y="-1446"/>
            <a:chExt cx="6664" cy="3854"/>
          </a:xfrm>
        </p:grpSpPr>
        <p:sp>
          <p:nvSpPr>
            <p:cNvPr id="205"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206" name="图形"/>
            <p:cNvSpPr txBox="1"/>
            <p:nvPr/>
          </p:nvSpPr>
          <p:spPr>
            <a:xfrm>
              <a:off x="1354" y="611"/>
              <a:ext cx="4558" cy="918"/>
            </a:xfrm>
            <a:prstGeom prst="rect">
              <a:avLst/>
            </a:prstGeom>
            <a:noFill/>
          </p:spPr>
          <p:txBody>
            <a:bodyPr wrap="square" lIns="0" tIns="0" rIns="0" bIns="0" rtlCol="0">
              <a:noAutofit/>
            </a:bodyPr>
            <a:lstStyle/>
            <a:p>
              <a:pPr algn="dist"/>
              <a:r>
                <a:rPr lang="zh-CN" sz="36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商业价值</a:t>
              </a:r>
            </a:p>
          </p:txBody>
        </p:sp>
        <p:sp>
          <p:nvSpPr>
            <p:cNvPr id="207"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4" name="组合 3"/>
          <p:cNvGrpSpPr/>
          <p:nvPr/>
        </p:nvGrpSpPr>
        <p:grpSpPr>
          <a:xfrm>
            <a:off x="5638165" y="765810"/>
            <a:ext cx="6329680" cy="1776637"/>
            <a:chOff x="8879" y="2202"/>
            <a:chExt cx="9968" cy="2798"/>
          </a:xfrm>
        </p:grpSpPr>
        <p:grpSp>
          <p:nvGrpSpPr>
            <p:cNvPr id="217" name="组合 24"/>
            <p:cNvGrpSpPr/>
            <p:nvPr/>
          </p:nvGrpSpPr>
          <p:grpSpPr>
            <a:xfrm>
              <a:off x="8879" y="2466"/>
              <a:ext cx="1449" cy="1488"/>
              <a:chOff x="10278" y="3124"/>
              <a:chExt cx="1242" cy="1242"/>
            </a:xfrm>
          </p:grpSpPr>
          <p:sp>
            <p:nvSpPr>
              <p:cNvPr id="218" name="图形"/>
              <p:cNvSpPr/>
              <p:nvPr>
                <p:custDataLst>
                  <p:tags r:id="rId15"/>
                </p:custDataLst>
              </p:nvPr>
            </p:nvSpPr>
            <p:spPr>
              <a:xfrm>
                <a:off x="10338" y="3184"/>
                <a:ext cx="1183" cy="1183"/>
              </a:xfrm>
              <a:prstGeom prst="flowChartConnector">
                <a:avLst/>
              </a:prstGeom>
              <a:solidFill>
                <a:srgbClr val="B9B8F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219" name="图形"/>
              <p:cNvSpPr/>
              <p:nvPr>
                <p:custDataLst>
                  <p:tags r:id="rId16"/>
                </p:custDataLst>
              </p:nvPr>
            </p:nvSpPr>
            <p:spPr>
              <a:xfrm>
                <a:off x="10278" y="3124"/>
                <a:ext cx="1183" cy="1183"/>
              </a:xfrm>
              <a:prstGeom prst="flowChartConnector">
                <a:avLst/>
              </a:prstGeom>
              <a:solidFill>
                <a:srgbClr val="566CD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220" name="图形"/>
              <p:cNvPicPr>
                <a:picLocks noChangeAspect="1"/>
              </p:cNvPicPr>
              <p:nvPr>
                <p:custDataLst>
                  <p:tags r:id="rId17"/>
                </p:custDataLst>
              </p:nvPr>
            </p:nvPicPr>
            <p:blipFill>
              <a:blip r:embed="rId20" cstate="print">
                <a:extLst>
                  <a:ext uri="{96DAC541-7B7A-43D3-8B79-37D633B846F1}">
                    <asvg:svgBlip xmlns:asvg="http://schemas.microsoft.com/office/drawing/2016/SVG/main" r:embed="rId21"/>
                  </a:ext>
                </a:extLst>
              </a:blip>
              <a:stretch>
                <a:fillRect/>
              </a:stretch>
            </p:blipFill>
            <p:spPr>
              <a:xfrm flipH="1">
                <a:off x="10640" y="3486"/>
                <a:ext cx="459" cy="459"/>
              </a:xfrm>
              <a:prstGeom prst="rect">
                <a:avLst/>
              </a:prstGeom>
            </p:spPr>
          </p:pic>
        </p:grpSp>
        <p:grpSp>
          <p:nvGrpSpPr>
            <p:cNvPr id="221" name="组合 26"/>
            <p:cNvGrpSpPr/>
            <p:nvPr/>
          </p:nvGrpSpPr>
          <p:grpSpPr>
            <a:xfrm>
              <a:off x="10773" y="2202"/>
              <a:ext cx="8074" cy="2798"/>
              <a:chOff x="3526" y="7825"/>
              <a:chExt cx="6930" cy="2345"/>
            </a:xfrm>
          </p:grpSpPr>
          <p:sp>
            <p:nvSpPr>
              <p:cNvPr id="222" name="图形"/>
              <p:cNvSpPr txBox="1"/>
              <p:nvPr>
                <p:custDataLst>
                  <p:tags r:id="rId13"/>
                </p:custDataLst>
              </p:nvPr>
            </p:nvSpPr>
            <p:spPr>
              <a:xfrm>
                <a:off x="3526" y="7825"/>
                <a:ext cx="3320" cy="689"/>
              </a:xfrm>
              <a:prstGeom prst="rect">
                <a:avLst/>
              </a:prstGeom>
              <a:noFill/>
            </p:spPr>
            <p:txBody>
              <a:bodyPr wrap="square" rtlCol="0">
                <a:spAutoFit/>
              </a:bodyPr>
              <a:lstStyle/>
              <a:p>
                <a:pPr algn="l"/>
                <a:r>
                  <a:rPr lang="zh-CN" sz="28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市场需求</a:t>
                </a:r>
              </a:p>
            </p:txBody>
          </p:sp>
          <p:sp>
            <p:nvSpPr>
              <p:cNvPr id="223" name="图形"/>
              <p:cNvSpPr txBox="1"/>
              <p:nvPr>
                <p:custDataLst>
                  <p:tags r:id="rId14"/>
                </p:custDataLst>
              </p:nvPr>
            </p:nvSpPr>
            <p:spPr>
              <a:xfrm>
                <a:off x="3526" y="8404"/>
                <a:ext cx="6930" cy="1766"/>
              </a:xfrm>
              <a:prstGeom prst="rect">
                <a:avLst/>
              </a:prstGeom>
              <a:noFill/>
            </p:spPr>
            <p:txBody>
              <a:bodyPr wrap="square" rtlCol="0">
                <a:spAutoFit/>
              </a:bodyPr>
              <a:lstStyle/>
              <a:p>
                <a:pPr marL="0" lvl="0" algn="l" defTabSz="914400">
                  <a:lnSpc>
                    <a:spcPct val="150000"/>
                  </a:lnSpc>
                  <a:defRPr sz="1800">
                    <a:solidFill>
                      <a:schemeClr val="tx1">
                        <a:alpha val="100000"/>
                      </a:schemeClr>
                    </a:solidFill>
                    <a:latin typeface="思源黑体 Normal"/>
                    <a:ea typeface="思源黑体 Normal"/>
                    <a:cs typeface="+mn-cs"/>
                  </a:defRPr>
                </a:pPr>
                <a:r>
                  <a:rPr lang="zh-CN" i="0" u="none" strike="noStrike" dirty="0">
                    <a:solidFill>
                      <a:schemeClr val="tx1">
                        <a:lumMod val="65000"/>
                        <a:lumOff val="35000"/>
                        <a:alpha val="100000"/>
                      </a:schemeClr>
                    </a:solidFill>
                    <a:latin typeface="微软雅黑" panose="020B0503020204020204" pitchFamily="34" charset="-122"/>
                    <a:ea typeface="微软雅黑" panose="020B0503020204020204" pitchFamily="34" charset="-122"/>
                    <a:cs typeface="宋体" panose="02010600030101010101" pitchFamily="2" charset="-122"/>
                    <a:sym typeface="Arial" panose="020B0604020202020204"/>
                  </a:rPr>
                  <a:t>抓住全球化背景下翻译市场的巨大潜力和用户痛点，</a:t>
                </a:r>
                <a:r>
                  <a:rPr lang="zh-CN" altLang="en-US" i="0" u="none" strike="noStrike" dirty="0">
                    <a:solidFill>
                      <a:schemeClr val="tx1">
                        <a:lumMod val="65000"/>
                        <a:lumOff val="35000"/>
                        <a:alpha val="100000"/>
                      </a:schemeClr>
                    </a:solidFill>
                    <a:latin typeface="微软雅黑" panose="020B0503020204020204" pitchFamily="34" charset="-122"/>
                    <a:ea typeface="微软雅黑" panose="020B0503020204020204" pitchFamily="34" charset="-122"/>
                    <a:cs typeface="宋体" panose="02010600030101010101" pitchFamily="2" charset="-122"/>
                    <a:sym typeface="Arial" panose="020B0604020202020204"/>
                  </a:rPr>
                  <a:t>抓住这一市场机遇，提供了一个有竞争力的解决方案。</a:t>
                </a:r>
              </a:p>
            </p:txBody>
          </p:sp>
        </p:grpSp>
      </p:grpSp>
      <p:grpSp>
        <p:nvGrpSpPr>
          <p:cNvPr id="2" name="组合 1"/>
          <p:cNvGrpSpPr/>
          <p:nvPr>
            <p:custDataLst>
              <p:tags r:id="rId1"/>
            </p:custDataLst>
          </p:nvPr>
        </p:nvGrpSpPr>
        <p:grpSpPr>
          <a:xfrm>
            <a:off x="5638800" y="2687955"/>
            <a:ext cx="6219472" cy="1778635"/>
            <a:chOff x="8879" y="4615"/>
            <a:chExt cx="9794" cy="2801"/>
          </a:xfrm>
        </p:grpSpPr>
        <p:grpSp>
          <p:nvGrpSpPr>
            <p:cNvPr id="213" name="组合 20"/>
            <p:cNvGrpSpPr/>
            <p:nvPr/>
          </p:nvGrpSpPr>
          <p:grpSpPr>
            <a:xfrm>
              <a:off x="8879" y="4880"/>
              <a:ext cx="1449" cy="1488"/>
              <a:chOff x="10278" y="5074"/>
              <a:chExt cx="1242" cy="1242"/>
            </a:xfrm>
          </p:grpSpPr>
          <p:sp>
            <p:nvSpPr>
              <p:cNvPr id="214" name="图形"/>
              <p:cNvSpPr/>
              <p:nvPr>
                <p:custDataLst>
                  <p:tags r:id="rId10"/>
                </p:custDataLst>
              </p:nvPr>
            </p:nvSpPr>
            <p:spPr>
              <a:xfrm>
                <a:off x="10338" y="5134"/>
                <a:ext cx="1183" cy="1183"/>
              </a:xfrm>
              <a:prstGeom prst="flowChartConnector">
                <a:avLst/>
              </a:prstGeom>
              <a:solidFill>
                <a:srgbClr val="B9B8F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215" name="图形"/>
              <p:cNvSpPr/>
              <p:nvPr>
                <p:custDataLst>
                  <p:tags r:id="rId11"/>
                </p:custDataLst>
              </p:nvPr>
            </p:nvSpPr>
            <p:spPr>
              <a:xfrm>
                <a:off x="10278" y="5074"/>
                <a:ext cx="1183" cy="1183"/>
              </a:xfrm>
              <a:prstGeom prst="flowChartConnector">
                <a:avLst/>
              </a:prstGeom>
              <a:solidFill>
                <a:srgbClr val="F7B75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216" name="图形"/>
              <p:cNvPicPr>
                <a:picLocks noChangeAspect="1"/>
              </p:cNvPicPr>
              <p:nvPr>
                <p:custDataLst>
                  <p:tags r:id="rId12"/>
                </p:custDataLst>
              </p:nvPr>
            </p:nvPicPr>
            <p:blipFill>
              <a:blip r:embed="rId22" cstate="print">
                <a:extLst>
                  <a:ext uri="{96DAC541-7B7A-43D3-8B79-37D633B846F1}">
                    <asvg:svgBlip xmlns:asvg="http://schemas.microsoft.com/office/drawing/2016/SVG/main" r:embed="rId23"/>
                  </a:ext>
                </a:extLst>
              </a:blip>
              <a:stretch>
                <a:fillRect/>
              </a:stretch>
            </p:blipFill>
            <p:spPr>
              <a:xfrm flipH="1">
                <a:off x="10640" y="5436"/>
                <a:ext cx="459" cy="459"/>
              </a:xfrm>
              <a:prstGeom prst="rect">
                <a:avLst/>
              </a:prstGeom>
            </p:spPr>
          </p:pic>
        </p:grpSp>
        <p:grpSp>
          <p:nvGrpSpPr>
            <p:cNvPr id="224" name="组合 28"/>
            <p:cNvGrpSpPr/>
            <p:nvPr/>
          </p:nvGrpSpPr>
          <p:grpSpPr>
            <a:xfrm>
              <a:off x="10773" y="4615"/>
              <a:ext cx="7900" cy="2801"/>
              <a:chOff x="3526" y="7825"/>
              <a:chExt cx="6774" cy="2338"/>
            </a:xfrm>
          </p:grpSpPr>
          <p:sp>
            <p:nvSpPr>
              <p:cNvPr id="225" name="图形"/>
              <p:cNvSpPr txBox="1"/>
              <p:nvPr>
                <p:custDataLst>
                  <p:tags r:id="rId8"/>
                </p:custDataLst>
              </p:nvPr>
            </p:nvSpPr>
            <p:spPr>
              <a:xfrm>
                <a:off x="3526" y="7825"/>
                <a:ext cx="3320" cy="686"/>
              </a:xfrm>
              <a:prstGeom prst="rect">
                <a:avLst/>
              </a:prstGeom>
              <a:noFill/>
            </p:spPr>
            <p:txBody>
              <a:bodyPr wrap="square" rtlCol="0">
                <a:spAutoFit/>
              </a:bodyPr>
              <a:lstStyle/>
              <a:p>
                <a:pPr algn="l"/>
                <a:r>
                  <a:rPr lang="zh-CN" sz="28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商业化潜力</a:t>
                </a:r>
              </a:p>
            </p:txBody>
          </p:sp>
          <p:sp>
            <p:nvSpPr>
              <p:cNvPr id="226" name="图形"/>
              <p:cNvSpPr txBox="1"/>
              <p:nvPr>
                <p:custDataLst>
                  <p:tags r:id="rId9"/>
                </p:custDataLst>
              </p:nvPr>
            </p:nvSpPr>
            <p:spPr>
              <a:xfrm>
                <a:off x="3526" y="8404"/>
                <a:ext cx="6774" cy="1759"/>
              </a:xfrm>
              <a:prstGeom prst="rect">
                <a:avLst/>
              </a:prstGeom>
              <a:noFill/>
            </p:spPr>
            <p:txBody>
              <a:bodyPr wrap="square" rtlCol="0">
                <a:spAutoFit/>
              </a:bodyPr>
              <a:lstStyle/>
              <a:p>
                <a:pPr algn="l">
                  <a:lnSpc>
                    <a:spcPct val="150000"/>
                  </a:lnSpc>
                </a:pPr>
                <a:r>
                  <a:rPr lang="zh-CN">
                    <a:solidFill>
                      <a:schemeClr val="tx1">
                        <a:lumMod val="65000"/>
                        <a:lumOff val="3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对个人推出包含更高额度、更专业模型的高级订阅服务；对企业，可将平台功能化作一项服务集成到企业中，为用户提供定制化的解决方案</a:t>
                </a:r>
              </a:p>
            </p:txBody>
          </p:sp>
        </p:grpSp>
      </p:grpSp>
      <p:grpSp>
        <p:nvGrpSpPr>
          <p:cNvPr id="3" name="组合 2"/>
          <p:cNvGrpSpPr/>
          <p:nvPr>
            <p:custDataLst>
              <p:tags r:id="rId2"/>
            </p:custDataLst>
          </p:nvPr>
        </p:nvGrpSpPr>
        <p:grpSpPr>
          <a:xfrm>
            <a:off x="5638165" y="4533265"/>
            <a:ext cx="6109970" cy="2194005"/>
            <a:chOff x="8879" y="7028"/>
            <a:chExt cx="9622" cy="3455"/>
          </a:xfrm>
        </p:grpSpPr>
        <p:grpSp>
          <p:nvGrpSpPr>
            <p:cNvPr id="209" name="组合 5"/>
            <p:cNvGrpSpPr/>
            <p:nvPr/>
          </p:nvGrpSpPr>
          <p:grpSpPr>
            <a:xfrm>
              <a:off x="8879" y="7293"/>
              <a:ext cx="1449" cy="1488"/>
              <a:chOff x="10278" y="7023"/>
              <a:chExt cx="1242" cy="1242"/>
            </a:xfrm>
          </p:grpSpPr>
          <p:sp>
            <p:nvSpPr>
              <p:cNvPr id="210" name="图形"/>
              <p:cNvSpPr/>
              <p:nvPr>
                <p:custDataLst>
                  <p:tags r:id="rId5"/>
                </p:custDataLst>
              </p:nvPr>
            </p:nvSpPr>
            <p:spPr>
              <a:xfrm>
                <a:off x="10338" y="7083"/>
                <a:ext cx="1183" cy="1183"/>
              </a:xfrm>
              <a:prstGeom prst="flowChartConnector">
                <a:avLst/>
              </a:prstGeom>
              <a:solidFill>
                <a:srgbClr val="B9B8F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211" name="图形"/>
              <p:cNvSpPr/>
              <p:nvPr>
                <p:custDataLst>
                  <p:tags r:id="rId6"/>
                </p:custDataLst>
              </p:nvPr>
            </p:nvSpPr>
            <p:spPr>
              <a:xfrm>
                <a:off x="10278" y="7023"/>
                <a:ext cx="1183" cy="1183"/>
              </a:xfrm>
              <a:prstGeom prst="flowChartConnector">
                <a:avLst/>
              </a:prstGeom>
              <a:solidFill>
                <a:srgbClr val="566CD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212" name="图形"/>
              <p:cNvPicPr>
                <a:picLocks noChangeAspect="1"/>
              </p:cNvPicPr>
              <p:nvPr>
                <p:custDataLst>
                  <p:tags r:id="rId7"/>
                </p:custDataLst>
              </p:nvPr>
            </p:nvPicPr>
            <p:blipFill>
              <a:blip r:embed="rId24" cstate="print">
                <a:extLst>
                  <a:ext uri="{96DAC541-7B7A-43D3-8B79-37D633B846F1}">
                    <asvg:svgBlip xmlns:asvg="http://schemas.microsoft.com/office/drawing/2016/SVG/main" r:embed="rId25"/>
                  </a:ext>
                </a:extLst>
              </a:blip>
              <a:stretch>
                <a:fillRect/>
              </a:stretch>
            </p:blipFill>
            <p:spPr>
              <a:xfrm flipH="1">
                <a:off x="10640" y="7385"/>
                <a:ext cx="459" cy="459"/>
              </a:xfrm>
              <a:prstGeom prst="rect">
                <a:avLst/>
              </a:prstGeom>
            </p:spPr>
          </p:pic>
        </p:grpSp>
        <p:grpSp>
          <p:nvGrpSpPr>
            <p:cNvPr id="227" name="组合 31"/>
            <p:cNvGrpSpPr/>
            <p:nvPr/>
          </p:nvGrpSpPr>
          <p:grpSpPr>
            <a:xfrm>
              <a:off x="10773" y="7028"/>
              <a:ext cx="7728" cy="3455"/>
              <a:chOff x="3526" y="7825"/>
              <a:chExt cx="6626" cy="2884"/>
            </a:xfrm>
          </p:grpSpPr>
          <p:sp>
            <p:nvSpPr>
              <p:cNvPr id="228" name="图形"/>
              <p:cNvSpPr txBox="1"/>
              <p:nvPr>
                <p:custDataLst>
                  <p:tags r:id="rId3"/>
                </p:custDataLst>
              </p:nvPr>
            </p:nvSpPr>
            <p:spPr>
              <a:xfrm>
                <a:off x="3526" y="7825"/>
                <a:ext cx="3320" cy="686"/>
              </a:xfrm>
              <a:prstGeom prst="rect">
                <a:avLst/>
              </a:prstGeom>
              <a:noFill/>
            </p:spPr>
            <p:txBody>
              <a:bodyPr wrap="square" rtlCol="0">
                <a:spAutoFit/>
              </a:bodyPr>
              <a:lstStyle/>
              <a:p>
                <a:pPr algn="l"/>
                <a:r>
                  <a:rPr lang="zh-CN" sz="28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个性化服务</a:t>
                </a:r>
              </a:p>
            </p:txBody>
          </p:sp>
          <p:sp>
            <p:nvSpPr>
              <p:cNvPr id="229" name="图形"/>
              <p:cNvSpPr txBox="1"/>
              <p:nvPr>
                <p:custDataLst>
                  <p:tags r:id="rId4"/>
                </p:custDataLst>
              </p:nvPr>
            </p:nvSpPr>
            <p:spPr>
              <a:xfrm>
                <a:off x="3526" y="8404"/>
                <a:ext cx="6626" cy="2305"/>
              </a:xfrm>
              <a:prstGeom prst="rect">
                <a:avLst/>
              </a:prstGeom>
              <a:noFill/>
            </p:spPr>
            <p:txBody>
              <a:bodyPr wrap="square" rtlCol="0">
                <a:spAutoFit/>
              </a:bodyPr>
              <a:lstStyle/>
              <a:p>
                <a:pPr algn="l">
                  <a:lnSpc>
                    <a:spcPct val="150000"/>
                  </a:lnSpc>
                </a:pPr>
                <a:r>
                  <a:rPr lang="zh-CN">
                    <a:solidFill>
                      <a:schemeClr val="tx1">
                        <a:lumMod val="65000"/>
                        <a:lumOff val="35000"/>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项目提供反馈功能，将持续积累高质量的垂直领域语料和用户行为数据，提供的定制化系统页面和历史记录不仅能够吸引教育领域的客户，也为未来的商业化产品提供了强大的用户粘性​。</a:t>
                </a:r>
              </a:p>
            </p:txBody>
          </p:sp>
        </p:grpSp>
      </p:grpSp>
      <p:pic>
        <p:nvPicPr>
          <p:cNvPr id="6" name="图片 5" descr="1"/>
          <p:cNvPicPr>
            <a:picLocks noChangeAspect="1"/>
          </p:cNvPicPr>
          <p:nvPr/>
        </p:nvPicPr>
        <p:blipFill>
          <a:blip r:embed="rId26"/>
          <a:stretch>
            <a:fillRect/>
          </a:stretch>
        </p:blipFill>
        <p:spPr>
          <a:xfrm>
            <a:off x="243840" y="1732915"/>
            <a:ext cx="5394960" cy="37680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70000">
              <a:srgbClr val="B9B8F1">
                <a:alpha val="0"/>
              </a:srgbClr>
            </a:gs>
          </a:gsLst>
          <a:lin ang="18900000" scaled="0"/>
        </a:gradFill>
        <a:effectLst/>
      </p:bgPr>
    </p:bg>
    <p:spTree>
      <p:nvGrpSpPr>
        <p:cNvPr id="1" name=""/>
        <p:cNvGrpSpPr/>
        <p:nvPr/>
      </p:nvGrpSpPr>
      <p:grpSpPr>
        <a:xfrm>
          <a:off x="0" y="0"/>
          <a:ext cx="0" cy="0"/>
          <a:chOff x="0" y="0"/>
          <a:chExt cx="0" cy="0"/>
        </a:xfrm>
      </p:grpSpPr>
      <p:grpSp>
        <p:nvGrpSpPr>
          <p:cNvPr id="29" name="图形"/>
          <p:cNvGrpSpPr/>
          <p:nvPr/>
        </p:nvGrpSpPr>
        <p:grpSpPr>
          <a:xfrm>
            <a:off x="0" y="-1069340"/>
            <a:ext cx="12516485" cy="7927340"/>
            <a:chOff x="0" y="-1684"/>
            <a:chExt cx="19711" cy="12484"/>
          </a:xfrm>
        </p:grpSpPr>
        <p:pic>
          <p:nvPicPr>
            <p:cNvPr id="30" name="图形" descr="D:/包图网/5b601bfb6affe.png5b601bfb6affe"/>
            <p:cNvPicPr>
              <a:picLocks noChangeAspect="1"/>
            </p:cNvPicPr>
            <p:nvPr/>
          </p:nvPicPr>
          <p:blipFill>
            <a:blip r:embed="rId3"/>
            <a:srcRect t="-2777" b="-1468"/>
            <a:stretch>
              <a:fillRect/>
            </a:stretch>
          </p:blipFill>
          <p:spPr>
            <a:xfrm>
              <a:off x="0" y="4674"/>
              <a:ext cx="7780" cy="5896"/>
            </a:xfrm>
            <a:prstGeom prst="rect">
              <a:avLst/>
            </a:prstGeom>
          </p:spPr>
        </p:pic>
        <p:sp>
          <p:nvSpPr>
            <p:cNvPr id="31" name="图形"/>
            <p:cNvSpPr/>
            <p:nvPr/>
          </p:nvSpPr>
          <p:spPr>
            <a:xfrm rot="8580000" flipV="1">
              <a:off x="17359" y="-1684"/>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32" name="组合 138"/>
            <p:cNvGrpSpPr/>
            <p:nvPr/>
          </p:nvGrpSpPr>
          <p:grpSpPr>
            <a:xfrm>
              <a:off x="2320" y="2938"/>
              <a:ext cx="2821" cy="1006"/>
              <a:chOff x="1595" y="1487"/>
              <a:chExt cx="4594" cy="1639"/>
            </a:xfrm>
            <a:gradFill>
              <a:gsLst>
                <a:gs pos="0">
                  <a:srgbClr val="B9B8F1">
                    <a:alpha val="100000"/>
                  </a:srgbClr>
                </a:gs>
                <a:gs pos="94000">
                  <a:srgbClr val="B9B8F1">
                    <a:alpha val="0"/>
                  </a:srgbClr>
                </a:gs>
              </a:gsLst>
              <a:lin ang="10800000" scaled="0"/>
            </a:gradFill>
          </p:grpSpPr>
          <p:grpSp>
            <p:nvGrpSpPr>
              <p:cNvPr id="33" name="组合 51"/>
              <p:cNvGrpSpPr/>
              <p:nvPr/>
            </p:nvGrpSpPr>
            <p:grpSpPr>
              <a:xfrm>
                <a:off x="1595" y="1487"/>
                <a:ext cx="4594" cy="226"/>
                <a:chOff x="1595" y="1487"/>
                <a:chExt cx="4594" cy="226"/>
              </a:xfrm>
              <a:grpFill/>
            </p:grpSpPr>
            <p:sp>
              <p:nvSpPr>
                <p:cNvPr id="34"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35"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36"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37"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38"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39"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40"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41" name="组合 52"/>
              <p:cNvGrpSpPr/>
              <p:nvPr/>
            </p:nvGrpSpPr>
            <p:grpSpPr>
              <a:xfrm>
                <a:off x="1595" y="1958"/>
                <a:ext cx="4594" cy="226"/>
                <a:chOff x="1595" y="1487"/>
                <a:chExt cx="4594" cy="226"/>
              </a:xfrm>
              <a:grpFill/>
            </p:grpSpPr>
            <p:sp>
              <p:nvSpPr>
                <p:cNvPr id="42"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43"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44"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45"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46"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47"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48"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49" name="组合 120"/>
              <p:cNvGrpSpPr/>
              <p:nvPr/>
            </p:nvGrpSpPr>
            <p:grpSpPr>
              <a:xfrm>
                <a:off x="1595" y="2429"/>
                <a:ext cx="4594" cy="226"/>
                <a:chOff x="1595" y="1487"/>
                <a:chExt cx="4594" cy="226"/>
              </a:xfrm>
              <a:grpFill/>
            </p:grpSpPr>
            <p:sp>
              <p:nvSpPr>
                <p:cNvPr id="50"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1"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2"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3"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4"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5"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6"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57" name="组合 128"/>
              <p:cNvGrpSpPr/>
              <p:nvPr/>
            </p:nvGrpSpPr>
            <p:grpSpPr>
              <a:xfrm>
                <a:off x="1595" y="2900"/>
                <a:ext cx="4594" cy="226"/>
                <a:chOff x="1595" y="1487"/>
                <a:chExt cx="4594" cy="226"/>
              </a:xfrm>
              <a:grpFill/>
            </p:grpSpPr>
            <p:sp>
              <p:nvSpPr>
                <p:cNvPr id="58"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59"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60"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61"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62"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63"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64"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sp>
          <p:nvSpPr>
            <p:cNvPr id="65" name="图形"/>
            <p:cNvSpPr/>
            <p:nvPr/>
          </p:nvSpPr>
          <p:spPr>
            <a:xfrm>
              <a:off x="0" y="10796"/>
              <a:ext cx="4" cy="4"/>
            </a:xfrm>
            <a:custGeom>
              <a:avLst/>
              <a:gdLst/>
              <a:ahLst/>
              <a:cxnLst>
                <a:cxn ang="3">
                  <a:pos x="hc" y="t"/>
                </a:cxn>
                <a:cxn ang="cd2">
                  <a:pos x="l" y="vc"/>
                </a:cxn>
                <a:cxn ang="cd4">
                  <a:pos x="hc" y="b"/>
                </a:cxn>
                <a:cxn ang="0">
                  <a:pos x="r" y="vc"/>
                </a:cxn>
              </a:cxnLst>
              <a:rect l="l" t="t" r="r" b="b"/>
              <a:pathLst>
                <a:path w="4" h="4">
                  <a:moveTo>
                    <a:pt x="0" y="0"/>
                  </a:moveTo>
                  <a:lnTo>
                    <a:pt x="4" y="4"/>
                  </a:lnTo>
                  <a:lnTo>
                    <a:pt x="0" y="4"/>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66" name="图形"/>
            <p:cNvSpPr/>
            <p:nvPr/>
          </p:nvSpPr>
          <p:spPr>
            <a:xfrm>
              <a:off x="0" y="2210"/>
              <a:ext cx="11364" cy="8590"/>
            </a:xfrm>
            <a:custGeom>
              <a:avLst/>
              <a:gdLst/>
              <a:ahLst/>
              <a:cxnLst>
                <a:cxn ang="3">
                  <a:pos x="hc" y="t"/>
                </a:cxn>
                <a:cxn ang="cd2">
                  <a:pos x="l" y="vc"/>
                </a:cxn>
                <a:cxn ang="cd4">
                  <a:pos x="hc" y="b"/>
                </a:cxn>
                <a:cxn ang="0">
                  <a:pos x="r" y="vc"/>
                </a:cxn>
              </a:cxnLst>
              <a:rect l="l" t="t" r="r" b="b"/>
              <a:pathLst>
                <a:path w="11364" h="8590">
                  <a:moveTo>
                    <a:pt x="677" y="0"/>
                  </a:moveTo>
                  <a:cubicBezTo>
                    <a:pt x="949" y="-1"/>
                    <a:pt x="1204" y="66"/>
                    <a:pt x="1429" y="218"/>
                  </a:cubicBezTo>
                  <a:cubicBezTo>
                    <a:pt x="2008" y="798"/>
                    <a:pt x="1883" y="1992"/>
                    <a:pt x="2745" y="2676"/>
                  </a:cubicBezTo>
                  <a:cubicBezTo>
                    <a:pt x="3748" y="3184"/>
                    <a:pt x="4863" y="2726"/>
                    <a:pt x="6368" y="3236"/>
                  </a:cubicBezTo>
                  <a:cubicBezTo>
                    <a:pt x="7486" y="4177"/>
                    <a:pt x="7194" y="5103"/>
                    <a:pt x="7858" y="5815"/>
                  </a:cubicBezTo>
                  <a:cubicBezTo>
                    <a:pt x="8574" y="6232"/>
                    <a:pt x="9738" y="5636"/>
                    <a:pt x="10848" y="6384"/>
                  </a:cubicBezTo>
                  <a:cubicBezTo>
                    <a:pt x="11491" y="6818"/>
                    <a:pt x="11469" y="7655"/>
                    <a:pt x="11131" y="8564"/>
                  </a:cubicBezTo>
                  <a:lnTo>
                    <a:pt x="11121" y="8590"/>
                  </a:lnTo>
                  <a:lnTo>
                    <a:pt x="4" y="8590"/>
                  </a:lnTo>
                  <a:lnTo>
                    <a:pt x="0" y="8587"/>
                  </a:lnTo>
                  <a:lnTo>
                    <a:pt x="0" y="129"/>
                  </a:lnTo>
                  <a:lnTo>
                    <a:pt x="13" y="124"/>
                  </a:lnTo>
                  <a:cubicBezTo>
                    <a:pt x="240" y="45"/>
                    <a:pt x="464" y="1"/>
                    <a:pt x="677" y="0"/>
                  </a:cubicBezTo>
                  <a:close/>
                </a:path>
              </a:pathLst>
            </a:custGeom>
            <a:gradFill>
              <a:gsLst>
                <a:gs pos="0">
                  <a:srgbClr val="B9B8F1">
                    <a:alpha val="30000"/>
                  </a:srgbClr>
                </a:gs>
                <a:gs pos="100000">
                  <a:srgbClr val="B9B8F1">
                    <a:alpha val="0"/>
                  </a:srgb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67" name="图形"/>
          <p:cNvSpPr txBox="1"/>
          <p:nvPr/>
        </p:nvSpPr>
        <p:spPr>
          <a:xfrm>
            <a:off x="5222242" y="3194052"/>
            <a:ext cx="6322695" cy="1241425"/>
          </a:xfrm>
          <a:prstGeom prst="rect">
            <a:avLst/>
          </a:prstGeom>
          <a:noFill/>
        </p:spPr>
        <p:txBody>
          <a:bodyPr wrap="square" lIns="0" tIns="0" rIns="0" bIns="0" rtlCol="0">
            <a:noAutofit/>
          </a:bodyPr>
          <a:lstStyle/>
          <a:p>
            <a:pPr algn="dist"/>
            <a:r>
              <a:rPr lang="zh-CN" sz="80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未来展望</a:t>
            </a:r>
          </a:p>
        </p:txBody>
      </p:sp>
      <p:sp>
        <p:nvSpPr>
          <p:cNvPr id="68" name="图形"/>
          <p:cNvSpPr txBox="1"/>
          <p:nvPr/>
        </p:nvSpPr>
        <p:spPr>
          <a:xfrm>
            <a:off x="6662740" y="4516120"/>
            <a:ext cx="3441700" cy="323850"/>
          </a:xfrm>
          <a:prstGeom prst="rect">
            <a:avLst/>
          </a:prstGeom>
          <a:noFill/>
        </p:spPr>
        <p:txBody>
          <a:bodyPr wrap="square" lIns="0" tIns="0" rIns="0" bIns="0" rtlCol="0">
            <a:spAutoFit/>
          </a:bodyPr>
          <a:lstStyle/>
          <a:p>
            <a:pPr algn="dist">
              <a:lnSpc>
                <a:spcPct val="150000"/>
              </a:lnSpc>
            </a:pPr>
            <a:r>
              <a:rPr lang="en-US" sz="1400">
                <a:ln>
                  <a:noFill/>
                </a:ln>
                <a:solidFill>
                  <a:schemeClr val="tx1">
                    <a:lumMod val="65000"/>
                    <a:lumOff val="35000"/>
                    <a:alpha val="100000"/>
                  </a:schemeClr>
                </a:solidFill>
                <a:effectLst/>
                <a:latin typeface="Arial" panose="020B0604020202020204"/>
                <a:ea typeface="微软雅黑" panose="020B0503020204020204" pitchFamily="34" charset="-122"/>
                <a:cs typeface="思源黑体 Normal"/>
                <a:sym typeface="Arial" panose="020B0604020202020204"/>
              </a:rPr>
              <a:t>The Prospect</a:t>
            </a:r>
          </a:p>
        </p:txBody>
      </p:sp>
      <p:grpSp>
        <p:nvGrpSpPr>
          <p:cNvPr id="69" name="图形"/>
          <p:cNvGrpSpPr/>
          <p:nvPr/>
        </p:nvGrpSpPr>
        <p:grpSpPr>
          <a:xfrm>
            <a:off x="7793357" y="1932305"/>
            <a:ext cx="3750945" cy="849630"/>
            <a:chOff x="12273" y="2943"/>
            <a:chExt cx="5907" cy="1338"/>
          </a:xfrm>
        </p:grpSpPr>
        <p:sp>
          <p:nvSpPr>
            <p:cNvPr id="70" name="图形"/>
            <p:cNvSpPr/>
            <p:nvPr/>
          </p:nvSpPr>
          <p:spPr>
            <a:xfrm>
              <a:off x="12273"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第</a:t>
              </a:r>
            </a:p>
          </p:txBody>
        </p:sp>
        <p:sp>
          <p:nvSpPr>
            <p:cNvPr id="71" name="图形"/>
            <p:cNvSpPr/>
            <p:nvPr/>
          </p:nvSpPr>
          <p:spPr>
            <a:xfrm>
              <a:off x="13796" y="2943"/>
              <a:ext cx="1338" cy="1338"/>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sz="3600" b="1">
                  <a:latin typeface="宋体" panose="02010600030101010101" pitchFamily="2" charset="-122"/>
                  <a:ea typeface="宋体" panose="02010600030101010101" pitchFamily="2" charset="-122"/>
                  <a:cs typeface="思源黑体 Normal"/>
                  <a:sym typeface="Arial" panose="020B0604020202020204"/>
                </a:rPr>
                <a:t>六</a:t>
              </a:r>
            </a:p>
          </p:txBody>
        </p:sp>
        <p:sp>
          <p:nvSpPr>
            <p:cNvPr id="72" name="图形"/>
            <p:cNvSpPr/>
            <p:nvPr/>
          </p:nvSpPr>
          <p:spPr>
            <a:xfrm>
              <a:off x="15319"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部</a:t>
              </a:r>
            </a:p>
          </p:txBody>
        </p:sp>
        <p:sp>
          <p:nvSpPr>
            <p:cNvPr id="73" name="图形"/>
            <p:cNvSpPr/>
            <p:nvPr/>
          </p:nvSpPr>
          <p:spPr>
            <a:xfrm>
              <a:off x="16842"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分</a:t>
              </a:r>
            </a:p>
          </p:txBody>
        </p:sp>
      </p:grpSp>
      <p:grpSp>
        <p:nvGrpSpPr>
          <p:cNvPr id="74" name="图形"/>
          <p:cNvGrpSpPr/>
          <p:nvPr/>
        </p:nvGrpSpPr>
        <p:grpSpPr>
          <a:xfrm>
            <a:off x="8990331" y="5836920"/>
            <a:ext cx="2555240" cy="444500"/>
            <a:chOff x="14158" y="9192"/>
            <a:chExt cx="4024" cy="700"/>
          </a:xfrm>
        </p:grpSpPr>
        <p:sp>
          <p:nvSpPr>
            <p:cNvPr id="75" name="图形"/>
            <p:cNvSpPr/>
            <p:nvPr/>
          </p:nvSpPr>
          <p:spPr>
            <a:xfrm>
              <a:off x="14158" y="9192"/>
              <a:ext cx="701" cy="701"/>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76" name="图形"/>
            <p:cNvSpPr/>
            <p:nvPr/>
          </p:nvSpPr>
          <p:spPr>
            <a:xfrm>
              <a:off x="15266"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77" name="图形"/>
            <p:cNvSpPr/>
            <p:nvPr/>
          </p:nvSpPr>
          <p:spPr>
            <a:xfrm>
              <a:off x="16374"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78" name="图形"/>
            <p:cNvSpPr/>
            <p:nvPr/>
          </p:nvSpPr>
          <p:spPr>
            <a:xfrm>
              <a:off x="17482"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9" name="组合 18"/>
          <p:cNvGrpSpPr/>
          <p:nvPr/>
        </p:nvGrpSpPr>
        <p:grpSpPr>
          <a:xfrm>
            <a:off x="9503410" y="508000"/>
            <a:ext cx="2338705" cy="1039495"/>
            <a:chOff x="14966" y="800"/>
            <a:chExt cx="3683" cy="1637"/>
          </a:xfrm>
        </p:grpSpPr>
        <p:pic>
          <p:nvPicPr>
            <p:cNvPr id="17" name="图片 16"/>
            <p:cNvPicPr>
              <a:picLocks noChangeAspect="1"/>
            </p:cNvPicPr>
            <p:nvPr/>
          </p:nvPicPr>
          <p:blipFill>
            <a:blip r:embed="rId4"/>
            <a:stretch>
              <a:fillRect/>
            </a:stretch>
          </p:blipFill>
          <p:spPr>
            <a:xfrm>
              <a:off x="14966" y="800"/>
              <a:ext cx="1381" cy="1381"/>
            </a:xfrm>
            <a:prstGeom prst="rect">
              <a:avLst/>
            </a:prstGeom>
          </p:spPr>
        </p:pic>
        <p:sp>
          <p:nvSpPr>
            <p:cNvPr id="18" name="文本框 17"/>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74"/>
                                        </p:tgtEl>
                                        <p:attrNameLst>
                                          <p:attrName>style.visibility</p:attrName>
                                        </p:attrNameLst>
                                      </p:cBhvr>
                                      <p:to>
                                        <p:strVal val="visible"/>
                                      </p:to>
                                    </p:set>
                                    <p:animEffect transition="in" filter="fade">
                                      <p:cBhvr>
                                        <p:cTn id="10" dur="500"/>
                                        <p:tgtEl>
                                          <p:spTgt spid="74"/>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000" fill="hold">
                                          <p:stCondLst>
                                            <p:cond delay="0"/>
                                          </p:stCondLst>
                                        </p:cTn>
                                        <p:tgtEl>
                                          <p:spTgt spid="69"/>
                                        </p:tgtEl>
                                        <p:attrNameLst>
                                          <p:attrName>style.visibility</p:attrName>
                                        </p:attrNameLst>
                                      </p:cBhvr>
                                      <p:to>
                                        <p:strVal val="visible"/>
                                      </p:to>
                                    </p:set>
                                    <p:anim calcmode="lin" valueType="num">
                                      <p:cBhvr>
                                        <p:cTn id="14" dur="1000" fill="hold"/>
                                        <p:tgtEl>
                                          <p:spTgt spid="69"/>
                                        </p:tgtEl>
                                        <p:attrNameLst>
                                          <p:attrName>ppt_w</p:attrName>
                                        </p:attrNameLst>
                                      </p:cBhvr>
                                      <p:tavLst>
                                        <p:tav tm="0">
                                          <p:val>
                                            <p:fltVal val="0"/>
                                          </p:val>
                                        </p:tav>
                                        <p:tav tm="100000">
                                          <p:val>
                                            <p:strVal val="#ppt_w"/>
                                          </p:val>
                                        </p:tav>
                                      </p:tavLst>
                                    </p:anim>
                                    <p:anim calcmode="lin" valueType="num">
                                      <p:cBhvr>
                                        <p:cTn id="15" dur="1000" fill="hold"/>
                                        <p:tgtEl>
                                          <p:spTgt spid="69"/>
                                        </p:tgtEl>
                                        <p:attrNameLst>
                                          <p:attrName>ppt_h</p:attrName>
                                        </p:attrNameLst>
                                      </p:cBhvr>
                                      <p:tavLst>
                                        <p:tav tm="0">
                                          <p:val>
                                            <p:fltVal val="0"/>
                                          </p:val>
                                        </p:tav>
                                        <p:tav tm="100000">
                                          <p:val>
                                            <p:strVal val="#ppt_h"/>
                                          </p:val>
                                        </p:tav>
                                      </p:tavLst>
                                    </p:anim>
                                  </p:childTnLst>
                                </p:cTn>
                              </p:par>
                            </p:childTnLst>
                          </p:cTn>
                        </p:par>
                        <p:par>
                          <p:cTn id="16" fill="hold">
                            <p:stCondLst>
                              <p:cond delay="1500"/>
                            </p:stCondLst>
                            <p:childTnLst>
                              <p:par>
                                <p:cTn id="17" presetID="23" presetClass="entr" presetSubtype="16" fill="hold" nodeType="afterEffect">
                                  <p:stCondLst>
                                    <p:cond delay="0"/>
                                  </p:stCondLst>
                                  <p:childTnLst>
                                    <p:set>
                                      <p:cBhvr>
                                        <p:cTn id="18" dur="1000" fill="hold">
                                          <p:stCondLst>
                                            <p:cond delay="0"/>
                                          </p:stCondLst>
                                        </p:cTn>
                                        <p:tgtEl>
                                          <p:spTgt spid="67"/>
                                        </p:tgtEl>
                                        <p:attrNameLst>
                                          <p:attrName>style.visibility</p:attrName>
                                        </p:attrNameLst>
                                      </p:cBhvr>
                                      <p:to>
                                        <p:strVal val="visible"/>
                                      </p:to>
                                    </p:set>
                                    <p:anim calcmode="lin" valueType="num">
                                      <p:cBhvr>
                                        <p:cTn id="19" dur="1000" fill="hold"/>
                                        <p:tgtEl>
                                          <p:spTgt spid="67"/>
                                        </p:tgtEl>
                                        <p:attrNameLst>
                                          <p:attrName>ppt_w</p:attrName>
                                        </p:attrNameLst>
                                      </p:cBhvr>
                                      <p:tavLst>
                                        <p:tav tm="0">
                                          <p:val>
                                            <p:fltVal val="0"/>
                                          </p:val>
                                        </p:tav>
                                        <p:tav tm="100000">
                                          <p:val>
                                            <p:strVal val="#ppt_w"/>
                                          </p:val>
                                        </p:tav>
                                      </p:tavLst>
                                    </p:anim>
                                    <p:anim calcmode="lin" valueType="num">
                                      <p:cBhvr>
                                        <p:cTn id="20" dur="1000" fill="hold"/>
                                        <p:tgtEl>
                                          <p:spTgt spid="67"/>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000" fill="hold">
                                          <p:stCondLst>
                                            <p:cond delay="0"/>
                                          </p:stCondLst>
                                        </p:cTn>
                                        <p:tgtEl>
                                          <p:spTgt spid="68"/>
                                        </p:tgtEl>
                                        <p:attrNameLst>
                                          <p:attrName>style.visibility</p:attrName>
                                        </p:attrNameLst>
                                      </p:cBhvr>
                                      <p:to>
                                        <p:strVal val="visible"/>
                                      </p:to>
                                    </p:set>
                                    <p:anim calcmode="lin" valueType="num">
                                      <p:cBhvr>
                                        <p:cTn id="23" dur="1000" fill="hold"/>
                                        <p:tgtEl>
                                          <p:spTgt spid="68"/>
                                        </p:tgtEl>
                                        <p:attrNameLst>
                                          <p:attrName>ppt_w</p:attrName>
                                        </p:attrNameLst>
                                      </p:cBhvr>
                                      <p:tavLst>
                                        <p:tav tm="0">
                                          <p:val>
                                            <p:fltVal val="0"/>
                                          </p:val>
                                        </p:tav>
                                        <p:tav tm="100000">
                                          <p:val>
                                            <p:strVal val="#ppt_w"/>
                                          </p:val>
                                        </p:tav>
                                      </p:tavLst>
                                    </p:anim>
                                    <p:anim calcmode="lin" valueType="num">
                                      <p:cBhvr>
                                        <p:cTn id="24" dur="1000" fill="hold"/>
                                        <p:tgtEl>
                                          <p:spTgt spid="6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图形"/>
          <p:cNvGrpSpPr/>
          <p:nvPr/>
        </p:nvGrpSpPr>
        <p:grpSpPr>
          <a:xfrm>
            <a:off x="-477520" y="-918210"/>
            <a:ext cx="4231640" cy="2447290"/>
            <a:chOff x="-752" y="-1446"/>
            <a:chExt cx="6664" cy="3854"/>
          </a:xfrm>
        </p:grpSpPr>
        <p:sp>
          <p:nvSpPr>
            <p:cNvPr id="8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83" name="图形"/>
            <p:cNvSpPr txBox="1"/>
            <p:nvPr/>
          </p:nvSpPr>
          <p:spPr>
            <a:xfrm>
              <a:off x="1354" y="611"/>
              <a:ext cx="4558" cy="918"/>
            </a:xfrm>
            <a:prstGeom prst="rect">
              <a:avLst/>
            </a:prstGeom>
            <a:noFill/>
          </p:spPr>
          <p:txBody>
            <a:bodyPr wrap="square" lIns="0" tIns="0" rIns="0" bIns="0" rtlCol="0">
              <a:noAutofit/>
            </a:bodyPr>
            <a:lstStyle/>
            <a:p>
              <a:pPr algn="dist"/>
              <a:r>
                <a:rPr lang="zh-CN" sz="36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未来展望</a:t>
              </a:r>
            </a:p>
          </p:txBody>
        </p:sp>
        <p:sp>
          <p:nvSpPr>
            <p:cNvPr id="84"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cxnSp>
        <p:nvCxnSpPr>
          <p:cNvPr id="86" name="图形"/>
          <p:cNvCxnSpPr/>
          <p:nvPr/>
        </p:nvCxnSpPr>
        <p:spPr>
          <a:xfrm>
            <a:off x="8303260" y="3705860"/>
            <a:ext cx="2700020" cy="0"/>
          </a:xfrm>
          <a:prstGeom prst="line">
            <a:avLst/>
          </a:prstGeom>
          <a:ln w="12700">
            <a:solidFill>
              <a:srgbClr val="F7B75D"/>
            </a:solidFill>
          </a:ln>
        </p:spPr>
        <p:style>
          <a:lnRef idx="1">
            <a:schemeClr val="accent1"/>
          </a:lnRef>
          <a:fillRef idx="0">
            <a:schemeClr val="accent1"/>
          </a:fillRef>
          <a:effectRef idx="0">
            <a:schemeClr val="accent1"/>
          </a:effectRef>
          <a:fontRef idx="minor">
            <a:schemeClr val="tx1"/>
          </a:fontRef>
        </p:style>
      </p:cxnSp>
      <p:cxnSp>
        <p:nvCxnSpPr>
          <p:cNvPr id="87" name="图形"/>
          <p:cNvCxnSpPr/>
          <p:nvPr/>
        </p:nvCxnSpPr>
        <p:spPr>
          <a:xfrm>
            <a:off x="1137920" y="3705860"/>
            <a:ext cx="2700020" cy="0"/>
          </a:xfrm>
          <a:prstGeom prst="line">
            <a:avLst/>
          </a:prstGeom>
          <a:ln w="12700">
            <a:solidFill>
              <a:srgbClr val="F7B75D"/>
            </a:solidFill>
          </a:ln>
        </p:spPr>
        <p:style>
          <a:lnRef idx="1">
            <a:schemeClr val="accent1"/>
          </a:lnRef>
          <a:fillRef idx="0">
            <a:schemeClr val="accent1"/>
          </a:fillRef>
          <a:effectRef idx="0">
            <a:schemeClr val="accent1"/>
          </a:effectRef>
          <a:fontRef idx="minor">
            <a:schemeClr val="tx1"/>
          </a:fontRef>
        </p:style>
      </p:cxnSp>
      <p:grpSp>
        <p:nvGrpSpPr>
          <p:cNvPr id="88" name="组合 174"/>
          <p:cNvGrpSpPr/>
          <p:nvPr/>
        </p:nvGrpSpPr>
        <p:grpSpPr>
          <a:xfrm>
            <a:off x="4087495" y="1931035"/>
            <a:ext cx="3950335" cy="3500120"/>
            <a:chOff x="6488" y="2920"/>
            <a:chExt cx="6221" cy="5508"/>
          </a:xfrm>
        </p:grpSpPr>
        <p:sp>
          <p:nvSpPr>
            <p:cNvPr id="89" name="图形"/>
            <p:cNvSpPr/>
            <p:nvPr/>
          </p:nvSpPr>
          <p:spPr bwMode="auto">
            <a:xfrm>
              <a:off x="8983" y="5528"/>
              <a:ext cx="3727" cy="2451"/>
            </a:xfrm>
            <a:custGeom>
              <a:avLst/>
              <a:gdLst>
                <a:gd name="T0" fmla="*/ 586 w 698"/>
                <a:gd name="T1" fmla="*/ 44 h 460"/>
                <a:gd name="T2" fmla="*/ 577 w 698"/>
                <a:gd name="T3" fmla="*/ 125 h 460"/>
                <a:gd name="T4" fmla="*/ 618 w 698"/>
                <a:gd name="T5" fmla="*/ 197 h 460"/>
                <a:gd name="T6" fmla="*/ 660 w 698"/>
                <a:gd name="T7" fmla="*/ 177 h 460"/>
                <a:gd name="T8" fmla="*/ 698 w 698"/>
                <a:gd name="T9" fmla="*/ 229 h 460"/>
                <a:gd name="T10" fmla="*/ 657 w 698"/>
                <a:gd name="T11" fmla="*/ 295 h 460"/>
                <a:gd name="T12" fmla="*/ 601 w 698"/>
                <a:gd name="T13" fmla="*/ 271 h 460"/>
                <a:gd name="T14" fmla="*/ 571 w 698"/>
                <a:gd name="T15" fmla="*/ 349 h 460"/>
                <a:gd name="T16" fmla="*/ 581 w 698"/>
                <a:gd name="T17" fmla="*/ 441 h 460"/>
                <a:gd name="T18" fmla="*/ 415 w 698"/>
                <a:gd name="T19" fmla="*/ 451 h 460"/>
                <a:gd name="T20" fmla="*/ 380 w 698"/>
                <a:gd name="T21" fmla="*/ 422 h 460"/>
                <a:gd name="T22" fmla="*/ 391 w 698"/>
                <a:gd name="T23" fmla="*/ 365 h 460"/>
                <a:gd name="T24" fmla="*/ 346 w 698"/>
                <a:gd name="T25" fmla="*/ 334 h 460"/>
                <a:gd name="T26" fmla="*/ 296 w 698"/>
                <a:gd name="T27" fmla="*/ 371 h 460"/>
                <a:gd name="T28" fmla="*/ 305 w 698"/>
                <a:gd name="T29" fmla="*/ 438 h 460"/>
                <a:gd name="T30" fmla="*/ 213 w 698"/>
                <a:gd name="T31" fmla="*/ 450 h 460"/>
                <a:gd name="T32" fmla="*/ 110 w 698"/>
                <a:gd name="T33" fmla="*/ 434 h 460"/>
                <a:gd name="T34" fmla="*/ 121 w 698"/>
                <a:gd name="T35" fmla="*/ 314 h 460"/>
                <a:gd name="T36" fmla="*/ 99 w 698"/>
                <a:gd name="T37" fmla="*/ 262 h 460"/>
                <a:gd name="T38" fmla="*/ 72 w 698"/>
                <a:gd name="T39" fmla="*/ 267 h 460"/>
                <a:gd name="T40" fmla="*/ 41 w 698"/>
                <a:gd name="T41" fmla="*/ 272 h 460"/>
                <a:gd name="T42" fmla="*/ 1 w 698"/>
                <a:gd name="T43" fmla="*/ 221 h 460"/>
                <a:gd name="T44" fmla="*/ 39 w 698"/>
                <a:gd name="T45" fmla="*/ 176 h 460"/>
                <a:gd name="T46" fmla="*/ 99 w 698"/>
                <a:gd name="T47" fmla="*/ 192 h 460"/>
                <a:gd name="T48" fmla="*/ 122 w 698"/>
                <a:gd name="T49" fmla="*/ 104 h 460"/>
                <a:gd name="T50" fmla="*/ 118 w 698"/>
                <a:gd name="T51" fmla="*/ 33 h 460"/>
                <a:gd name="T52" fmla="*/ 305 w 698"/>
                <a:gd name="T53" fmla="*/ 16 h 460"/>
                <a:gd name="T54" fmla="*/ 307 w 698"/>
                <a:gd name="T55" fmla="*/ 55 h 460"/>
                <a:gd name="T56" fmla="*/ 300 w 698"/>
                <a:gd name="T57" fmla="*/ 101 h 460"/>
                <a:gd name="T58" fmla="*/ 357 w 698"/>
                <a:gd name="T59" fmla="*/ 135 h 460"/>
                <a:gd name="T60" fmla="*/ 407 w 698"/>
                <a:gd name="T61" fmla="*/ 94 h 460"/>
                <a:gd name="T62" fmla="*/ 392 w 698"/>
                <a:gd name="T63" fmla="*/ 24 h 460"/>
                <a:gd name="T64" fmla="*/ 483 w 698"/>
                <a:gd name="T65" fmla="*/ 16 h 460"/>
                <a:gd name="T66" fmla="*/ 586 w 698"/>
                <a:gd name="T67" fmla="*/ 44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8" h="460">
                  <a:moveTo>
                    <a:pt x="586" y="44"/>
                  </a:moveTo>
                  <a:cubicBezTo>
                    <a:pt x="586" y="44"/>
                    <a:pt x="576" y="91"/>
                    <a:pt x="577" y="125"/>
                  </a:cubicBezTo>
                  <a:cubicBezTo>
                    <a:pt x="577" y="159"/>
                    <a:pt x="586" y="204"/>
                    <a:pt x="618" y="197"/>
                  </a:cubicBezTo>
                  <a:cubicBezTo>
                    <a:pt x="641" y="192"/>
                    <a:pt x="637" y="176"/>
                    <a:pt x="660" y="177"/>
                  </a:cubicBezTo>
                  <a:cubicBezTo>
                    <a:pt x="683" y="178"/>
                    <a:pt x="698" y="212"/>
                    <a:pt x="698" y="229"/>
                  </a:cubicBezTo>
                  <a:cubicBezTo>
                    <a:pt x="698" y="270"/>
                    <a:pt x="679" y="296"/>
                    <a:pt x="657" y="295"/>
                  </a:cubicBezTo>
                  <a:cubicBezTo>
                    <a:pt x="634" y="294"/>
                    <a:pt x="625" y="271"/>
                    <a:pt x="601" y="271"/>
                  </a:cubicBezTo>
                  <a:cubicBezTo>
                    <a:pt x="577" y="271"/>
                    <a:pt x="570" y="292"/>
                    <a:pt x="571" y="349"/>
                  </a:cubicBezTo>
                  <a:cubicBezTo>
                    <a:pt x="573" y="407"/>
                    <a:pt x="581" y="441"/>
                    <a:pt x="581" y="441"/>
                  </a:cubicBezTo>
                  <a:cubicBezTo>
                    <a:pt x="581" y="441"/>
                    <a:pt x="464" y="460"/>
                    <a:pt x="415" y="451"/>
                  </a:cubicBezTo>
                  <a:cubicBezTo>
                    <a:pt x="387" y="445"/>
                    <a:pt x="381" y="437"/>
                    <a:pt x="380" y="422"/>
                  </a:cubicBezTo>
                  <a:cubicBezTo>
                    <a:pt x="379" y="407"/>
                    <a:pt x="399" y="391"/>
                    <a:pt x="391" y="365"/>
                  </a:cubicBezTo>
                  <a:cubicBezTo>
                    <a:pt x="386" y="350"/>
                    <a:pt x="372" y="335"/>
                    <a:pt x="346" y="334"/>
                  </a:cubicBezTo>
                  <a:cubicBezTo>
                    <a:pt x="319" y="332"/>
                    <a:pt x="296" y="348"/>
                    <a:pt x="296" y="371"/>
                  </a:cubicBezTo>
                  <a:cubicBezTo>
                    <a:pt x="294" y="411"/>
                    <a:pt x="311" y="424"/>
                    <a:pt x="305" y="438"/>
                  </a:cubicBezTo>
                  <a:cubicBezTo>
                    <a:pt x="298" y="452"/>
                    <a:pt x="277" y="454"/>
                    <a:pt x="213" y="450"/>
                  </a:cubicBezTo>
                  <a:cubicBezTo>
                    <a:pt x="137" y="446"/>
                    <a:pt x="110" y="434"/>
                    <a:pt x="110" y="434"/>
                  </a:cubicBezTo>
                  <a:cubicBezTo>
                    <a:pt x="110" y="434"/>
                    <a:pt x="117" y="358"/>
                    <a:pt x="121" y="314"/>
                  </a:cubicBezTo>
                  <a:cubicBezTo>
                    <a:pt x="124" y="276"/>
                    <a:pt x="109" y="265"/>
                    <a:pt x="99" y="262"/>
                  </a:cubicBezTo>
                  <a:cubicBezTo>
                    <a:pt x="94" y="261"/>
                    <a:pt x="84" y="264"/>
                    <a:pt x="72" y="267"/>
                  </a:cubicBezTo>
                  <a:cubicBezTo>
                    <a:pt x="62" y="270"/>
                    <a:pt x="50" y="273"/>
                    <a:pt x="41" y="272"/>
                  </a:cubicBezTo>
                  <a:cubicBezTo>
                    <a:pt x="23" y="271"/>
                    <a:pt x="0" y="255"/>
                    <a:pt x="1" y="221"/>
                  </a:cubicBezTo>
                  <a:cubicBezTo>
                    <a:pt x="2" y="199"/>
                    <a:pt x="15" y="175"/>
                    <a:pt x="39" y="176"/>
                  </a:cubicBezTo>
                  <a:cubicBezTo>
                    <a:pt x="72" y="176"/>
                    <a:pt x="81" y="191"/>
                    <a:pt x="99" y="192"/>
                  </a:cubicBezTo>
                  <a:cubicBezTo>
                    <a:pt x="113" y="192"/>
                    <a:pt x="121" y="149"/>
                    <a:pt x="122" y="104"/>
                  </a:cubicBezTo>
                  <a:cubicBezTo>
                    <a:pt x="123" y="60"/>
                    <a:pt x="118" y="33"/>
                    <a:pt x="118" y="33"/>
                  </a:cubicBezTo>
                  <a:cubicBezTo>
                    <a:pt x="118" y="33"/>
                    <a:pt x="279" y="0"/>
                    <a:pt x="305" y="16"/>
                  </a:cubicBezTo>
                  <a:cubicBezTo>
                    <a:pt x="326" y="28"/>
                    <a:pt x="312" y="43"/>
                    <a:pt x="307" y="55"/>
                  </a:cubicBezTo>
                  <a:cubicBezTo>
                    <a:pt x="299" y="73"/>
                    <a:pt x="295" y="88"/>
                    <a:pt x="300" y="101"/>
                  </a:cubicBezTo>
                  <a:cubicBezTo>
                    <a:pt x="307" y="123"/>
                    <a:pt x="332" y="135"/>
                    <a:pt x="357" y="135"/>
                  </a:cubicBezTo>
                  <a:cubicBezTo>
                    <a:pt x="388" y="135"/>
                    <a:pt x="405" y="114"/>
                    <a:pt x="407" y="94"/>
                  </a:cubicBezTo>
                  <a:cubicBezTo>
                    <a:pt x="409" y="50"/>
                    <a:pt x="392" y="38"/>
                    <a:pt x="392" y="24"/>
                  </a:cubicBezTo>
                  <a:cubicBezTo>
                    <a:pt x="392" y="4"/>
                    <a:pt x="440" y="8"/>
                    <a:pt x="483" y="16"/>
                  </a:cubicBezTo>
                  <a:cubicBezTo>
                    <a:pt x="516" y="22"/>
                    <a:pt x="586" y="44"/>
                    <a:pt x="586" y="44"/>
                  </a:cubicBezTo>
                </a:path>
              </a:pathLst>
            </a:custGeom>
            <a:solidFill>
              <a:srgbClr val="F7B75D"/>
            </a:solidFill>
            <a:ln>
              <a:noFill/>
            </a:ln>
          </p:spPr>
          <p:txBody>
            <a:bodyPr wrap="square" lIns="91440" tIns="45720" rIns="91440" bIns="45720" anchor="ctr">
              <a:normAutofit/>
            </a:bodyPr>
            <a:lstStyle/>
            <a:p>
              <a:pPr algn="ctr"/>
              <a:endParaRPr>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0" name="图形"/>
            <p:cNvSpPr/>
            <p:nvPr/>
          </p:nvSpPr>
          <p:spPr bwMode="auto">
            <a:xfrm>
              <a:off x="6938" y="5138"/>
              <a:ext cx="2685" cy="3290"/>
            </a:xfrm>
            <a:custGeom>
              <a:avLst/>
              <a:gdLst>
                <a:gd name="T0" fmla="*/ 496 w 503"/>
                <a:gd name="T1" fmla="*/ 109 h 617"/>
                <a:gd name="T2" fmla="*/ 377 w 503"/>
                <a:gd name="T3" fmla="*/ 122 h 617"/>
                <a:gd name="T4" fmla="*/ 292 w 503"/>
                <a:gd name="T5" fmla="*/ 90 h 617"/>
                <a:gd name="T6" fmla="*/ 314 w 503"/>
                <a:gd name="T7" fmla="*/ 36 h 617"/>
                <a:gd name="T8" fmla="*/ 254 w 503"/>
                <a:gd name="T9" fmla="*/ 0 h 617"/>
                <a:gd name="T10" fmla="*/ 199 w 503"/>
                <a:gd name="T11" fmla="*/ 42 h 617"/>
                <a:gd name="T12" fmla="*/ 213 w 503"/>
                <a:gd name="T13" fmla="*/ 97 h 617"/>
                <a:gd name="T14" fmla="*/ 117 w 503"/>
                <a:gd name="T15" fmla="*/ 123 h 617"/>
                <a:gd name="T16" fmla="*/ 15 w 503"/>
                <a:gd name="T17" fmla="*/ 106 h 617"/>
                <a:gd name="T18" fmla="*/ 6 w 503"/>
                <a:gd name="T19" fmla="*/ 178 h 617"/>
                <a:gd name="T20" fmla="*/ 14 w 503"/>
                <a:gd name="T21" fmla="*/ 233 h 617"/>
                <a:gd name="T22" fmla="*/ 44 w 503"/>
                <a:gd name="T23" fmla="*/ 255 h 617"/>
                <a:gd name="T24" fmla="*/ 86 w 503"/>
                <a:gd name="T25" fmla="*/ 233 h 617"/>
                <a:gd name="T26" fmla="*/ 128 w 503"/>
                <a:gd name="T27" fmla="*/ 293 h 617"/>
                <a:gd name="T28" fmla="*/ 87 w 503"/>
                <a:gd name="T29" fmla="*/ 359 h 617"/>
                <a:gd name="T30" fmla="*/ 27 w 503"/>
                <a:gd name="T31" fmla="*/ 334 h 617"/>
                <a:gd name="T32" fmla="*/ 1 w 503"/>
                <a:gd name="T33" fmla="*/ 384 h 617"/>
                <a:gd name="T34" fmla="*/ 5 w 503"/>
                <a:gd name="T35" fmla="*/ 465 h 617"/>
                <a:gd name="T36" fmla="*/ 10 w 503"/>
                <a:gd name="T37" fmla="*/ 500 h 617"/>
                <a:gd name="T38" fmla="*/ 143 w 503"/>
                <a:gd name="T39" fmla="*/ 490 h 617"/>
                <a:gd name="T40" fmla="*/ 225 w 503"/>
                <a:gd name="T41" fmla="*/ 522 h 617"/>
                <a:gd name="T42" fmla="*/ 196 w 503"/>
                <a:gd name="T43" fmla="*/ 573 h 617"/>
                <a:gd name="T44" fmla="*/ 256 w 503"/>
                <a:gd name="T45" fmla="*/ 617 h 617"/>
                <a:gd name="T46" fmla="*/ 313 w 503"/>
                <a:gd name="T47" fmla="*/ 575 h 617"/>
                <a:gd name="T48" fmla="*/ 281 w 503"/>
                <a:gd name="T49" fmla="*/ 520 h 617"/>
                <a:gd name="T50" fmla="*/ 318 w 503"/>
                <a:gd name="T51" fmla="*/ 491 h 617"/>
                <a:gd name="T52" fmla="*/ 489 w 503"/>
                <a:gd name="T53" fmla="*/ 506 h 617"/>
                <a:gd name="T54" fmla="*/ 498 w 503"/>
                <a:gd name="T55" fmla="*/ 421 h 617"/>
                <a:gd name="T56" fmla="*/ 478 w 503"/>
                <a:gd name="T57" fmla="*/ 338 h 617"/>
                <a:gd name="T58" fmla="*/ 426 w 503"/>
                <a:gd name="T59" fmla="*/ 349 h 617"/>
                <a:gd name="T60" fmla="*/ 381 w 503"/>
                <a:gd name="T61" fmla="*/ 292 h 617"/>
                <a:gd name="T62" fmla="*/ 422 w 503"/>
                <a:gd name="T63" fmla="*/ 244 h 617"/>
                <a:gd name="T64" fmla="*/ 483 w 503"/>
                <a:gd name="T65" fmla="*/ 260 h 617"/>
                <a:gd name="T66" fmla="*/ 501 w 503"/>
                <a:gd name="T67" fmla="*/ 177 h 617"/>
                <a:gd name="T68" fmla="*/ 496 w 503"/>
                <a:gd name="T69" fmla="*/ 109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3" h="617">
                  <a:moveTo>
                    <a:pt x="496" y="109"/>
                  </a:moveTo>
                  <a:cubicBezTo>
                    <a:pt x="496" y="109"/>
                    <a:pt x="434" y="122"/>
                    <a:pt x="377" y="122"/>
                  </a:cubicBezTo>
                  <a:cubicBezTo>
                    <a:pt x="329" y="121"/>
                    <a:pt x="292" y="118"/>
                    <a:pt x="292" y="90"/>
                  </a:cubicBezTo>
                  <a:cubicBezTo>
                    <a:pt x="293" y="62"/>
                    <a:pt x="317" y="62"/>
                    <a:pt x="314" y="36"/>
                  </a:cubicBezTo>
                  <a:cubicBezTo>
                    <a:pt x="310" y="9"/>
                    <a:pt x="283" y="0"/>
                    <a:pt x="254" y="0"/>
                  </a:cubicBezTo>
                  <a:cubicBezTo>
                    <a:pt x="226" y="1"/>
                    <a:pt x="199" y="19"/>
                    <a:pt x="199" y="42"/>
                  </a:cubicBezTo>
                  <a:cubicBezTo>
                    <a:pt x="199" y="64"/>
                    <a:pt x="221" y="81"/>
                    <a:pt x="213" y="97"/>
                  </a:cubicBezTo>
                  <a:cubicBezTo>
                    <a:pt x="204" y="113"/>
                    <a:pt x="165" y="126"/>
                    <a:pt x="117" y="123"/>
                  </a:cubicBezTo>
                  <a:cubicBezTo>
                    <a:pt x="71" y="120"/>
                    <a:pt x="15" y="106"/>
                    <a:pt x="15" y="106"/>
                  </a:cubicBezTo>
                  <a:cubicBezTo>
                    <a:pt x="15" y="106"/>
                    <a:pt x="6" y="157"/>
                    <a:pt x="6" y="178"/>
                  </a:cubicBezTo>
                  <a:cubicBezTo>
                    <a:pt x="7" y="200"/>
                    <a:pt x="10" y="224"/>
                    <a:pt x="14" y="233"/>
                  </a:cubicBezTo>
                  <a:cubicBezTo>
                    <a:pt x="19" y="242"/>
                    <a:pt x="27" y="259"/>
                    <a:pt x="44" y="255"/>
                  </a:cubicBezTo>
                  <a:cubicBezTo>
                    <a:pt x="60" y="251"/>
                    <a:pt x="69" y="230"/>
                    <a:pt x="86" y="233"/>
                  </a:cubicBezTo>
                  <a:cubicBezTo>
                    <a:pt x="102" y="236"/>
                    <a:pt x="130" y="259"/>
                    <a:pt x="128" y="293"/>
                  </a:cubicBezTo>
                  <a:cubicBezTo>
                    <a:pt x="125" y="328"/>
                    <a:pt x="111" y="361"/>
                    <a:pt x="87" y="359"/>
                  </a:cubicBezTo>
                  <a:cubicBezTo>
                    <a:pt x="62" y="357"/>
                    <a:pt x="47" y="336"/>
                    <a:pt x="27" y="334"/>
                  </a:cubicBezTo>
                  <a:cubicBezTo>
                    <a:pt x="6" y="332"/>
                    <a:pt x="0" y="366"/>
                    <a:pt x="1" y="384"/>
                  </a:cubicBezTo>
                  <a:cubicBezTo>
                    <a:pt x="2" y="403"/>
                    <a:pt x="2" y="445"/>
                    <a:pt x="5" y="465"/>
                  </a:cubicBezTo>
                  <a:cubicBezTo>
                    <a:pt x="8" y="485"/>
                    <a:pt x="10" y="500"/>
                    <a:pt x="10" y="500"/>
                  </a:cubicBezTo>
                  <a:cubicBezTo>
                    <a:pt x="10" y="500"/>
                    <a:pt x="90" y="489"/>
                    <a:pt x="143" y="490"/>
                  </a:cubicBezTo>
                  <a:cubicBezTo>
                    <a:pt x="195" y="491"/>
                    <a:pt x="223" y="502"/>
                    <a:pt x="225" y="522"/>
                  </a:cubicBezTo>
                  <a:cubicBezTo>
                    <a:pt x="226" y="542"/>
                    <a:pt x="193" y="550"/>
                    <a:pt x="196" y="573"/>
                  </a:cubicBezTo>
                  <a:cubicBezTo>
                    <a:pt x="199" y="596"/>
                    <a:pt x="234" y="617"/>
                    <a:pt x="256" y="617"/>
                  </a:cubicBezTo>
                  <a:cubicBezTo>
                    <a:pt x="279" y="616"/>
                    <a:pt x="313" y="602"/>
                    <a:pt x="313" y="575"/>
                  </a:cubicBezTo>
                  <a:cubicBezTo>
                    <a:pt x="312" y="548"/>
                    <a:pt x="282" y="537"/>
                    <a:pt x="281" y="520"/>
                  </a:cubicBezTo>
                  <a:cubicBezTo>
                    <a:pt x="279" y="504"/>
                    <a:pt x="298" y="491"/>
                    <a:pt x="318" y="491"/>
                  </a:cubicBezTo>
                  <a:cubicBezTo>
                    <a:pt x="337" y="491"/>
                    <a:pt x="489" y="506"/>
                    <a:pt x="489" y="506"/>
                  </a:cubicBezTo>
                  <a:cubicBezTo>
                    <a:pt x="489" y="506"/>
                    <a:pt x="494" y="464"/>
                    <a:pt x="498" y="421"/>
                  </a:cubicBezTo>
                  <a:cubicBezTo>
                    <a:pt x="503" y="364"/>
                    <a:pt x="498" y="336"/>
                    <a:pt x="478" y="338"/>
                  </a:cubicBezTo>
                  <a:cubicBezTo>
                    <a:pt x="467" y="339"/>
                    <a:pt x="449" y="350"/>
                    <a:pt x="426" y="349"/>
                  </a:cubicBezTo>
                  <a:cubicBezTo>
                    <a:pt x="403" y="348"/>
                    <a:pt x="378" y="329"/>
                    <a:pt x="381" y="292"/>
                  </a:cubicBezTo>
                  <a:cubicBezTo>
                    <a:pt x="384" y="263"/>
                    <a:pt x="399" y="243"/>
                    <a:pt x="422" y="244"/>
                  </a:cubicBezTo>
                  <a:cubicBezTo>
                    <a:pt x="444" y="246"/>
                    <a:pt x="468" y="260"/>
                    <a:pt x="483" y="260"/>
                  </a:cubicBezTo>
                  <a:cubicBezTo>
                    <a:pt x="493" y="261"/>
                    <a:pt x="501" y="198"/>
                    <a:pt x="501" y="177"/>
                  </a:cubicBezTo>
                  <a:cubicBezTo>
                    <a:pt x="501" y="135"/>
                    <a:pt x="496" y="109"/>
                    <a:pt x="496" y="109"/>
                  </a:cubicBezTo>
                </a:path>
              </a:pathLst>
            </a:custGeom>
            <a:solidFill>
              <a:srgbClr val="566CD3"/>
            </a:solidFill>
            <a:ln>
              <a:noFill/>
            </a:ln>
          </p:spPr>
          <p:txBody>
            <a:bodyPr wrap="square" lIns="91440" tIns="45720" rIns="91440" bIns="45720" anchor="ctr">
              <a:normAutofit/>
            </a:bodyPr>
            <a:lstStyle/>
            <a:p>
              <a:pPr algn="ctr"/>
              <a:endParaRPr>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1" name="图形"/>
            <p:cNvSpPr/>
            <p:nvPr/>
          </p:nvSpPr>
          <p:spPr bwMode="auto">
            <a:xfrm>
              <a:off x="6488" y="3287"/>
              <a:ext cx="3727" cy="2518"/>
            </a:xfrm>
            <a:custGeom>
              <a:avLst/>
              <a:gdLst>
                <a:gd name="T0" fmla="*/ 583 w 698"/>
                <a:gd name="T1" fmla="*/ 31 h 472"/>
                <a:gd name="T2" fmla="*/ 577 w 698"/>
                <a:gd name="T3" fmla="*/ 137 h 472"/>
                <a:gd name="T4" fmla="*/ 618 w 698"/>
                <a:gd name="T5" fmla="*/ 209 h 472"/>
                <a:gd name="T6" fmla="*/ 660 w 698"/>
                <a:gd name="T7" fmla="*/ 189 h 472"/>
                <a:gd name="T8" fmla="*/ 698 w 698"/>
                <a:gd name="T9" fmla="*/ 241 h 472"/>
                <a:gd name="T10" fmla="*/ 657 w 698"/>
                <a:gd name="T11" fmla="*/ 307 h 472"/>
                <a:gd name="T12" fmla="*/ 601 w 698"/>
                <a:gd name="T13" fmla="*/ 283 h 472"/>
                <a:gd name="T14" fmla="*/ 571 w 698"/>
                <a:gd name="T15" fmla="*/ 361 h 472"/>
                <a:gd name="T16" fmla="*/ 581 w 698"/>
                <a:gd name="T17" fmla="*/ 453 h 472"/>
                <a:gd name="T18" fmla="*/ 415 w 698"/>
                <a:gd name="T19" fmla="*/ 463 h 472"/>
                <a:gd name="T20" fmla="*/ 380 w 698"/>
                <a:gd name="T21" fmla="*/ 434 h 472"/>
                <a:gd name="T22" fmla="*/ 401 w 698"/>
                <a:gd name="T23" fmla="*/ 374 h 472"/>
                <a:gd name="T24" fmla="*/ 345 w 698"/>
                <a:gd name="T25" fmla="*/ 342 h 472"/>
                <a:gd name="T26" fmla="*/ 279 w 698"/>
                <a:gd name="T27" fmla="*/ 389 h 472"/>
                <a:gd name="T28" fmla="*/ 293 w 698"/>
                <a:gd name="T29" fmla="*/ 440 h 472"/>
                <a:gd name="T30" fmla="*/ 219 w 698"/>
                <a:gd name="T31" fmla="*/ 468 h 472"/>
                <a:gd name="T32" fmla="*/ 101 w 698"/>
                <a:gd name="T33" fmla="*/ 451 h 472"/>
                <a:gd name="T34" fmla="*/ 121 w 698"/>
                <a:gd name="T35" fmla="*/ 326 h 472"/>
                <a:gd name="T36" fmla="*/ 99 w 698"/>
                <a:gd name="T37" fmla="*/ 274 h 472"/>
                <a:gd name="T38" fmla="*/ 72 w 698"/>
                <a:gd name="T39" fmla="*/ 279 h 472"/>
                <a:gd name="T40" fmla="*/ 41 w 698"/>
                <a:gd name="T41" fmla="*/ 284 h 472"/>
                <a:gd name="T42" fmla="*/ 1 w 698"/>
                <a:gd name="T43" fmla="*/ 233 h 472"/>
                <a:gd name="T44" fmla="*/ 39 w 698"/>
                <a:gd name="T45" fmla="*/ 188 h 472"/>
                <a:gd name="T46" fmla="*/ 99 w 698"/>
                <a:gd name="T47" fmla="*/ 204 h 472"/>
                <a:gd name="T48" fmla="*/ 122 w 698"/>
                <a:gd name="T49" fmla="*/ 116 h 472"/>
                <a:gd name="T50" fmla="*/ 105 w 698"/>
                <a:gd name="T51" fmla="*/ 25 h 472"/>
                <a:gd name="T52" fmla="*/ 305 w 698"/>
                <a:gd name="T53" fmla="*/ 28 h 472"/>
                <a:gd name="T54" fmla="*/ 306 w 698"/>
                <a:gd name="T55" fmla="*/ 63 h 472"/>
                <a:gd name="T56" fmla="*/ 288 w 698"/>
                <a:gd name="T57" fmla="*/ 97 h 472"/>
                <a:gd name="T58" fmla="*/ 353 w 698"/>
                <a:gd name="T59" fmla="*/ 141 h 472"/>
                <a:gd name="T60" fmla="*/ 408 w 698"/>
                <a:gd name="T61" fmla="*/ 100 h 472"/>
                <a:gd name="T62" fmla="*/ 377 w 698"/>
                <a:gd name="T63" fmla="*/ 36 h 472"/>
                <a:gd name="T64" fmla="*/ 479 w 698"/>
                <a:gd name="T65" fmla="*/ 21 h 472"/>
                <a:gd name="T66" fmla="*/ 583 w 698"/>
                <a:gd name="T67" fmla="*/ 31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8" h="472">
                  <a:moveTo>
                    <a:pt x="583" y="31"/>
                  </a:moveTo>
                  <a:cubicBezTo>
                    <a:pt x="583" y="31"/>
                    <a:pt x="576" y="103"/>
                    <a:pt x="577" y="137"/>
                  </a:cubicBezTo>
                  <a:cubicBezTo>
                    <a:pt x="577" y="171"/>
                    <a:pt x="586" y="216"/>
                    <a:pt x="618" y="209"/>
                  </a:cubicBezTo>
                  <a:cubicBezTo>
                    <a:pt x="640" y="205"/>
                    <a:pt x="636" y="188"/>
                    <a:pt x="660" y="189"/>
                  </a:cubicBezTo>
                  <a:cubicBezTo>
                    <a:pt x="682" y="190"/>
                    <a:pt x="698" y="224"/>
                    <a:pt x="698" y="241"/>
                  </a:cubicBezTo>
                  <a:cubicBezTo>
                    <a:pt x="698" y="282"/>
                    <a:pt x="679" y="308"/>
                    <a:pt x="657" y="307"/>
                  </a:cubicBezTo>
                  <a:cubicBezTo>
                    <a:pt x="634" y="306"/>
                    <a:pt x="625" y="283"/>
                    <a:pt x="601" y="283"/>
                  </a:cubicBezTo>
                  <a:cubicBezTo>
                    <a:pt x="577" y="283"/>
                    <a:pt x="570" y="304"/>
                    <a:pt x="571" y="361"/>
                  </a:cubicBezTo>
                  <a:cubicBezTo>
                    <a:pt x="573" y="419"/>
                    <a:pt x="581" y="453"/>
                    <a:pt x="581" y="453"/>
                  </a:cubicBezTo>
                  <a:cubicBezTo>
                    <a:pt x="581" y="453"/>
                    <a:pt x="464" y="472"/>
                    <a:pt x="415" y="463"/>
                  </a:cubicBezTo>
                  <a:cubicBezTo>
                    <a:pt x="387" y="457"/>
                    <a:pt x="381" y="449"/>
                    <a:pt x="380" y="434"/>
                  </a:cubicBezTo>
                  <a:cubicBezTo>
                    <a:pt x="379" y="419"/>
                    <a:pt x="409" y="399"/>
                    <a:pt x="401" y="374"/>
                  </a:cubicBezTo>
                  <a:cubicBezTo>
                    <a:pt x="396" y="358"/>
                    <a:pt x="382" y="345"/>
                    <a:pt x="345" y="342"/>
                  </a:cubicBezTo>
                  <a:cubicBezTo>
                    <a:pt x="313" y="339"/>
                    <a:pt x="276" y="366"/>
                    <a:pt x="279" y="389"/>
                  </a:cubicBezTo>
                  <a:cubicBezTo>
                    <a:pt x="281" y="418"/>
                    <a:pt x="300" y="426"/>
                    <a:pt x="293" y="440"/>
                  </a:cubicBezTo>
                  <a:cubicBezTo>
                    <a:pt x="286" y="455"/>
                    <a:pt x="255" y="468"/>
                    <a:pt x="219" y="468"/>
                  </a:cubicBezTo>
                  <a:cubicBezTo>
                    <a:pt x="164" y="469"/>
                    <a:pt x="101" y="451"/>
                    <a:pt x="101" y="451"/>
                  </a:cubicBezTo>
                  <a:cubicBezTo>
                    <a:pt x="101" y="451"/>
                    <a:pt x="117" y="370"/>
                    <a:pt x="121" y="326"/>
                  </a:cubicBezTo>
                  <a:cubicBezTo>
                    <a:pt x="123" y="288"/>
                    <a:pt x="109" y="277"/>
                    <a:pt x="99" y="274"/>
                  </a:cubicBezTo>
                  <a:cubicBezTo>
                    <a:pt x="94" y="273"/>
                    <a:pt x="84" y="276"/>
                    <a:pt x="72" y="279"/>
                  </a:cubicBezTo>
                  <a:cubicBezTo>
                    <a:pt x="61" y="282"/>
                    <a:pt x="50" y="285"/>
                    <a:pt x="41" y="284"/>
                  </a:cubicBezTo>
                  <a:cubicBezTo>
                    <a:pt x="23" y="283"/>
                    <a:pt x="0" y="267"/>
                    <a:pt x="1" y="233"/>
                  </a:cubicBezTo>
                  <a:cubicBezTo>
                    <a:pt x="2" y="211"/>
                    <a:pt x="15" y="187"/>
                    <a:pt x="39" y="188"/>
                  </a:cubicBezTo>
                  <a:cubicBezTo>
                    <a:pt x="72" y="188"/>
                    <a:pt x="81" y="203"/>
                    <a:pt x="99" y="204"/>
                  </a:cubicBezTo>
                  <a:cubicBezTo>
                    <a:pt x="113" y="204"/>
                    <a:pt x="120" y="161"/>
                    <a:pt x="122" y="116"/>
                  </a:cubicBezTo>
                  <a:cubicBezTo>
                    <a:pt x="123" y="72"/>
                    <a:pt x="105" y="25"/>
                    <a:pt x="105" y="25"/>
                  </a:cubicBezTo>
                  <a:cubicBezTo>
                    <a:pt x="105" y="25"/>
                    <a:pt x="257" y="0"/>
                    <a:pt x="305" y="28"/>
                  </a:cubicBezTo>
                  <a:cubicBezTo>
                    <a:pt x="326" y="40"/>
                    <a:pt x="314" y="56"/>
                    <a:pt x="306" y="63"/>
                  </a:cubicBezTo>
                  <a:cubicBezTo>
                    <a:pt x="296" y="71"/>
                    <a:pt x="286" y="83"/>
                    <a:pt x="288" y="97"/>
                  </a:cubicBezTo>
                  <a:cubicBezTo>
                    <a:pt x="291" y="117"/>
                    <a:pt x="328" y="141"/>
                    <a:pt x="353" y="141"/>
                  </a:cubicBezTo>
                  <a:cubicBezTo>
                    <a:pt x="383" y="141"/>
                    <a:pt x="408" y="115"/>
                    <a:pt x="408" y="100"/>
                  </a:cubicBezTo>
                  <a:cubicBezTo>
                    <a:pt x="408" y="61"/>
                    <a:pt x="373" y="62"/>
                    <a:pt x="377" y="36"/>
                  </a:cubicBezTo>
                  <a:cubicBezTo>
                    <a:pt x="382" y="11"/>
                    <a:pt x="433" y="16"/>
                    <a:pt x="479" y="21"/>
                  </a:cubicBezTo>
                  <a:cubicBezTo>
                    <a:pt x="532" y="27"/>
                    <a:pt x="583" y="31"/>
                    <a:pt x="583" y="31"/>
                  </a:cubicBezTo>
                </a:path>
              </a:pathLst>
            </a:custGeom>
            <a:solidFill>
              <a:srgbClr val="F7B75D"/>
            </a:solidFill>
            <a:ln>
              <a:noFill/>
            </a:ln>
          </p:spPr>
          <p:txBody>
            <a:bodyPr wrap="square" lIns="91440" tIns="45720" rIns="91440" bIns="45720" anchor="ctr">
              <a:normAutofit/>
            </a:bodyPr>
            <a:lstStyle/>
            <a:p>
              <a:pPr algn="ctr"/>
              <a:r>
                <a:rPr lang="en-US">
                  <a:latin typeface="Arial" panose="020B0604020202020204"/>
                  <a:ea typeface="微软雅黑" panose="020B0503020204020204" pitchFamily="34" charset="-122"/>
                  <a:cs typeface="思源黑体 Normal" panose="020B0400000000000000" charset="-122"/>
                  <a:sym typeface="Arial" panose="020B0604020202020204"/>
                </a:rPr>
                <a:t>1</a:t>
              </a:r>
            </a:p>
          </p:txBody>
        </p:sp>
        <p:sp>
          <p:nvSpPr>
            <p:cNvPr id="92" name="图形"/>
            <p:cNvSpPr/>
            <p:nvPr/>
          </p:nvSpPr>
          <p:spPr bwMode="auto">
            <a:xfrm>
              <a:off x="9548" y="2920"/>
              <a:ext cx="2703" cy="3316"/>
            </a:xfrm>
            <a:custGeom>
              <a:avLst/>
              <a:gdLst>
                <a:gd name="T0" fmla="*/ 486 w 506"/>
                <a:gd name="T1" fmla="*/ 107 h 622"/>
                <a:gd name="T2" fmla="*/ 369 w 506"/>
                <a:gd name="T3" fmla="*/ 120 h 622"/>
                <a:gd name="T4" fmla="*/ 282 w 506"/>
                <a:gd name="T5" fmla="*/ 90 h 622"/>
                <a:gd name="T6" fmla="*/ 293 w 506"/>
                <a:gd name="T7" fmla="*/ 38 h 622"/>
                <a:gd name="T8" fmla="*/ 246 w 506"/>
                <a:gd name="T9" fmla="*/ 1 h 622"/>
                <a:gd name="T10" fmla="*/ 202 w 506"/>
                <a:gd name="T11" fmla="*/ 45 h 622"/>
                <a:gd name="T12" fmla="*/ 212 w 506"/>
                <a:gd name="T13" fmla="*/ 102 h 622"/>
                <a:gd name="T14" fmla="*/ 113 w 506"/>
                <a:gd name="T15" fmla="*/ 117 h 622"/>
                <a:gd name="T16" fmla="*/ 13 w 506"/>
                <a:gd name="T17" fmla="*/ 102 h 622"/>
                <a:gd name="T18" fmla="*/ 6 w 506"/>
                <a:gd name="T19" fmla="*/ 198 h 622"/>
                <a:gd name="T20" fmla="*/ 15 w 506"/>
                <a:gd name="T21" fmla="*/ 253 h 622"/>
                <a:gd name="T22" fmla="*/ 44 w 506"/>
                <a:gd name="T23" fmla="*/ 275 h 622"/>
                <a:gd name="T24" fmla="*/ 86 w 506"/>
                <a:gd name="T25" fmla="*/ 253 h 622"/>
                <a:gd name="T26" fmla="*/ 128 w 506"/>
                <a:gd name="T27" fmla="*/ 313 h 622"/>
                <a:gd name="T28" fmla="*/ 87 w 506"/>
                <a:gd name="T29" fmla="*/ 379 h 622"/>
                <a:gd name="T30" fmla="*/ 27 w 506"/>
                <a:gd name="T31" fmla="*/ 354 h 622"/>
                <a:gd name="T32" fmla="*/ 1 w 506"/>
                <a:gd name="T33" fmla="*/ 404 h 622"/>
                <a:gd name="T34" fmla="*/ 5 w 506"/>
                <a:gd name="T35" fmla="*/ 485 h 622"/>
                <a:gd name="T36" fmla="*/ 10 w 506"/>
                <a:gd name="T37" fmla="*/ 520 h 622"/>
                <a:gd name="T38" fmla="*/ 117 w 506"/>
                <a:gd name="T39" fmla="*/ 500 h 622"/>
                <a:gd name="T40" fmla="*/ 213 w 506"/>
                <a:gd name="T41" fmla="*/ 514 h 622"/>
                <a:gd name="T42" fmla="*/ 196 w 506"/>
                <a:gd name="T43" fmla="*/ 583 h 622"/>
                <a:gd name="T44" fmla="*/ 241 w 506"/>
                <a:gd name="T45" fmla="*/ 620 h 622"/>
                <a:gd name="T46" fmla="*/ 292 w 506"/>
                <a:gd name="T47" fmla="*/ 598 h 622"/>
                <a:gd name="T48" fmla="*/ 281 w 506"/>
                <a:gd name="T49" fmla="*/ 517 h 622"/>
                <a:gd name="T50" fmla="*/ 359 w 506"/>
                <a:gd name="T51" fmla="*/ 498 h 622"/>
                <a:gd name="T52" fmla="*/ 481 w 506"/>
                <a:gd name="T53" fmla="*/ 530 h 622"/>
                <a:gd name="T54" fmla="*/ 498 w 506"/>
                <a:gd name="T55" fmla="*/ 441 h 622"/>
                <a:gd name="T56" fmla="*/ 478 w 506"/>
                <a:gd name="T57" fmla="*/ 358 h 622"/>
                <a:gd name="T58" fmla="*/ 426 w 506"/>
                <a:gd name="T59" fmla="*/ 369 h 622"/>
                <a:gd name="T60" fmla="*/ 381 w 506"/>
                <a:gd name="T61" fmla="*/ 312 h 622"/>
                <a:gd name="T62" fmla="*/ 422 w 506"/>
                <a:gd name="T63" fmla="*/ 264 h 622"/>
                <a:gd name="T64" fmla="*/ 483 w 506"/>
                <a:gd name="T65" fmla="*/ 280 h 622"/>
                <a:gd name="T66" fmla="*/ 501 w 506"/>
                <a:gd name="T67" fmla="*/ 197 h 622"/>
                <a:gd name="T68" fmla="*/ 486 w 506"/>
                <a:gd name="T69" fmla="*/ 107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6" h="622">
                  <a:moveTo>
                    <a:pt x="486" y="107"/>
                  </a:moveTo>
                  <a:cubicBezTo>
                    <a:pt x="486" y="107"/>
                    <a:pt x="418" y="119"/>
                    <a:pt x="369" y="120"/>
                  </a:cubicBezTo>
                  <a:cubicBezTo>
                    <a:pt x="320" y="121"/>
                    <a:pt x="281" y="117"/>
                    <a:pt x="282" y="90"/>
                  </a:cubicBezTo>
                  <a:cubicBezTo>
                    <a:pt x="282" y="62"/>
                    <a:pt x="297" y="64"/>
                    <a:pt x="293" y="38"/>
                  </a:cubicBezTo>
                  <a:cubicBezTo>
                    <a:pt x="289" y="11"/>
                    <a:pt x="274" y="0"/>
                    <a:pt x="246" y="1"/>
                  </a:cubicBezTo>
                  <a:cubicBezTo>
                    <a:pt x="218" y="1"/>
                    <a:pt x="202" y="23"/>
                    <a:pt x="202" y="45"/>
                  </a:cubicBezTo>
                  <a:cubicBezTo>
                    <a:pt x="202" y="67"/>
                    <a:pt x="220" y="86"/>
                    <a:pt x="212" y="102"/>
                  </a:cubicBezTo>
                  <a:cubicBezTo>
                    <a:pt x="203" y="118"/>
                    <a:pt x="160" y="122"/>
                    <a:pt x="113" y="117"/>
                  </a:cubicBezTo>
                  <a:cubicBezTo>
                    <a:pt x="68" y="113"/>
                    <a:pt x="13" y="102"/>
                    <a:pt x="13" y="102"/>
                  </a:cubicBezTo>
                  <a:cubicBezTo>
                    <a:pt x="13" y="102"/>
                    <a:pt x="6" y="177"/>
                    <a:pt x="6" y="198"/>
                  </a:cubicBezTo>
                  <a:cubicBezTo>
                    <a:pt x="7" y="220"/>
                    <a:pt x="10" y="244"/>
                    <a:pt x="15" y="253"/>
                  </a:cubicBezTo>
                  <a:cubicBezTo>
                    <a:pt x="19" y="262"/>
                    <a:pt x="27" y="279"/>
                    <a:pt x="44" y="275"/>
                  </a:cubicBezTo>
                  <a:cubicBezTo>
                    <a:pt x="60" y="271"/>
                    <a:pt x="69" y="250"/>
                    <a:pt x="86" y="253"/>
                  </a:cubicBezTo>
                  <a:cubicBezTo>
                    <a:pt x="102" y="256"/>
                    <a:pt x="130" y="279"/>
                    <a:pt x="128" y="313"/>
                  </a:cubicBezTo>
                  <a:cubicBezTo>
                    <a:pt x="125" y="348"/>
                    <a:pt x="111" y="381"/>
                    <a:pt x="87" y="379"/>
                  </a:cubicBezTo>
                  <a:cubicBezTo>
                    <a:pt x="62" y="377"/>
                    <a:pt x="47" y="356"/>
                    <a:pt x="27" y="354"/>
                  </a:cubicBezTo>
                  <a:cubicBezTo>
                    <a:pt x="6" y="352"/>
                    <a:pt x="0" y="386"/>
                    <a:pt x="1" y="404"/>
                  </a:cubicBezTo>
                  <a:cubicBezTo>
                    <a:pt x="2" y="423"/>
                    <a:pt x="2" y="465"/>
                    <a:pt x="5" y="485"/>
                  </a:cubicBezTo>
                  <a:cubicBezTo>
                    <a:pt x="8" y="505"/>
                    <a:pt x="10" y="520"/>
                    <a:pt x="10" y="520"/>
                  </a:cubicBezTo>
                  <a:cubicBezTo>
                    <a:pt x="10" y="520"/>
                    <a:pt x="48" y="508"/>
                    <a:pt x="117" y="500"/>
                  </a:cubicBezTo>
                  <a:cubicBezTo>
                    <a:pt x="169" y="494"/>
                    <a:pt x="211" y="495"/>
                    <a:pt x="213" y="514"/>
                  </a:cubicBezTo>
                  <a:cubicBezTo>
                    <a:pt x="214" y="534"/>
                    <a:pt x="192" y="561"/>
                    <a:pt x="196" y="583"/>
                  </a:cubicBezTo>
                  <a:cubicBezTo>
                    <a:pt x="199" y="606"/>
                    <a:pt x="219" y="617"/>
                    <a:pt x="241" y="620"/>
                  </a:cubicBezTo>
                  <a:cubicBezTo>
                    <a:pt x="254" y="622"/>
                    <a:pt x="279" y="621"/>
                    <a:pt x="292" y="598"/>
                  </a:cubicBezTo>
                  <a:cubicBezTo>
                    <a:pt x="305" y="576"/>
                    <a:pt x="298" y="553"/>
                    <a:pt x="281" y="517"/>
                  </a:cubicBezTo>
                  <a:cubicBezTo>
                    <a:pt x="273" y="501"/>
                    <a:pt x="309" y="490"/>
                    <a:pt x="359" y="498"/>
                  </a:cubicBezTo>
                  <a:cubicBezTo>
                    <a:pt x="379" y="501"/>
                    <a:pt x="481" y="530"/>
                    <a:pt x="481" y="530"/>
                  </a:cubicBezTo>
                  <a:cubicBezTo>
                    <a:pt x="481" y="530"/>
                    <a:pt x="492" y="485"/>
                    <a:pt x="498" y="441"/>
                  </a:cubicBezTo>
                  <a:cubicBezTo>
                    <a:pt x="506" y="385"/>
                    <a:pt x="498" y="356"/>
                    <a:pt x="478" y="358"/>
                  </a:cubicBezTo>
                  <a:cubicBezTo>
                    <a:pt x="467" y="359"/>
                    <a:pt x="449" y="370"/>
                    <a:pt x="426" y="369"/>
                  </a:cubicBezTo>
                  <a:cubicBezTo>
                    <a:pt x="403" y="368"/>
                    <a:pt x="379" y="349"/>
                    <a:pt x="381" y="312"/>
                  </a:cubicBezTo>
                  <a:cubicBezTo>
                    <a:pt x="384" y="283"/>
                    <a:pt x="399" y="263"/>
                    <a:pt x="422" y="264"/>
                  </a:cubicBezTo>
                  <a:cubicBezTo>
                    <a:pt x="444" y="266"/>
                    <a:pt x="468" y="280"/>
                    <a:pt x="483" y="280"/>
                  </a:cubicBezTo>
                  <a:cubicBezTo>
                    <a:pt x="493" y="281"/>
                    <a:pt x="501" y="218"/>
                    <a:pt x="501" y="197"/>
                  </a:cubicBezTo>
                  <a:cubicBezTo>
                    <a:pt x="502" y="155"/>
                    <a:pt x="486" y="107"/>
                    <a:pt x="486" y="107"/>
                  </a:cubicBezTo>
                </a:path>
              </a:pathLst>
            </a:custGeom>
            <a:solidFill>
              <a:srgbClr val="566CD3"/>
            </a:solidFill>
            <a:ln>
              <a:noFill/>
            </a:ln>
          </p:spPr>
          <p:txBody>
            <a:bodyPr wrap="square" lIns="91440" tIns="45720" rIns="91440" bIns="45720" anchor="ctr">
              <a:normAutofit/>
            </a:bodyPr>
            <a:lstStyle/>
            <a:p>
              <a:pPr algn="ctr"/>
              <a:endParaRPr>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93" name="图形"/>
            <p:cNvSpPr>
              <a:spLocks noChangeAspect="1"/>
            </p:cNvSpPr>
            <p:nvPr/>
          </p:nvSpPr>
          <p:spPr bwMode="auto">
            <a:xfrm>
              <a:off x="8027" y="4348"/>
              <a:ext cx="567" cy="508"/>
            </a:xfrm>
            <a:custGeom>
              <a:avLst/>
              <a:gdLst>
                <a:gd name="connsiteX0" fmla="*/ 187163 w 607639"/>
                <a:gd name="connsiteY0" fmla="*/ 266102 h 544483"/>
                <a:gd name="connsiteX1" fmla="*/ 211979 w 607639"/>
                <a:gd name="connsiteY1" fmla="*/ 352827 h 544483"/>
                <a:gd name="connsiteX2" fmla="*/ 161101 w 607639"/>
                <a:gd name="connsiteY2" fmla="*/ 352827 h 544483"/>
                <a:gd name="connsiteX3" fmla="*/ 152027 w 607639"/>
                <a:gd name="connsiteY3" fmla="*/ 178959 h 544483"/>
                <a:gd name="connsiteX4" fmla="*/ 54562 w 607639"/>
                <a:gd name="connsiteY4" fmla="*/ 458812 h 544483"/>
                <a:gd name="connsiteX5" fmla="*/ 133068 w 607639"/>
                <a:gd name="connsiteY5" fmla="*/ 458812 h 544483"/>
                <a:gd name="connsiteX6" fmla="*/ 149624 w 607639"/>
                <a:gd name="connsiteY6" fmla="*/ 403979 h 544483"/>
                <a:gd name="connsiteX7" fmla="*/ 224302 w 607639"/>
                <a:gd name="connsiteY7" fmla="*/ 403979 h 544483"/>
                <a:gd name="connsiteX8" fmla="*/ 241214 w 607639"/>
                <a:gd name="connsiteY8" fmla="*/ 458812 h 544483"/>
                <a:gd name="connsiteX9" fmla="*/ 319364 w 607639"/>
                <a:gd name="connsiteY9" fmla="*/ 458812 h 544483"/>
                <a:gd name="connsiteX10" fmla="*/ 222255 w 607639"/>
                <a:gd name="connsiteY10" fmla="*/ 178959 h 544483"/>
                <a:gd name="connsiteX11" fmla="*/ 420819 w 607639"/>
                <a:gd name="connsiteY11" fmla="*/ 172744 h 544483"/>
                <a:gd name="connsiteX12" fmla="*/ 445762 w 607639"/>
                <a:gd name="connsiteY12" fmla="*/ 259469 h 544483"/>
                <a:gd name="connsiteX13" fmla="*/ 420641 w 607639"/>
                <a:gd name="connsiteY13" fmla="*/ 259469 h 544483"/>
                <a:gd name="connsiteX14" fmla="*/ 420641 w 607639"/>
                <a:gd name="connsiteY14" fmla="*/ 173366 h 544483"/>
                <a:gd name="connsiteX15" fmla="*/ 0 w 607639"/>
                <a:gd name="connsiteY15" fmla="*/ 93288 h 544483"/>
                <a:gd name="connsiteX16" fmla="*/ 373926 w 607639"/>
                <a:gd name="connsiteY16" fmla="*/ 93288 h 544483"/>
                <a:gd name="connsiteX17" fmla="*/ 373926 w 607639"/>
                <a:gd name="connsiteY17" fmla="*/ 544483 h 544483"/>
                <a:gd name="connsiteX18" fmla="*/ 0 w 607639"/>
                <a:gd name="connsiteY18" fmla="*/ 544483 h 544483"/>
                <a:gd name="connsiteX19" fmla="*/ 233713 w 607639"/>
                <a:gd name="connsiteY19" fmla="*/ 0 h 544483"/>
                <a:gd name="connsiteX20" fmla="*/ 607639 w 607639"/>
                <a:gd name="connsiteY20" fmla="*/ 0 h 544483"/>
                <a:gd name="connsiteX21" fmla="*/ 607639 w 607639"/>
                <a:gd name="connsiteY21" fmla="*/ 451125 h 544483"/>
                <a:gd name="connsiteX22" fmla="*/ 420632 w 607639"/>
                <a:gd name="connsiteY22" fmla="*/ 451125 h 544483"/>
                <a:gd name="connsiteX23" fmla="*/ 420632 w 607639"/>
                <a:gd name="connsiteY23" fmla="*/ 310704 h 544483"/>
                <a:gd name="connsiteX24" fmla="*/ 457926 w 607639"/>
                <a:gd name="connsiteY24" fmla="*/ 310704 h 544483"/>
                <a:gd name="connsiteX25" fmla="*/ 474927 w 607639"/>
                <a:gd name="connsiteY25" fmla="*/ 365539 h 544483"/>
                <a:gd name="connsiteX26" fmla="*/ 553077 w 607639"/>
                <a:gd name="connsiteY26" fmla="*/ 365539 h 544483"/>
                <a:gd name="connsiteX27" fmla="*/ 455968 w 607639"/>
                <a:gd name="connsiteY27" fmla="*/ 85675 h 544483"/>
                <a:gd name="connsiteX28" fmla="*/ 420632 w 607639"/>
                <a:gd name="connsiteY28" fmla="*/ 85675 h 544483"/>
                <a:gd name="connsiteX29" fmla="*/ 420632 w 607639"/>
                <a:gd name="connsiteY29" fmla="*/ 46659 h 544483"/>
                <a:gd name="connsiteX30" fmla="*/ 233713 w 607639"/>
                <a:gd name="connsiteY30" fmla="*/ 46659 h 54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7639" h="544483">
                  <a:moveTo>
                    <a:pt x="187163" y="266102"/>
                  </a:moveTo>
                  <a:lnTo>
                    <a:pt x="211979" y="352827"/>
                  </a:lnTo>
                  <a:lnTo>
                    <a:pt x="161101" y="352827"/>
                  </a:lnTo>
                  <a:close/>
                  <a:moveTo>
                    <a:pt x="152027" y="178959"/>
                  </a:moveTo>
                  <a:lnTo>
                    <a:pt x="54562" y="458812"/>
                  </a:lnTo>
                  <a:lnTo>
                    <a:pt x="133068" y="458812"/>
                  </a:lnTo>
                  <a:lnTo>
                    <a:pt x="149624" y="403979"/>
                  </a:lnTo>
                  <a:lnTo>
                    <a:pt x="224302" y="403979"/>
                  </a:lnTo>
                  <a:lnTo>
                    <a:pt x="241214" y="458812"/>
                  </a:lnTo>
                  <a:lnTo>
                    <a:pt x="319364" y="458812"/>
                  </a:lnTo>
                  <a:lnTo>
                    <a:pt x="222255" y="178959"/>
                  </a:lnTo>
                  <a:close/>
                  <a:moveTo>
                    <a:pt x="420819" y="172744"/>
                  </a:moveTo>
                  <a:lnTo>
                    <a:pt x="445762" y="259469"/>
                  </a:lnTo>
                  <a:lnTo>
                    <a:pt x="420641" y="259469"/>
                  </a:lnTo>
                  <a:lnTo>
                    <a:pt x="420641" y="173366"/>
                  </a:lnTo>
                  <a:close/>
                  <a:moveTo>
                    <a:pt x="0" y="93288"/>
                  </a:moveTo>
                  <a:lnTo>
                    <a:pt x="373926" y="93288"/>
                  </a:lnTo>
                  <a:lnTo>
                    <a:pt x="373926" y="544483"/>
                  </a:lnTo>
                  <a:lnTo>
                    <a:pt x="0" y="544483"/>
                  </a:lnTo>
                  <a:close/>
                  <a:moveTo>
                    <a:pt x="233713" y="0"/>
                  </a:moveTo>
                  <a:lnTo>
                    <a:pt x="607639" y="0"/>
                  </a:lnTo>
                  <a:lnTo>
                    <a:pt x="607639" y="451125"/>
                  </a:lnTo>
                  <a:lnTo>
                    <a:pt x="420632" y="451125"/>
                  </a:lnTo>
                  <a:lnTo>
                    <a:pt x="420632" y="310704"/>
                  </a:lnTo>
                  <a:lnTo>
                    <a:pt x="457926" y="310704"/>
                  </a:lnTo>
                  <a:lnTo>
                    <a:pt x="474927" y="365539"/>
                  </a:lnTo>
                  <a:lnTo>
                    <a:pt x="553077" y="365539"/>
                  </a:lnTo>
                  <a:lnTo>
                    <a:pt x="455968" y="85675"/>
                  </a:lnTo>
                  <a:lnTo>
                    <a:pt x="420632" y="85675"/>
                  </a:lnTo>
                  <a:lnTo>
                    <a:pt x="420632" y="46659"/>
                  </a:lnTo>
                  <a:lnTo>
                    <a:pt x="233713" y="46659"/>
                  </a:lnTo>
                  <a:close/>
                </a:path>
              </a:pathLst>
            </a:custGeom>
            <a:solidFill>
              <a:schemeClr val="bg1"/>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94" name="图形"/>
            <p:cNvSpPr>
              <a:spLocks noChangeAspect="1"/>
            </p:cNvSpPr>
            <p:nvPr/>
          </p:nvSpPr>
          <p:spPr bwMode="auto">
            <a:xfrm>
              <a:off x="10558" y="4383"/>
              <a:ext cx="567" cy="499"/>
            </a:xfrm>
            <a:custGeom>
              <a:avLst/>
              <a:gdLst>
                <a:gd name="connsiteX0" fmla="*/ 351345 w 606227"/>
                <a:gd name="connsiteY0" fmla="*/ 426074 h 533192"/>
                <a:gd name="connsiteX1" fmla="*/ 407490 w 606227"/>
                <a:gd name="connsiteY1" fmla="*/ 426074 h 533192"/>
                <a:gd name="connsiteX2" fmla="*/ 446467 w 606227"/>
                <a:gd name="connsiteY2" fmla="*/ 533192 h 533192"/>
                <a:gd name="connsiteX3" fmla="*/ 390229 w 606227"/>
                <a:gd name="connsiteY3" fmla="*/ 533192 h 533192"/>
                <a:gd name="connsiteX4" fmla="*/ 198757 w 606227"/>
                <a:gd name="connsiteY4" fmla="*/ 426074 h 533192"/>
                <a:gd name="connsiteX5" fmla="*/ 255023 w 606227"/>
                <a:gd name="connsiteY5" fmla="*/ 426074 h 533192"/>
                <a:gd name="connsiteX6" fmla="*/ 216119 w 606227"/>
                <a:gd name="connsiteY6" fmla="*/ 533192 h 533192"/>
                <a:gd name="connsiteX7" fmla="*/ 159760 w 606227"/>
                <a:gd name="connsiteY7" fmla="*/ 533192 h 533192"/>
                <a:gd name="connsiteX8" fmla="*/ 304170 w 606227"/>
                <a:gd name="connsiteY8" fmla="*/ 146113 h 533192"/>
                <a:gd name="connsiteX9" fmla="*/ 292193 w 606227"/>
                <a:gd name="connsiteY9" fmla="*/ 158070 h 533192"/>
                <a:gd name="connsiteX10" fmla="*/ 292193 w 606227"/>
                <a:gd name="connsiteY10" fmla="*/ 298304 h 533192"/>
                <a:gd name="connsiteX11" fmla="*/ 248833 w 606227"/>
                <a:gd name="connsiteY11" fmla="*/ 298304 h 533192"/>
                <a:gd name="connsiteX12" fmla="*/ 248833 w 606227"/>
                <a:gd name="connsiteY12" fmla="*/ 220448 h 533192"/>
                <a:gd name="connsiteX13" fmla="*/ 236856 w 606227"/>
                <a:gd name="connsiteY13" fmla="*/ 208491 h 533192"/>
                <a:gd name="connsiteX14" fmla="*/ 224786 w 606227"/>
                <a:gd name="connsiteY14" fmla="*/ 220448 h 533192"/>
                <a:gd name="connsiteX15" fmla="*/ 224786 w 606227"/>
                <a:gd name="connsiteY15" fmla="*/ 297841 h 533192"/>
                <a:gd name="connsiteX16" fmla="*/ 190153 w 606227"/>
                <a:gd name="connsiteY16" fmla="*/ 297841 h 533192"/>
                <a:gd name="connsiteX17" fmla="*/ 178176 w 606227"/>
                <a:gd name="connsiteY17" fmla="*/ 309797 h 533192"/>
                <a:gd name="connsiteX18" fmla="*/ 190153 w 606227"/>
                <a:gd name="connsiteY18" fmla="*/ 321846 h 533192"/>
                <a:gd name="connsiteX19" fmla="*/ 418187 w 606227"/>
                <a:gd name="connsiteY19" fmla="*/ 321846 h 533192"/>
                <a:gd name="connsiteX20" fmla="*/ 430165 w 606227"/>
                <a:gd name="connsiteY20" fmla="*/ 309797 h 533192"/>
                <a:gd name="connsiteX21" fmla="*/ 418187 w 606227"/>
                <a:gd name="connsiteY21" fmla="*/ 297841 h 533192"/>
                <a:gd name="connsiteX22" fmla="*/ 383555 w 606227"/>
                <a:gd name="connsiteY22" fmla="*/ 297841 h 533192"/>
                <a:gd name="connsiteX23" fmla="*/ 383555 w 606227"/>
                <a:gd name="connsiteY23" fmla="*/ 186339 h 533192"/>
                <a:gd name="connsiteX24" fmla="*/ 371485 w 606227"/>
                <a:gd name="connsiteY24" fmla="*/ 174382 h 533192"/>
                <a:gd name="connsiteX25" fmla="*/ 359508 w 606227"/>
                <a:gd name="connsiteY25" fmla="*/ 186339 h 533192"/>
                <a:gd name="connsiteX26" fmla="*/ 359508 w 606227"/>
                <a:gd name="connsiteY26" fmla="*/ 297841 h 533192"/>
                <a:gd name="connsiteX27" fmla="*/ 316148 w 606227"/>
                <a:gd name="connsiteY27" fmla="*/ 297841 h 533192"/>
                <a:gd name="connsiteX28" fmla="*/ 316148 w 606227"/>
                <a:gd name="connsiteY28" fmla="*/ 158070 h 533192"/>
                <a:gd name="connsiteX29" fmla="*/ 304170 w 606227"/>
                <a:gd name="connsiteY29" fmla="*/ 146113 h 533192"/>
                <a:gd name="connsiteX30" fmla="*/ 47632 w 606227"/>
                <a:gd name="connsiteY30" fmla="*/ 64920 h 533192"/>
                <a:gd name="connsiteX31" fmla="*/ 558666 w 606227"/>
                <a:gd name="connsiteY31" fmla="*/ 64920 h 533192"/>
                <a:gd name="connsiteX32" fmla="*/ 558666 w 606227"/>
                <a:gd name="connsiteY32" fmla="*/ 335749 h 533192"/>
                <a:gd name="connsiteX33" fmla="*/ 498036 w 606227"/>
                <a:gd name="connsiteY33" fmla="*/ 396366 h 533192"/>
                <a:gd name="connsiteX34" fmla="*/ 108354 w 606227"/>
                <a:gd name="connsiteY34" fmla="*/ 396366 h 533192"/>
                <a:gd name="connsiteX35" fmla="*/ 47632 w 606227"/>
                <a:gd name="connsiteY35" fmla="*/ 335749 h 533192"/>
                <a:gd name="connsiteX36" fmla="*/ 0 w 606227"/>
                <a:gd name="connsiteY36" fmla="*/ 0 h 533192"/>
                <a:gd name="connsiteX37" fmla="*/ 606227 w 606227"/>
                <a:gd name="connsiteY37" fmla="*/ 0 h 533192"/>
                <a:gd name="connsiteX38" fmla="*/ 606227 w 606227"/>
                <a:gd name="connsiteY38" fmla="*/ 35565 h 533192"/>
                <a:gd name="connsiteX39" fmla="*/ 0 w 606227"/>
                <a:gd name="connsiteY39" fmla="*/ 35565 h 53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227" h="533192">
                  <a:moveTo>
                    <a:pt x="351345" y="426074"/>
                  </a:moveTo>
                  <a:lnTo>
                    <a:pt x="407490" y="426074"/>
                  </a:lnTo>
                  <a:lnTo>
                    <a:pt x="446467" y="533192"/>
                  </a:lnTo>
                  <a:lnTo>
                    <a:pt x="390229" y="533192"/>
                  </a:lnTo>
                  <a:close/>
                  <a:moveTo>
                    <a:pt x="198757" y="426074"/>
                  </a:moveTo>
                  <a:lnTo>
                    <a:pt x="255023" y="426074"/>
                  </a:lnTo>
                  <a:lnTo>
                    <a:pt x="216119" y="533192"/>
                  </a:lnTo>
                  <a:lnTo>
                    <a:pt x="159760" y="533192"/>
                  </a:lnTo>
                  <a:close/>
                  <a:moveTo>
                    <a:pt x="304170" y="146113"/>
                  </a:moveTo>
                  <a:cubicBezTo>
                    <a:pt x="297485" y="146113"/>
                    <a:pt x="292193" y="151396"/>
                    <a:pt x="292193" y="158070"/>
                  </a:cubicBezTo>
                  <a:lnTo>
                    <a:pt x="292193" y="298304"/>
                  </a:lnTo>
                  <a:lnTo>
                    <a:pt x="248833" y="298304"/>
                  </a:lnTo>
                  <a:lnTo>
                    <a:pt x="248833" y="220448"/>
                  </a:lnTo>
                  <a:cubicBezTo>
                    <a:pt x="248833" y="213774"/>
                    <a:pt x="243541" y="208491"/>
                    <a:pt x="236856" y="208491"/>
                  </a:cubicBezTo>
                  <a:cubicBezTo>
                    <a:pt x="230171" y="208491"/>
                    <a:pt x="224786" y="213774"/>
                    <a:pt x="224786" y="220448"/>
                  </a:cubicBezTo>
                  <a:lnTo>
                    <a:pt x="224786" y="297841"/>
                  </a:lnTo>
                  <a:lnTo>
                    <a:pt x="190153" y="297841"/>
                  </a:lnTo>
                  <a:cubicBezTo>
                    <a:pt x="183375" y="297841"/>
                    <a:pt x="177990" y="303031"/>
                    <a:pt x="178176" y="309797"/>
                  </a:cubicBezTo>
                  <a:cubicBezTo>
                    <a:pt x="178176" y="316470"/>
                    <a:pt x="183468" y="321846"/>
                    <a:pt x="190153" y="321846"/>
                  </a:cubicBezTo>
                  <a:lnTo>
                    <a:pt x="418187" y="321846"/>
                  </a:lnTo>
                  <a:cubicBezTo>
                    <a:pt x="424872" y="321846"/>
                    <a:pt x="430165" y="316470"/>
                    <a:pt x="430165" y="309797"/>
                  </a:cubicBezTo>
                  <a:cubicBezTo>
                    <a:pt x="430165" y="303124"/>
                    <a:pt x="424872" y="297841"/>
                    <a:pt x="418187" y="297841"/>
                  </a:cubicBezTo>
                  <a:lnTo>
                    <a:pt x="383555" y="297841"/>
                  </a:lnTo>
                  <a:lnTo>
                    <a:pt x="383555" y="186339"/>
                  </a:lnTo>
                  <a:cubicBezTo>
                    <a:pt x="383555" y="179666"/>
                    <a:pt x="378170" y="174382"/>
                    <a:pt x="371485" y="174382"/>
                  </a:cubicBezTo>
                  <a:cubicBezTo>
                    <a:pt x="364800" y="174382"/>
                    <a:pt x="359508" y="179666"/>
                    <a:pt x="359508" y="186339"/>
                  </a:cubicBezTo>
                  <a:lnTo>
                    <a:pt x="359508" y="297841"/>
                  </a:lnTo>
                  <a:lnTo>
                    <a:pt x="316148" y="297841"/>
                  </a:lnTo>
                  <a:lnTo>
                    <a:pt x="316148" y="158070"/>
                  </a:lnTo>
                  <a:cubicBezTo>
                    <a:pt x="316148" y="151396"/>
                    <a:pt x="310855" y="146113"/>
                    <a:pt x="304170" y="146113"/>
                  </a:cubicBezTo>
                  <a:close/>
                  <a:moveTo>
                    <a:pt x="47632" y="64920"/>
                  </a:moveTo>
                  <a:lnTo>
                    <a:pt x="558666" y="64920"/>
                  </a:lnTo>
                  <a:lnTo>
                    <a:pt x="558666" y="335749"/>
                  </a:lnTo>
                  <a:cubicBezTo>
                    <a:pt x="558666" y="369394"/>
                    <a:pt x="531740" y="396366"/>
                    <a:pt x="498036" y="396366"/>
                  </a:cubicBezTo>
                  <a:lnTo>
                    <a:pt x="108354" y="396366"/>
                  </a:lnTo>
                  <a:cubicBezTo>
                    <a:pt x="74651" y="396366"/>
                    <a:pt x="47632" y="369394"/>
                    <a:pt x="47632" y="335749"/>
                  </a:cubicBezTo>
                  <a:close/>
                  <a:moveTo>
                    <a:pt x="0" y="0"/>
                  </a:moveTo>
                  <a:lnTo>
                    <a:pt x="606227" y="0"/>
                  </a:lnTo>
                  <a:lnTo>
                    <a:pt x="606227" y="35565"/>
                  </a:lnTo>
                  <a:lnTo>
                    <a:pt x="0" y="35565"/>
                  </a:lnTo>
                  <a:close/>
                </a:path>
              </a:pathLst>
            </a:custGeom>
            <a:solidFill>
              <a:schemeClr val="bg1"/>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95" name="图形"/>
            <p:cNvSpPr>
              <a:spLocks noChangeAspect="1"/>
            </p:cNvSpPr>
            <p:nvPr/>
          </p:nvSpPr>
          <p:spPr bwMode="auto">
            <a:xfrm>
              <a:off x="8027" y="6504"/>
              <a:ext cx="567" cy="528"/>
            </a:xfrm>
            <a:custGeom>
              <a:avLst/>
              <a:gdLst>
                <a:gd name="connsiteX0" fmla="*/ 261052 w 607639"/>
                <a:gd name="connsiteY0" fmla="*/ 444915 h 566217"/>
                <a:gd name="connsiteX1" fmla="*/ 245922 w 607639"/>
                <a:gd name="connsiteY1" fmla="*/ 505522 h 566217"/>
                <a:gd name="connsiteX2" fmla="*/ 361717 w 607639"/>
                <a:gd name="connsiteY2" fmla="*/ 505522 h 566217"/>
                <a:gd name="connsiteX3" fmla="*/ 346498 w 607639"/>
                <a:gd name="connsiteY3" fmla="*/ 444915 h 566217"/>
                <a:gd name="connsiteX4" fmla="*/ 0 w 607639"/>
                <a:gd name="connsiteY4" fmla="*/ 364047 h 566217"/>
                <a:gd name="connsiteX5" fmla="*/ 607639 w 607639"/>
                <a:gd name="connsiteY5" fmla="*/ 364047 h 566217"/>
                <a:gd name="connsiteX6" fmla="*/ 607639 w 607639"/>
                <a:gd name="connsiteY6" fmla="*/ 399416 h 566217"/>
                <a:gd name="connsiteX7" fmla="*/ 562068 w 607639"/>
                <a:gd name="connsiteY7" fmla="*/ 444915 h 566217"/>
                <a:gd name="connsiteX8" fmla="*/ 367414 w 607639"/>
                <a:gd name="connsiteY8" fmla="*/ 444915 h 566217"/>
                <a:gd name="connsiteX9" fmla="*/ 382634 w 607639"/>
                <a:gd name="connsiteY9" fmla="*/ 505522 h 566217"/>
                <a:gd name="connsiteX10" fmla="*/ 384859 w 607639"/>
                <a:gd name="connsiteY10" fmla="*/ 505522 h 566217"/>
                <a:gd name="connsiteX11" fmla="*/ 435414 w 607639"/>
                <a:gd name="connsiteY11" fmla="*/ 556086 h 566217"/>
                <a:gd name="connsiteX12" fmla="*/ 425356 w 607639"/>
                <a:gd name="connsiteY12" fmla="*/ 566217 h 566217"/>
                <a:gd name="connsiteX13" fmla="*/ 182283 w 607639"/>
                <a:gd name="connsiteY13" fmla="*/ 566217 h 566217"/>
                <a:gd name="connsiteX14" fmla="*/ 172136 w 607639"/>
                <a:gd name="connsiteY14" fmla="*/ 556086 h 566217"/>
                <a:gd name="connsiteX15" fmla="*/ 222780 w 607639"/>
                <a:gd name="connsiteY15" fmla="*/ 505522 h 566217"/>
                <a:gd name="connsiteX16" fmla="*/ 225005 w 607639"/>
                <a:gd name="connsiteY16" fmla="*/ 505522 h 566217"/>
                <a:gd name="connsiteX17" fmla="*/ 240225 w 607639"/>
                <a:gd name="connsiteY17" fmla="*/ 444915 h 566217"/>
                <a:gd name="connsiteX18" fmla="*/ 45571 w 607639"/>
                <a:gd name="connsiteY18" fmla="*/ 444915 h 566217"/>
                <a:gd name="connsiteX19" fmla="*/ 0 w 607639"/>
                <a:gd name="connsiteY19" fmla="*/ 399416 h 566217"/>
                <a:gd name="connsiteX20" fmla="*/ 101288 w 607639"/>
                <a:gd name="connsiteY20" fmla="*/ 283089 h 566217"/>
                <a:gd name="connsiteX21" fmla="*/ 91141 w 607639"/>
                <a:gd name="connsiteY21" fmla="*/ 293221 h 566217"/>
                <a:gd name="connsiteX22" fmla="*/ 101288 w 607639"/>
                <a:gd name="connsiteY22" fmla="*/ 303354 h 566217"/>
                <a:gd name="connsiteX23" fmla="*/ 141785 w 607639"/>
                <a:gd name="connsiteY23" fmla="*/ 303354 h 566217"/>
                <a:gd name="connsiteX24" fmla="*/ 151932 w 607639"/>
                <a:gd name="connsiteY24" fmla="*/ 293221 h 566217"/>
                <a:gd name="connsiteX25" fmla="*/ 141785 w 607639"/>
                <a:gd name="connsiteY25" fmla="*/ 283089 h 566217"/>
                <a:gd name="connsiteX26" fmla="*/ 101288 w 607639"/>
                <a:gd name="connsiteY26" fmla="*/ 242647 h 566217"/>
                <a:gd name="connsiteX27" fmla="*/ 91141 w 607639"/>
                <a:gd name="connsiteY27" fmla="*/ 252780 h 566217"/>
                <a:gd name="connsiteX28" fmla="*/ 101288 w 607639"/>
                <a:gd name="connsiteY28" fmla="*/ 262912 h 566217"/>
                <a:gd name="connsiteX29" fmla="*/ 121492 w 607639"/>
                <a:gd name="connsiteY29" fmla="*/ 262912 h 566217"/>
                <a:gd name="connsiteX30" fmla="*/ 131639 w 607639"/>
                <a:gd name="connsiteY30" fmla="*/ 252780 h 566217"/>
                <a:gd name="connsiteX31" fmla="*/ 121492 w 607639"/>
                <a:gd name="connsiteY31" fmla="*/ 242647 h 566217"/>
                <a:gd name="connsiteX32" fmla="*/ 101288 w 607639"/>
                <a:gd name="connsiteY32" fmla="*/ 202206 h 566217"/>
                <a:gd name="connsiteX33" fmla="*/ 91141 w 607639"/>
                <a:gd name="connsiteY33" fmla="*/ 212339 h 566217"/>
                <a:gd name="connsiteX34" fmla="*/ 101288 w 607639"/>
                <a:gd name="connsiteY34" fmla="*/ 222471 h 566217"/>
                <a:gd name="connsiteX35" fmla="*/ 141785 w 607639"/>
                <a:gd name="connsiteY35" fmla="*/ 222471 h 566217"/>
                <a:gd name="connsiteX36" fmla="*/ 151932 w 607639"/>
                <a:gd name="connsiteY36" fmla="*/ 212339 h 566217"/>
                <a:gd name="connsiteX37" fmla="*/ 141785 w 607639"/>
                <a:gd name="connsiteY37" fmla="*/ 202206 h 566217"/>
                <a:gd name="connsiteX38" fmla="*/ 101288 w 607639"/>
                <a:gd name="connsiteY38" fmla="*/ 161765 h 566217"/>
                <a:gd name="connsiteX39" fmla="*/ 91141 w 607639"/>
                <a:gd name="connsiteY39" fmla="*/ 171897 h 566217"/>
                <a:gd name="connsiteX40" fmla="*/ 101288 w 607639"/>
                <a:gd name="connsiteY40" fmla="*/ 182030 h 566217"/>
                <a:gd name="connsiteX41" fmla="*/ 121492 w 607639"/>
                <a:gd name="connsiteY41" fmla="*/ 182030 h 566217"/>
                <a:gd name="connsiteX42" fmla="*/ 131639 w 607639"/>
                <a:gd name="connsiteY42" fmla="*/ 171897 h 566217"/>
                <a:gd name="connsiteX43" fmla="*/ 121492 w 607639"/>
                <a:gd name="connsiteY43" fmla="*/ 161765 h 566217"/>
                <a:gd name="connsiteX44" fmla="*/ 101288 w 607639"/>
                <a:gd name="connsiteY44" fmla="*/ 121324 h 566217"/>
                <a:gd name="connsiteX45" fmla="*/ 91141 w 607639"/>
                <a:gd name="connsiteY45" fmla="*/ 131456 h 566217"/>
                <a:gd name="connsiteX46" fmla="*/ 101288 w 607639"/>
                <a:gd name="connsiteY46" fmla="*/ 141500 h 566217"/>
                <a:gd name="connsiteX47" fmla="*/ 141785 w 607639"/>
                <a:gd name="connsiteY47" fmla="*/ 141500 h 566217"/>
                <a:gd name="connsiteX48" fmla="*/ 151932 w 607639"/>
                <a:gd name="connsiteY48" fmla="*/ 131456 h 566217"/>
                <a:gd name="connsiteX49" fmla="*/ 141785 w 607639"/>
                <a:gd name="connsiteY49" fmla="*/ 121324 h 566217"/>
                <a:gd name="connsiteX50" fmla="*/ 476000 w 607639"/>
                <a:gd name="connsiteY50" fmla="*/ 101059 h 566217"/>
                <a:gd name="connsiteX51" fmla="*/ 465854 w 607639"/>
                <a:gd name="connsiteY51" fmla="*/ 111191 h 566217"/>
                <a:gd name="connsiteX52" fmla="*/ 476000 w 607639"/>
                <a:gd name="connsiteY52" fmla="*/ 121324 h 566217"/>
                <a:gd name="connsiteX53" fmla="*/ 522372 w 607639"/>
                <a:gd name="connsiteY53" fmla="*/ 121324 h 566217"/>
                <a:gd name="connsiteX54" fmla="*/ 401058 w 607639"/>
                <a:gd name="connsiteY54" fmla="*/ 242559 h 566217"/>
                <a:gd name="connsiteX55" fmla="*/ 317037 w 607639"/>
                <a:gd name="connsiteY55" fmla="*/ 158654 h 566217"/>
                <a:gd name="connsiteX56" fmla="*/ 316859 w 607639"/>
                <a:gd name="connsiteY56" fmla="*/ 158565 h 566217"/>
                <a:gd name="connsiteX57" fmla="*/ 316770 w 607639"/>
                <a:gd name="connsiteY57" fmla="*/ 158387 h 566217"/>
                <a:gd name="connsiteX58" fmla="*/ 315168 w 607639"/>
                <a:gd name="connsiteY58" fmla="*/ 157410 h 566217"/>
                <a:gd name="connsiteX59" fmla="*/ 313477 w 607639"/>
                <a:gd name="connsiteY59" fmla="*/ 156432 h 566217"/>
                <a:gd name="connsiteX60" fmla="*/ 311607 w 607639"/>
                <a:gd name="connsiteY60" fmla="*/ 155988 h 566217"/>
                <a:gd name="connsiteX61" fmla="*/ 309649 w 607639"/>
                <a:gd name="connsiteY61" fmla="*/ 155721 h 566217"/>
                <a:gd name="connsiteX62" fmla="*/ 307869 w 607639"/>
                <a:gd name="connsiteY62" fmla="*/ 156076 h 566217"/>
                <a:gd name="connsiteX63" fmla="*/ 305911 w 607639"/>
                <a:gd name="connsiteY63" fmla="*/ 156521 h 566217"/>
                <a:gd name="connsiteX64" fmla="*/ 304220 w 607639"/>
                <a:gd name="connsiteY64" fmla="*/ 157676 h 566217"/>
                <a:gd name="connsiteX65" fmla="*/ 302707 w 607639"/>
                <a:gd name="connsiteY65" fmla="*/ 158654 h 566217"/>
                <a:gd name="connsiteX66" fmla="*/ 302618 w 607639"/>
                <a:gd name="connsiteY66" fmla="*/ 158832 h 566217"/>
                <a:gd name="connsiteX67" fmla="*/ 302440 w 607639"/>
                <a:gd name="connsiteY67" fmla="*/ 158921 h 566217"/>
                <a:gd name="connsiteX68" fmla="*/ 184953 w 607639"/>
                <a:gd name="connsiteY68" fmla="*/ 286377 h 566217"/>
                <a:gd name="connsiteX69" fmla="*/ 185576 w 607639"/>
                <a:gd name="connsiteY69" fmla="*/ 300687 h 566217"/>
                <a:gd name="connsiteX70" fmla="*/ 192429 w 607639"/>
                <a:gd name="connsiteY70" fmla="*/ 303354 h 566217"/>
                <a:gd name="connsiteX71" fmla="*/ 199906 w 607639"/>
                <a:gd name="connsiteY71" fmla="*/ 300065 h 566217"/>
                <a:gd name="connsiteX72" fmla="*/ 310183 w 607639"/>
                <a:gd name="connsiteY72" fmla="*/ 180430 h 566217"/>
                <a:gd name="connsiteX73" fmla="*/ 393848 w 607639"/>
                <a:gd name="connsiteY73" fmla="*/ 263979 h 566217"/>
                <a:gd name="connsiteX74" fmla="*/ 401058 w 607639"/>
                <a:gd name="connsiteY74" fmla="*/ 266912 h 566217"/>
                <a:gd name="connsiteX75" fmla="*/ 408178 w 607639"/>
                <a:gd name="connsiteY75" fmla="*/ 263979 h 566217"/>
                <a:gd name="connsiteX76" fmla="*/ 536702 w 607639"/>
                <a:gd name="connsiteY76" fmla="*/ 135634 h 566217"/>
                <a:gd name="connsiteX77" fmla="*/ 536702 w 607639"/>
                <a:gd name="connsiteY77" fmla="*/ 182030 h 566217"/>
                <a:gd name="connsiteX78" fmla="*/ 546848 w 607639"/>
                <a:gd name="connsiteY78" fmla="*/ 192074 h 566217"/>
                <a:gd name="connsiteX79" fmla="*/ 556995 w 607639"/>
                <a:gd name="connsiteY79" fmla="*/ 182030 h 566217"/>
                <a:gd name="connsiteX80" fmla="*/ 556995 w 607639"/>
                <a:gd name="connsiteY80" fmla="*/ 111191 h 566217"/>
                <a:gd name="connsiteX81" fmla="*/ 556194 w 607639"/>
                <a:gd name="connsiteY81" fmla="*/ 107369 h 566217"/>
                <a:gd name="connsiteX82" fmla="*/ 550676 w 607639"/>
                <a:gd name="connsiteY82" fmla="*/ 101859 h 566217"/>
                <a:gd name="connsiteX83" fmla="*/ 546848 w 607639"/>
                <a:gd name="connsiteY83" fmla="*/ 101059 h 566217"/>
                <a:gd name="connsiteX84" fmla="*/ 101288 w 607639"/>
                <a:gd name="connsiteY84" fmla="*/ 80882 h 566217"/>
                <a:gd name="connsiteX85" fmla="*/ 91141 w 607639"/>
                <a:gd name="connsiteY85" fmla="*/ 91015 h 566217"/>
                <a:gd name="connsiteX86" fmla="*/ 101288 w 607639"/>
                <a:gd name="connsiteY86" fmla="*/ 101059 h 566217"/>
                <a:gd name="connsiteX87" fmla="*/ 121492 w 607639"/>
                <a:gd name="connsiteY87" fmla="*/ 101059 h 566217"/>
                <a:gd name="connsiteX88" fmla="*/ 131639 w 607639"/>
                <a:gd name="connsiteY88" fmla="*/ 91015 h 566217"/>
                <a:gd name="connsiteX89" fmla="*/ 121492 w 607639"/>
                <a:gd name="connsiteY89" fmla="*/ 80882 h 566217"/>
                <a:gd name="connsiteX90" fmla="*/ 60791 w 607639"/>
                <a:gd name="connsiteY90" fmla="*/ 70750 h 566217"/>
                <a:gd name="connsiteX91" fmla="*/ 50644 w 607639"/>
                <a:gd name="connsiteY91" fmla="*/ 80882 h 566217"/>
                <a:gd name="connsiteX92" fmla="*/ 50644 w 607639"/>
                <a:gd name="connsiteY92" fmla="*/ 303354 h 566217"/>
                <a:gd name="connsiteX93" fmla="*/ 60791 w 607639"/>
                <a:gd name="connsiteY93" fmla="*/ 313486 h 566217"/>
                <a:gd name="connsiteX94" fmla="*/ 70848 w 607639"/>
                <a:gd name="connsiteY94" fmla="*/ 303354 h 566217"/>
                <a:gd name="connsiteX95" fmla="*/ 70848 w 607639"/>
                <a:gd name="connsiteY95" fmla="*/ 80882 h 566217"/>
                <a:gd name="connsiteX96" fmla="*/ 60791 w 607639"/>
                <a:gd name="connsiteY96" fmla="*/ 70750 h 566217"/>
                <a:gd name="connsiteX97" fmla="*/ 45571 w 607639"/>
                <a:gd name="connsiteY97" fmla="*/ 0 h 566217"/>
                <a:gd name="connsiteX98" fmla="*/ 562068 w 607639"/>
                <a:gd name="connsiteY98" fmla="*/ 0 h 566217"/>
                <a:gd name="connsiteX99" fmla="*/ 607639 w 607639"/>
                <a:gd name="connsiteY99" fmla="*/ 45507 h 566217"/>
                <a:gd name="connsiteX100" fmla="*/ 607639 w 607639"/>
                <a:gd name="connsiteY100" fmla="*/ 343795 h 566217"/>
                <a:gd name="connsiteX101" fmla="*/ 0 w 607639"/>
                <a:gd name="connsiteY101" fmla="*/ 343795 h 566217"/>
                <a:gd name="connsiteX102" fmla="*/ 0 w 607639"/>
                <a:gd name="connsiteY102" fmla="*/ 45507 h 566217"/>
                <a:gd name="connsiteX103" fmla="*/ 45571 w 607639"/>
                <a:gd name="connsiteY103" fmla="*/ 0 h 56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607639" h="566217">
                  <a:moveTo>
                    <a:pt x="261052" y="444915"/>
                  </a:moveTo>
                  <a:lnTo>
                    <a:pt x="245922" y="505522"/>
                  </a:lnTo>
                  <a:lnTo>
                    <a:pt x="361717" y="505522"/>
                  </a:lnTo>
                  <a:lnTo>
                    <a:pt x="346498" y="444915"/>
                  </a:lnTo>
                  <a:close/>
                  <a:moveTo>
                    <a:pt x="0" y="364047"/>
                  </a:moveTo>
                  <a:lnTo>
                    <a:pt x="607639" y="364047"/>
                  </a:lnTo>
                  <a:lnTo>
                    <a:pt x="607639" y="399416"/>
                  </a:lnTo>
                  <a:cubicBezTo>
                    <a:pt x="607639" y="424476"/>
                    <a:pt x="587168" y="444915"/>
                    <a:pt x="562068" y="444915"/>
                  </a:cubicBezTo>
                  <a:lnTo>
                    <a:pt x="367414" y="444915"/>
                  </a:lnTo>
                  <a:lnTo>
                    <a:pt x="382634" y="505522"/>
                  </a:lnTo>
                  <a:lnTo>
                    <a:pt x="384859" y="505522"/>
                  </a:lnTo>
                  <a:cubicBezTo>
                    <a:pt x="412717" y="505522"/>
                    <a:pt x="435414" y="528271"/>
                    <a:pt x="435414" y="556086"/>
                  </a:cubicBezTo>
                  <a:cubicBezTo>
                    <a:pt x="435414" y="561685"/>
                    <a:pt x="430875" y="566217"/>
                    <a:pt x="425356" y="566217"/>
                  </a:cubicBezTo>
                  <a:lnTo>
                    <a:pt x="182283" y="566217"/>
                  </a:lnTo>
                  <a:cubicBezTo>
                    <a:pt x="176675" y="566217"/>
                    <a:pt x="172136" y="561685"/>
                    <a:pt x="172136" y="556086"/>
                  </a:cubicBezTo>
                  <a:cubicBezTo>
                    <a:pt x="172136" y="528271"/>
                    <a:pt x="194833" y="505522"/>
                    <a:pt x="222780" y="505522"/>
                  </a:cubicBezTo>
                  <a:lnTo>
                    <a:pt x="225005" y="505522"/>
                  </a:lnTo>
                  <a:lnTo>
                    <a:pt x="240225" y="444915"/>
                  </a:lnTo>
                  <a:lnTo>
                    <a:pt x="45571" y="444915"/>
                  </a:lnTo>
                  <a:cubicBezTo>
                    <a:pt x="20471" y="444915"/>
                    <a:pt x="0" y="424476"/>
                    <a:pt x="0" y="399416"/>
                  </a:cubicBezTo>
                  <a:close/>
                  <a:moveTo>
                    <a:pt x="101288" y="283089"/>
                  </a:moveTo>
                  <a:cubicBezTo>
                    <a:pt x="95681" y="283089"/>
                    <a:pt x="91141" y="287622"/>
                    <a:pt x="91141" y="293221"/>
                  </a:cubicBezTo>
                  <a:cubicBezTo>
                    <a:pt x="91141" y="298821"/>
                    <a:pt x="95681" y="303354"/>
                    <a:pt x="101288" y="303354"/>
                  </a:cubicBezTo>
                  <a:lnTo>
                    <a:pt x="141785" y="303354"/>
                  </a:lnTo>
                  <a:cubicBezTo>
                    <a:pt x="147393" y="303354"/>
                    <a:pt x="151932" y="298821"/>
                    <a:pt x="151932" y="293221"/>
                  </a:cubicBezTo>
                  <a:cubicBezTo>
                    <a:pt x="151932" y="287622"/>
                    <a:pt x="147393" y="283089"/>
                    <a:pt x="141785" y="283089"/>
                  </a:cubicBezTo>
                  <a:close/>
                  <a:moveTo>
                    <a:pt x="101288" y="242647"/>
                  </a:moveTo>
                  <a:cubicBezTo>
                    <a:pt x="95681" y="242647"/>
                    <a:pt x="91141" y="247180"/>
                    <a:pt x="91141" y="252780"/>
                  </a:cubicBezTo>
                  <a:cubicBezTo>
                    <a:pt x="91141" y="258379"/>
                    <a:pt x="95681" y="262912"/>
                    <a:pt x="101288" y="262912"/>
                  </a:cubicBezTo>
                  <a:lnTo>
                    <a:pt x="121492" y="262912"/>
                  </a:lnTo>
                  <a:cubicBezTo>
                    <a:pt x="127100" y="262912"/>
                    <a:pt x="131639" y="258379"/>
                    <a:pt x="131639" y="252780"/>
                  </a:cubicBezTo>
                  <a:cubicBezTo>
                    <a:pt x="131639" y="247180"/>
                    <a:pt x="127100" y="242647"/>
                    <a:pt x="121492" y="242647"/>
                  </a:cubicBezTo>
                  <a:close/>
                  <a:moveTo>
                    <a:pt x="101288" y="202206"/>
                  </a:moveTo>
                  <a:cubicBezTo>
                    <a:pt x="95681" y="202206"/>
                    <a:pt x="91141" y="206739"/>
                    <a:pt x="91141" y="212339"/>
                  </a:cubicBezTo>
                  <a:cubicBezTo>
                    <a:pt x="91141" y="217938"/>
                    <a:pt x="95681" y="222471"/>
                    <a:pt x="101288" y="222471"/>
                  </a:cubicBezTo>
                  <a:lnTo>
                    <a:pt x="141785" y="222471"/>
                  </a:lnTo>
                  <a:cubicBezTo>
                    <a:pt x="147393" y="222471"/>
                    <a:pt x="151932" y="217938"/>
                    <a:pt x="151932" y="212339"/>
                  </a:cubicBezTo>
                  <a:cubicBezTo>
                    <a:pt x="151932" y="206739"/>
                    <a:pt x="147393" y="202206"/>
                    <a:pt x="141785" y="202206"/>
                  </a:cubicBezTo>
                  <a:close/>
                  <a:moveTo>
                    <a:pt x="101288" y="161765"/>
                  </a:moveTo>
                  <a:cubicBezTo>
                    <a:pt x="95681" y="161765"/>
                    <a:pt x="91141" y="166298"/>
                    <a:pt x="91141" y="171897"/>
                  </a:cubicBezTo>
                  <a:cubicBezTo>
                    <a:pt x="91141" y="177497"/>
                    <a:pt x="95681" y="182030"/>
                    <a:pt x="101288" y="182030"/>
                  </a:cubicBezTo>
                  <a:lnTo>
                    <a:pt x="121492" y="182030"/>
                  </a:lnTo>
                  <a:cubicBezTo>
                    <a:pt x="127100" y="182030"/>
                    <a:pt x="131639" y="177497"/>
                    <a:pt x="131639" y="171897"/>
                  </a:cubicBezTo>
                  <a:cubicBezTo>
                    <a:pt x="131639" y="166298"/>
                    <a:pt x="127100" y="161765"/>
                    <a:pt x="121492" y="161765"/>
                  </a:cubicBezTo>
                  <a:close/>
                  <a:moveTo>
                    <a:pt x="101288" y="121324"/>
                  </a:moveTo>
                  <a:cubicBezTo>
                    <a:pt x="95681" y="121324"/>
                    <a:pt x="91141" y="125857"/>
                    <a:pt x="91141" y="131456"/>
                  </a:cubicBezTo>
                  <a:cubicBezTo>
                    <a:pt x="91141" y="136967"/>
                    <a:pt x="95681" y="141500"/>
                    <a:pt x="101288" y="141500"/>
                  </a:cubicBezTo>
                  <a:lnTo>
                    <a:pt x="141785" y="141500"/>
                  </a:lnTo>
                  <a:cubicBezTo>
                    <a:pt x="147393" y="141500"/>
                    <a:pt x="151932" y="136967"/>
                    <a:pt x="151932" y="131456"/>
                  </a:cubicBezTo>
                  <a:cubicBezTo>
                    <a:pt x="151932" y="125857"/>
                    <a:pt x="147393" y="121324"/>
                    <a:pt x="141785" y="121324"/>
                  </a:cubicBezTo>
                  <a:close/>
                  <a:moveTo>
                    <a:pt x="476000" y="101059"/>
                  </a:moveTo>
                  <a:cubicBezTo>
                    <a:pt x="470393" y="101059"/>
                    <a:pt x="465854" y="105592"/>
                    <a:pt x="465854" y="111191"/>
                  </a:cubicBezTo>
                  <a:cubicBezTo>
                    <a:pt x="465854" y="116791"/>
                    <a:pt x="470393" y="121324"/>
                    <a:pt x="476000" y="121324"/>
                  </a:cubicBezTo>
                  <a:lnTo>
                    <a:pt x="522372" y="121324"/>
                  </a:lnTo>
                  <a:lnTo>
                    <a:pt x="401058" y="242559"/>
                  </a:lnTo>
                  <a:lnTo>
                    <a:pt x="317037" y="158654"/>
                  </a:lnTo>
                  <a:cubicBezTo>
                    <a:pt x="316948" y="158565"/>
                    <a:pt x="316948" y="158565"/>
                    <a:pt x="316859" y="158565"/>
                  </a:cubicBezTo>
                  <a:cubicBezTo>
                    <a:pt x="316859" y="158476"/>
                    <a:pt x="316770" y="158387"/>
                    <a:pt x="316770" y="158387"/>
                  </a:cubicBezTo>
                  <a:cubicBezTo>
                    <a:pt x="316236" y="157943"/>
                    <a:pt x="315702" y="157765"/>
                    <a:pt x="315168" y="157410"/>
                  </a:cubicBezTo>
                  <a:cubicBezTo>
                    <a:pt x="314634" y="157054"/>
                    <a:pt x="314100" y="156610"/>
                    <a:pt x="313477" y="156432"/>
                  </a:cubicBezTo>
                  <a:cubicBezTo>
                    <a:pt x="312854" y="156165"/>
                    <a:pt x="312231" y="156165"/>
                    <a:pt x="311607" y="155988"/>
                  </a:cubicBezTo>
                  <a:cubicBezTo>
                    <a:pt x="310984" y="155899"/>
                    <a:pt x="310361" y="155721"/>
                    <a:pt x="309649" y="155721"/>
                  </a:cubicBezTo>
                  <a:cubicBezTo>
                    <a:pt x="309026" y="155721"/>
                    <a:pt x="308403" y="155988"/>
                    <a:pt x="307869" y="156076"/>
                  </a:cubicBezTo>
                  <a:cubicBezTo>
                    <a:pt x="307157" y="156254"/>
                    <a:pt x="306534" y="156254"/>
                    <a:pt x="305911" y="156521"/>
                  </a:cubicBezTo>
                  <a:cubicBezTo>
                    <a:pt x="305288" y="156788"/>
                    <a:pt x="304754" y="157321"/>
                    <a:pt x="304220" y="157676"/>
                  </a:cubicBezTo>
                  <a:cubicBezTo>
                    <a:pt x="303686" y="158032"/>
                    <a:pt x="303152" y="158210"/>
                    <a:pt x="302707" y="158654"/>
                  </a:cubicBezTo>
                  <a:cubicBezTo>
                    <a:pt x="302707" y="158743"/>
                    <a:pt x="302618" y="158743"/>
                    <a:pt x="302618" y="158832"/>
                  </a:cubicBezTo>
                  <a:cubicBezTo>
                    <a:pt x="302529" y="158921"/>
                    <a:pt x="302440" y="158921"/>
                    <a:pt x="302440" y="158921"/>
                  </a:cubicBezTo>
                  <a:lnTo>
                    <a:pt x="184953" y="286377"/>
                  </a:lnTo>
                  <a:cubicBezTo>
                    <a:pt x="181126" y="290466"/>
                    <a:pt x="181482" y="296865"/>
                    <a:pt x="185576" y="300687"/>
                  </a:cubicBezTo>
                  <a:cubicBezTo>
                    <a:pt x="187534" y="302465"/>
                    <a:pt x="189937" y="303354"/>
                    <a:pt x="192429" y="303354"/>
                  </a:cubicBezTo>
                  <a:cubicBezTo>
                    <a:pt x="195100" y="303354"/>
                    <a:pt x="197859" y="302287"/>
                    <a:pt x="199906" y="300065"/>
                  </a:cubicBezTo>
                  <a:lnTo>
                    <a:pt x="310183" y="180430"/>
                  </a:lnTo>
                  <a:lnTo>
                    <a:pt x="393848" y="263979"/>
                  </a:lnTo>
                  <a:cubicBezTo>
                    <a:pt x="395806" y="265934"/>
                    <a:pt x="398388" y="266912"/>
                    <a:pt x="401058" y="266912"/>
                  </a:cubicBezTo>
                  <a:cubicBezTo>
                    <a:pt x="403639" y="266912"/>
                    <a:pt x="406220" y="265934"/>
                    <a:pt x="408178" y="263979"/>
                  </a:cubicBezTo>
                  <a:lnTo>
                    <a:pt x="536702" y="135634"/>
                  </a:lnTo>
                  <a:lnTo>
                    <a:pt x="536702" y="182030"/>
                  </a:lnTo>
                  <a:cubicBezTo>
                    <a:pt x="536702" y="187541"/>
                    <a:pt x="541241" y="192074"/>
                    <a:pt x="546848" y="192074"/>
                  </a:cubicBezTo>
                  <a:cubicBezTo>
                    <a:pt x="552456" y="192074"/>
                    <a:pt x="556995" y="187541"/>
                    <a:pt x="556995" y="182030"/>
                  </a:cubicBezTo>
                  <a:lnTo>
                    <a:pt x="556995" y="111191"/>
                  </a:lnTo>
                  <a:cubicBezTo>
                    <a:pt x="556995" y="109858"/>
                    <a:pt x="556728" y="108614"/>
                    <a:pt x="556194" y="107369"/>
                  </a:cubicBezTo>
                  <a:cubicBezTo>
                    <a:pt x="555126" y="104881"/>
                    <a:pt x="553168" y="102925"/>
                    <a:pt x="550676" y="101859"/>
                  </a:cubicBezTo>
                  <a:cubicBezTo>
                    <a:pt x="549519" y="101325"/>
                    <a:pt x="548184" y="101059"/>
                    <a:pt x="546848" y="101059"/>
                  </a:cubicBezTo>
                  <a:close/>
                  <a:moveTo>
                    <a:pt x="101288" y="80882"/>
                  </a:moveTo>
                  <a:cubicBezTo>
                    <a:pt x="95681" y="80882"/>
                    <a:pt x="91141" y="85415"/>
                    <a:pt x="91141" y="91015"/>
                  </a:cubicBezTo>
                  <a:cubicBezTo>
                    <a:pt x="91141" y="96526"/>
                    <a:pt x="95681" y="101059"/>
                    <a:pt x="101288" y="101059"/>
                  </a:cubicBezTo>
                  <a:lnTo>
                    <a:pt x="121492" y="101059"/>
                  </a:lnTo>
                  <a:cubicBezTo>
                    <a:pt x="127100" y="101059"/>
                    <a:pt x="131639" y="96526"/>
                    <a:pt x="131639" y="91015"/>
                  </a:cubicBezTo>
                  <a:cubicBezTo>
                    <a:pt x="131639" y="85415"/>
                    <a:pt x="127100" y="80882"/>
                    <a:pt x="121492" y="80882"/>
                  </a:cubicBezTo>
                  <a:close/>
                  <a:moveTo>
                    <a:pt x="60791" y="70750"/>
                  </a:moveTo>
                  <a:cubicBezTo>
                    <a:pt x="55183" y="70750"/>
                    <a:pt x="50644" y="75283"/>
                    <a:pt x="50644" y="80882"/>
                  </a:cubicBezTo>
                  <a:lnTo>
                    <a:pt x="50644" y="303354"/>
                  </a:lnTo>
                  <a:cubicBezTo>
                    <a:pt x="50644" y="308953"/>
                    <a:pt x="55183" y="313486"/>
                    <a:pt x="60791" y="313486"/>
                  </a:cubicBezTo>
                  <a:cubicBezTo>
                    <a:pt x="66309" y="313486"/>
                    <a:pt x="70848" y="308953"/>
                    <a:pt x="70848" y="303354"/>
                  </a:cubicBezTo>
                  <a:lnTo>
                    <a:pt x="70848" y="80882"/>
                  </a:lnTo>
                  <a:cubicBezTo>
                    <a:pt x="70848" y="75283"/>
                    <a:pt x="66309" y="70750"/>
                    <a:pt x="60791" y="70750"/>
                  </a:cubicBezTo>
                  <a:close/>
                  <a:moveTo>
                    <a:pt x="45571" y="0"/>
                  </a:moveTo>
                  <a:lnTo>
                    <a:pt x="562068" y="0"/>
                  </a:lnTo>
                  <a:cubicBezTo>
                    <a:pt x="587168" y="0"/>
                    <a:pt x="607639" y="20354"/>
                    <a:pt x="607639" y="45507"/>
                  </a:cubicBezTo>
                  <a:lnTo>
                    <a:pt x="607639" y="343795"/>
                  </a:lnTo>
                  <a:lnTo>
                    <a:pt x="0" y="343795"/>
                  </a:lnTo>
                  <a:lnTo>
                    <a:pt x="0" y="45507"/>
                  </a:lnTo>
                  <a:cubicBezTo>
                    <a:pt x="0" y="20354"/>
                    <a:pt x="20471" y="0"/>
                    <a:pt x="45571" y="0"/>
                  </a:cubicBezTo>
                  <a:close/>
                </a:path>
              </a:pathLst>
            </a:custGeom>
            <a:solidFill>
              <a:schemeClr val="bg1"/>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sp>
          <p:nvSpPr>
            <p:cNvPr id="96" name="图形"/>
            <p:cNvSpPr>
              <a:spLocks noChangeAspect="1"/>
            </p:cNvSpPr>
            <p:nvPr/>
          </p:nvSpPr>
          <p:spPr bwMode="auto">
            <a:xfrm>
              <a:off x="10558" y="6447"/>
              <a:ext cx="567" cy="566"/>
            </a:xfrm>
            <a:custGeom>
              <a:avLst/>
              <a:gdLst>
                <a:gd name="connsiteX0" fmla="*/ 333891 w 578320"/>
                <a:gd name="connsiteY0" fmla="*/ 314976 h 577432"/>
                <a:gd name="connsiteX1" fmla="*/ 398475 w 578320"/>
                <a:gd name="connsiteY1" fmla="*/ 314976 h 577432"/>
                <a:gd name="connsiteX2" fmla="*/ 424308 w 578320"/>
                <a:gd name="connsiteY2" fmla="*/ 340761 h 577432"/>
                <a:gd name="connsiteX3" fmla="*/ 424308 w 578320"/>
                <a:gd name="connsiteY3" fmla="*/ 550726 h 577432"/>
                <a:gd name="connsiteX4" fmla="*/ 398475 w 578320"/>
                <a:gd name="connsiteY4" fmla="*/ 577432 h 577432"/>
                <a:gd name="connsiteX5" fmla="*/ 333891 w 578320"/>
                <a:gd name="connsiteY5" fmla="*/ 577432 h 577432"/>
                <a:gd name="connsiteX6" fmla="*/ 307135 w 578320"/>
                <a:gd name="connsiteY6" fmla="*/ 550726 h 577432"/>
                <a:gd name="connsiteX7" fmla="*/ 307135 w 578320"/>
                <a:gd name="connsiteY7" fmla="*/ 340761 h 577432"/>
                <a:gd name="connsiteX8" fmla="*/ 333891 w 578320"/>
                <a:gd name="connsiteY8" fmla="*/ 314976 h 577432"/>
                <a:gd name="connsiteX9" fmla="*/ 179853 w 578320"/>
                <a:gd name="connsiteY9" fmla="*/ 314976 h 577432"/>
                <a:gd name="connsiteX10" fmla="*/ 244456 w 578320"/>
                <a:gd name="connsiteY10" fmla="*/ 314976 h 577432"/>
                <a:gd name="connsiteX11" fmla="*/ 270297 w 578320"/>
                <a:gd name="connsiteY11" fmla="*/ 340761 h 577432"/>
                <a:gd name="connsiteX12" fmla="*/ 270297 w 578320"/>
                <a:gd name="connsiteY12" fmla="*/ 550726 h 577432"/>
                <a:gd name="connsiteX13" fmla="*/ 244456 w 578320"/>
                <a:gd name="connsiteY13" fmla="*/ 577432 h 577432"/>
                <a:gd name="connsiteX14" fmla="*/ 179853 w 578320"/>
                <a:gd name="connsiteY14" fmla="*/ 577432 h 577432"/>
                <a:gd name="connsiteX15" fmla="*/ 154012 w 578320"/>
                <a:gd name="connsiteY15" fmla="*/ 550726 h 577432"/>
                <a:gd name="connsiteX16" fmla="*/ 154012 w 578320"/>
                <a:gd name="connsiteY16" fmla="*/ 340761 h 577432"/>
                <a:gd name="connsiteX17" fmla="*/ 179853 w 578320"/>
                <a:gd name="connsiteY17" fmla="*/ 314976 h 577432"/>
                <a:gd name="connsiteX18" fmla="*/ 486980 w 578320"/>
                <a:gd name="connsiteY18" fmla="*/ 235677 h 577432"/>
                <a:gd name="connsiteX19" fmla="*/ 551564 w 578320"/>
                <a:gd name="connsiteY19" fmla="*/ 235677 h 577432"/>
                <a:gd name="connsiteX20" fmla="*/ 578320 w 578320"/>
                <a:gd name="connsiteY20" fmla="*/ 262391 h 577432"/>
                <a:gd name="connsiteX21" fmla="*/ 578320 w 578320"/>
                <a:gd name="connsiteY21" fmla="*/ 550718 h 577432"/>
                <a:gd name="connsiteX22" fmla="*/ 551564 w 578320"/>
                <a:gd name="connsiteY22" fmla="*/ 577432 h 577432"/>
                <a:gd name="connsiteX23" fmla="*/ 486980 w 578320"/>
                <a:gd name="connsiteY23" fmla="*/ 577432 h 577432"/>
                <a:gd name="connsiteX24" fmla="*/ 461147 w 578320"/>
                <a:gd name="connsiteY24" fmla="*/ 550718 h 577432"/>
                <a:gd name="connsiteX25" fmla="*/ 461147 w 578320"/>
                <a:gd name="connsiteY25" fmla="*/ 262391 h 577432"/>
                <a:gd name="connsiteX26" fmla="*/ 486980 w 578320"/>
                <a:gd name="connsiteY26" fmla="*/ 235677 h 577432"/>
                <a:gd name="connsiteX27" fmla="*/ 25833 w 578320"/>
                <a:gd name="connsiteY27" fmla="*/ 235677 h 577432"/>
                <a:gd name="connsiteX28" fmla="*/ 90417 w 578320"/>
                <a:gd name="connsiteY28" fmla="*/ 235677 h 577432"/>
                <a:gd name="connsiteX29" fmla="*/ 117173 w 578320"/>
                <a:gd name="connsiteY29" fmla="*/ 262391 h 577432"/>
                <a:gd name="connsiteX30" fmla="*/ 117173 w 578320"/>
                <a:gd name="connsiteY30" fmla="*/ 550718 h 577432"/>
                <a:gd name="connsiteX31" fmla="*/ 90417 w 578320"/>
                <a:gd name="connsiteY31" fmla="*/ 577432 h 577432"/>
                <a:gd name="connsiteX32" fmla="*/ 25833 w 578320"/>
                <a:gd name="connsiteY32" fmla="*/ 577432 h 577432"/>
                <a:gd name="connsiteX33" fmla="*/ 0 w 578320"/>
                <a:gd name="connsiteY33" fmla="*/ 550718 h 577432"/>
                <a:gd name="connsiteX34" fmla="*/ 0 w 578320"/>
                <a:gd name="connsiteY34" fmla="*/ 262391 h 577432"/>
                <a:gd name="connsiteX35" fmla="*/ 25833 w 578320"/>
                <a:gd name="connsiteY35" fmla="*/ 235677 h 577432"/>
                <a:gd name="connsiteX36" fmla="*/ 297075 w 578320"/>
                <a:gd name="connsiteY36" fmla="*/ 158450 h 577432"/>
                <a:gd name="connsiteX37" fmla="*/ 326516 w 578320"/>
                <a:gd name="connsiteY37" fmla="*/ 181440 h 577432"/>
                <a:gd name="connsiteX38" fmla="*/ 297075 w 578320"/>
                <a:gd name="connsiteY38" fmla="*/ 205349 h 577432"/>
                <a:gd name="connsiteX39" fmla="*/ 282280 w 578320"/>
                <a:gd name="connsiteY39" fmla="*/ 81074 h 577432"/>
                <a:gd name="connsiteX40" fmla="*/ 282280 w 578320"/>
                <a:gd name="connsiteY40" fmla="*/ 124274 h 577432"/>
                <a:gd name="connsiteX41" fmla="*/ 255502 w 578320"/>
                <a:gd name="connsiteY41" fmla="*/ 101295 h 577432"/>
                <a:gd name="connsiteX42" fmla="*/ 282280 w 578320"/>
                <a:gd name="connsiteY42" fmla="*/ 81074 h 577432"/>
                <a:gd name="connsiteX43" fmla="*/ 289621 w 578320"/>
                <a:gd name="connsiteY43" fmla="*/ 35910 h 577432"/>
                <a:gd name="connsiteX44" fmla="*/ 282244 w 578320"/>
                <a:gd name="connsiteY44" fmla="*/ 44197 h 577432"/>
                <a:gd name="connsiteX45" fmla="*/ 282244 w 578320"/>
                <a:gd name="connsiteY45" fmla="*/ 57087 h 577432"/>
                <a:gd name="connsiteX46" fmla="*/ 225069 w 578320"/>
                <a:gd name="connsiteY46" fmla="*/ 106808 h 577432"/>
                <a:gd name="connsiteX47" fmla="*/ 282244 w 578320"/>
                <a:gd name="connsiteY47" fmla="*/ 155609 h 577432"/>
                <a:gd name="connsiteX48" fmla="*/ 282244 w 578320"/>
                <a:gd name="connsiteY48" fmla="*/ 205330 h 577432"/>
                <a:gd name="connsiteX49" fmla="*/ 237057 w 578320"/>
                <a:gd name="connsiteY49" fmla="*/ 170341 h 577432"/>
                <a:gd name="connsiteX50" fmla="*/ 222302 w 578320"/>
                <a:gd name="connsiteY50" fmla="*/ 185994 h 577432"/>
                <a:gd name="connsiteX51" fmla="*/ 282244 w 578320"/>
                <a:gd name="connsiteY51" fmla="*/ 229269 h 577432"/>
                <a:gd name="connsiteX52" fmla="*/ 282244 w 578320"/>
                <a:gd name="connsiteY52" fmla="*/ 244002 h 577432"/>
                <a:gd name="connsiteX53" fmla="*/ 289621 w 578320"/>
                <a:gd name="connsiteY53" fmla="*/ 252288 h 577432"/>
                <a:gd name="connsiteX54" fmla="*/ 296999 w 578320"/>
                <a:gd name="connsiteY54" fmla="*/ 244002 h 577432"/>
                <a:gd name="connsiteX55" fmla="*/ 296999 w 578320"/>
                <a:gd name="connsiteY55" fmla="*/ 229269 h 577432"/>
                <a:gd name="connsiteX56" fmla="*/ 356018 w 578320"/>
                <a:gd name="connsiteY56" fmla="*/ 179548 h 577432"/>
                <a:gd name="connsiteX57" fmla="*/ 296999 w 578320"/>
                <a:gd name="connsiteY57" fmla="*/ 126144 h 577432"/>
                <a:gd name="connsiteX58" fmla="*/ 296999 w 578320"/>
                <a:gd name="connsiteY58" fmla="*/ 81027 h 577432"/>
                <a:gd name="connsiteX59" fmla="*/ 338497 w 578320"/>
                <a:gd name="connsiteY59" fmla="*/ 106808 h 577432"/>
                <a:gd name="connsiteX60" fmla="*/ 353252 w 578320"/>
                <a:gd name="connsiteY60" fmla="*/ 92076 h 577432"/>
                <a:gd name="connsiteX61" fmla="*/ 296999 w 578320"/>
                <a:gd name="connsiteY61" fmla="*/ 57087 h 577432"/>
                <a:gd name="connsiteX62" fmla="*/ 296999 w 578320"/>
                <a:gd name="connsiteY62" fmla="*/ 44197 h 577432"/>
                <a:gd name="connsiteX63" fmla="*/ 289621 w 578320"/>
                <a:gd name="connsiteY63" fmla="*/ 35910 h 577432"/>
                <a:gd name="connsiteX64" fmla="*/ 288699 w 578320"/>
                <a:gd name="connsiteY64" fmla="*/ 0 h 577432"/>
                <a:gd name="connsiteX65" fmla="*/ 433481 w 578320"/>
                <a:gd name="connsiteY65" fmla="*/ 144559 h 577432"/>
                <a:gd name="connsiteX66" fmla="*/ 288699 w 578320"/>
                <a:gd name="connsiteY66" fmla="*/ 288198 h 577432"/>
                <a:gd name="connsiteX67" fmla="*/ 144839 w 578320"/>
                <a:gd name="connsiteY67" fmla="*/ 144559 h 577432"/>
                <a:gd name="connsiteX68" fmla="*/ 288699 w 578320"/>
                <a:gd name="connsiteY68"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78320" h="577432">
                  <a:moveTo>
                    <a:pt x="333891" y="314976"/>
                  </a:moveTo>
                  <a:lnTo>
                    <a:pt x="398475" y="314976"/>
                  </a:lnTo>
                  <a:cubicBezTo>
                    <a:pt x="412314" y="314976"/>
                    <a:pt x="424308" y="326948"/>
                    <a:pt x="424308" y="340761"/>
                  </a:cubicBezTo>
                  <a:lnTo>
                    <a:pt x="424308" y="550726"/>
                  </a:lnTo>
                  <a:cubicBezTo>
                    <a:pt x="424308" y="565460"/>
                    <a:pt x="412314" y="577432"/>
                    <a:pt x="398475" y="577432"/>
                  </a:cubicBezTo>
                  <a:lnTo>
                    <a:pt x="333891" y="577432"/>
                  </a:lnTo>
                  <a:cubicBezTo>
                    <a:pt x="319129" y="577432"/>
                    <a:pt x="307135" y="565460"/>
                    <a:pt x="307135" y="550726"/>
                  </a:cubicBezTo>
                  <a:lnTo>
                    <a:pt x="307135" y="340761"/>
                  </a:lnTo>
                  <a:cubicBezTo>
                    <a:pt x="307135" y="326948"/>
                    <a:pt x="319129" y="314976"/>
                    <a:pt x="333891" y="314976"/>
                  </a:cubicBezTo>
                  <a:close/>
                  <a:moveTo>
                    <a:pt x="179853" y="314976"/>
                  </a:moveTo>
                  <a:lnTo>
                    <a:pt x="244456" y="314976"/>
                  </a:lnTo>
                  <a:cubicBezTo>
                    <a:pt x="259222" y="314976"/>
                    <a:pt x="270297" y="326948"/>
                    <a:pt x="270297" y="340761"/>
                  </a:cubicBezTo>
                  <a:lnTo>
                    <a:pt x="270297" y="550726"/>
                  </a:lnTo>
                  <a:cubicBezTo>
                    <a:pt x="270297" y="565460"/>
                    <a:pt x="259222" y="577432"/>
                    <a:pt x="244456" y="577432"/>
                  </a:cubicBezTo>
                  <a:lnTo>
                    <a:pt x="179853" y="577432"/>
                  </a:lnTo>
                  <a:cubicBezTo>
                    <a:pt x="165087" y="577432"/>
                    <a:pt x="154012" y="565460"/>
                    <a:pt x="154012" y="550726"/>
                  </a:cubicBezTo>
                  <a:lnTo>
                    <a:pt x="154012" y="340761"/>
                  </a:lnTo>
                  <a:cubicBezTo>
                    <a:pt x="154012" y="326948"/>
                    <a:pt x="165087" y="314976"/>
                    <a:pt x="179853" y="314976"/>
                  </a:cubicBezTo>
                  <a:close/>
                  <a:moveTo>
                    <a:pt x="486980" y="235677"/>
                  </a:moveTo>
                  <a:lnTo>
                    <a:pt x="551564" y="235677"/>
                  </a:lnTo>
                  <a:cubicBezTo>
                    <a:pt x="566326" y="235677"/>
                    <a:pt x="578320" y="247652"/>
                    <a:pt x="578320" y="262391"/>
                  </a:cubicBezTo>
                  <a:lnTo>
                    <a:pt x="578320" y="550718"/>
                  </a:lnTo>
                  <a:cubicBezTo>
                    <a:pt x="578320" y="565457"/>
                    <a:pt x="566326" y="577432"/>
                    <a:pt x="551564" y="577432"/>
                  </a:cubicBezTo>
                  <a:lnTo>
                    <a:pt x="486980" y="577432"/>
                  </a:lnTo>
                  <a:cubicBezTo>
                    <a:pt x="473141" y="577432"/>
                    <a:pt x="461147" y="565457"/>
                    <a:pt x="461147" y="550718"/>
                  </a:cubicBezTo>
                  <a:lnTo>
                    <a:pt x="461147" y="262391"/>
                  </a:lnTo>
                  <a:cubicBezTo>
                    <a:pt x="461147" y="247652"/>
                    <a:pt x="473141" y="235677"/>
                    <a:pt x="486980" y="235677"/>
                  </a:cubicBezTo>
                  <a:close/>
                  <a:moveTo>
                    <a:pt x="25833" y="235677"/>
                  </a:moveTo>
                  <a:lnTo>
                    <a:pt x="90417" y="235677"/>
                  </a:lnTo>
                  <a:cubicBezTo>
                    <a:pt x="105179" y="235677"/>
                    <a:pt x="117173" y="247652"/>
                    <a:pt x="117173" y="262391"/>
                  </a:cubicBezTo>
                  <a:lnTo>
                    <a:pt x="117173" y="550718"/>
                  </a:lnTo>
                  <a:cubicBezTo>
                    <a:pt x="117173" y="565457"/>
                    <a:pt x="105179" y="577432"/>
                    <a:pt x="90417" y="577432"/>
                  </a:cubicBezTo>
                  <a:lnTo>
                    <a:pt x="25833" y="577432"/>
                  </a:lnTo>
                  <a:cubicBezTo>
                    <a:pt x="11994" y="577432"/>
                    <a:pt x="0" y="565457"/>
                    <a:pt x="0" y="550718"/>
                  </a:cubicBezTo>
                  <a:lnTo>
                    <a:pt x="0" y="262391"/>
                  </a:lnTo>
                  <a:cubicBezTo>
                    <a:pt x="0" y="247652"/>
                    <a:pt x="11994" y="235677"/>
                    <a:pt x="25833" y="235677"/>
                  </a:cubicBezTo>
                  <a:close/>
                  <a:moveTo>
                    <a:pt x="297075" y="158450"/>
                  </a:moveTo>
                  <a:cubicBezTo>
                    <a:pt x="309956" y="161209"/>
                    <a:pt x="326516" y="165807"/>
                    <a:pt x="326516" y="181440"/>
                  </a:cubicBezTo>
                  <a:cubicBezTo>
                    <a:pt x="326516" y="197992"/>
                    <a:pt x="310876" y="204429"/>
                    <a:pt x="297075" y="205349"/>
                  </a:cubicBezTo>
                  <a:close/>
                  <a:moveTo>
                    <a:pt x="282280" y="81074"/>
                  </a:moveTo>
                  <a:lnTo>
                    <a:pt x="282280" y="124274"/>
                  </a:lnTo>
                  <a:cubicBezTo>
                    <a:pt x="264736" y="120597"/>
                    <a:pt x="255502" y="113244"/>
                    <a:pt x="255502" y="101295"/>
                  </a:cubicBezTo>
                  <a:cubicBezTo>
                    <a:pt x="255502" y="91185"/>
                    <a:pt x="265659" y="81993"/>
                    <a:pt x="282280" y="81074"/>
                  </a:cubicBezTo>
                  <a:close/>
                  <a:moveTo>
                    <a:pt x="289621" y="35910"/>
                  </a:moveTo>
                  <a:cubicBezTo>
                    <a:pt x="285010" y="35910"/>
                    <a:pt x="282244" y="40513"/>
                    <a:pt x="282244" y="44197"/>
                  </a:cubicBezTo>
                  <a:lnTo>
                    <a:pt x="282244" y="57087"/>
                  </a:lnTo>
                  <a:cubicBezTo>
                    <a:pt x="252734" y="58008"/>
                    <a:pt x="225069" y="74582"/>
                    <a:pt x="225069" y="106808"/>
                  </a:cubicBezTo>
                  <a:cubicBezTo>
                    <a:pt x="225069" y="133510"/>
                    <a:pt x="247201" y="149163"/>
                    <a:pt x="282244" y="155609"/>
                  </a:cubicBezTo>
                  <a:lnTo>
                    <a:pt x="282244" y="205330"/>
                  </a:lnTo>
                  <a:cubicBezTo>
                    <a:pt x="242590" y="203488"/>
                    <a:pt x="263800" y="170341"/>
                    <a:pt x="237057" y="170341"/>
                  </a:cubicBezTo>
                  <a:cubicBezTo>
                    <a:pt x="227835" y="170341"/>
                    <a:pt x="222302" y="175865"/>
                    <a:pt x="222302" y="185994"/>
                  </a:cubicBezTo>
                  <a:cubicBezTo>
                    <a:pt x="222302" y="204409"/>
                    <a:pt x="241668" y="228349"/>
                    <a:pt x="282244" y="229269"/>
                  </a:cubicBezTo>
                  <a:lnTo>
                    <a:pt x="282244" y="244002"/>
                  </a:lnTo>
                  <a:cubicBezTo>
                    <a:pt x="282244" y="248605"/>
                    <a:pt x="285010" y="252288"/>
                    <a:pt x="289621" y="252288"/>
                  </a:cubicBezTo>
                  <a:cubicBezTo>
                    <a:pt x="293310" y="252288"/>
                    <a:pt x="296999" y="248605"/>
                    <a:pt x="296999" y="244002"/>
                  </a:cubicBezTo>
                  <a:lnTo>
                    <a:pt x="296999" y="229269"/>
                  </a:lnTo>
                  <a:cubicBezTo>
                    <a:pt x="332041" y="227428"/>
                    <a:pt x="356018" y="210854"/>
                    <a:pt x="356018" y="179548"/>
                  </a:cubicBezTo>
                  <a:cubicBezTo>
                    <a:pt x="356018" y="142718"/>
                    <a:pt x="328353" y="133510"/>
                    <a:pt x="296999" y="126144"/>
                  </a:cubicBezTo>
                  <a:lnTo>
                    <a:pt x="296999" y="81027"/>
                  </a:lnTo>
                  <a:cubicBezTo>
                    <a:pt x="322820" y="81948"/>
                    <a:pt x="322820" y="106808"/>
                    <a:pt x="338497" y="106808"/>
                  </a:cubicBezTo>
                  <a:cubicBezTo>
                    <a:pt x="346796" y="106808"/>
                    <a:pt x="353252" y="101284"/>
                    <a:pt x="353252" y="92076"/>
                  </a:cubicBezTo>
                  <a:cubicBezTo>
                    <a:pt x="353252" y="69057"/>
                    <a:pt x="315442" y="57087"/>
                    <a:pt x="296999" y="57087"/>
                  </a:cubicBezTo>
                  <a:lnTo>
                    <a:pt x="296999" y="44197"/>
                  </a:lnTo>
                  <a:cubicBezTo>
                    <a:pt x="296999" y="40513"/>
                    <a:pt x="293310" y="35910"/>
                    <a:pt x="289621" y="35910"/>
                  </a:cubicBezTo>
                  <a:close/>
                  <a:moveTo>
                    <a:pt x="288699" y="0"/>
                  </a:moveTo>
                  <a:cubicBezTo>
                    <a:pt x="368929" y="0"/>
                    <a:pt x="433481" y="64453"/>
                    <a:pt x="433481" y="144559"/>
                  </a:cubicBezTo>
                  <a:cubicBezTo>
                    <a:pt x="433481" y="223745"/>
                    <a:pt x="368929" y="288198"/>
                    <a:pt x="288699" y="288198"/>
                  </a:cubicBezTo>
                  <a:cubicBezTo>
                    <a:pt x="209392" y="288198"/>
                    <a:pt x="144839" y="223745"/>
                    <a:pt x="144839" y="144559"/>
                  </a:cubicBezTo>
                  <a:cubicBezTo>
                    <a:pt x="144839" y="64453"/>
                    <a:pt x="209392" y="0"/>
                    <a:pt x="288699" y="0"/>
                  </a:cubicBezTo>
                  <a:close/>
                </a:path>
              </a:pathLst>
            </a:custGeom>
            <a:solidFill>
              <a:schemeClr val="bg1"/>
            </a:solidFill>
            <a:ln>
              <a:noFill/>
            </a:ln>
          </p:spPr>
          <p:txBody>
            <a:bodyPr/>
            <a:lstStyle/>
            <a:p>
              <a:endParaRPr lang="zh-CN" altLang="en-US">
                <a:latin typeface="Arial" panose="020B0604020202020204"/>
                <a:ea typeface="微软雅黑" panose="020B0503020204020204" pitchFamily="34" charset="-122"/>
                <a:sym typeface="Arial" panose="020B0604020202020204"/>
              </a:endParaRPr>
            </a:p>
          </p:txBody>
        </p:sp>
      </p:grpSp>
      <p:sp>
        <p:nvSpPr>
          <p:cNvPr id="97" name="图形"/>
          <p:cNvSpPr txBox="1"/>
          <p:nvPr/>
        </p:nvSpPr>
        <p:spPr>
          <a:xfrm>
            <a:off x="8161655" y="1275715"/>
            <a:ext cx="2328545" cy="460375"/>
          </a:xfrm>
          <a:prstGeom prst="rect">
            <a:avLst/>
          </a:prstGeom>
          <a:noFill/>
        </p:spPr>
        <p:txBody>
          <a:bodyPr wrap="square" rtlCol="0">
            <a:spAutoFit/>
          </a:bodyPr>
          <a:lstStyle/>
          <a:p>
            <a:r>
              <a:rPr lang="zh-CN" sz="24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提升模型性能</a:t>
            </a:r>
          </a:p>
        </p:txBody>
      </p:sp>
      <p:sp>
        <p:nvSpPr>
          <p:cNvPr id="98" name="图形"/>
          <p:cNvSpPr txBox="1"/>
          <p:nvPr/>
        </p:nvSpPr>
        <p:spPr>
          <a:xfrm>
            <a:off x="8161655" y="5791835"/>
            <a:ext cx="2449830" cy="460375"/>
          </a:xfrm>
          <a:prstGeom prst="rect">
            <a:avLst/>
          </a:prstGeom>
          <a:noFill/>
        </p:spPr>
        <p:txBody>
          <a:bodyPr wrap="square" rtlCol="0">
            <a:spAutoFit/>
          </a:bodyPr>
          <a:lstStyle/>
          <a:p>
            <a:r>
              <a:rPr lang="zh-CN" sz="24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管理员功能增添</a:t>
            </a:r>
          </a:p>
        </p:txBody>
      </p:sp>
      <p:sp>
        <p:nvSpPr>
          <p:cNvPr id="99" name="图形"/>
          <p:cNvSpPr txBox="1"/>
          <p:nvPr/>
        </p:nvSpPr>
        <p:spPr>
          <a:xfrm>
            <a:off x="859790" y="5792470"/>
            <a:ext cx="3083560" cy="460375"/>
          </a:xfrm>
          <a:prstGeom prst="rect">
            <a:avLst/>
          </a:prstGeom>
          <a:noFill/>
        </p:spPr>
        <p:txBody>
          <a:bodyPr wrap="square" rtlCol="0">
            <a:spAutoFit/>
          </a:bodyPr>
          <a:lstStyle/>
          <a:p>
            <a:r>
              <a:rPr lang="zh-CN" sz="2400" b="1">
                <a:solidFill>
                  <a:schemeClr val="tx1">
                    <a:lumMod val="75000"/>
                    <a:lumOff val="25000"/>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引入</a:t>
            </a:r>
            <a:r>
              <a:rPr lang="en-US" altLang="zh-CN" sz="2400" b="1">
                <a:solidFill>
                  <a:schemeClr val="tx1">
                    <a:lumMod val="75000"/>
                    <a:lumOff val="25000"/>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AI</a:t>
            </a:r>
            <a:r>
              <a:rPr lang="zh-CN" altLang="en-US" sz="2400" b="1">
                <a:solidFill>
                  <a:schemeClr val="tx1">
                    <a:lumMod val="75000"/>
                    <a:lumOff val="25000"/>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对话翻译助手</a:t>
            </a:r>
          </a:p>
        </p:txBody>
      </p:sp>
      <p:sp>
        <p:nvSpPr>
          <p:cNvPr id="100" name="图形"/>
          <p:cNvSpPr txBox="1"/>
          <p:nvPr/>
        </p:nvSpPr>
        <p:spPr>
          <a:xfrm>
            <a:off x="859790" y="1275715"/>
            <a:ext cx="2753995" cy="460375"/>
          </a:xfrm>
          <a:prstGeom prst="rect">
            <a:avLst/>
          </a:prstGeom>
          <a:noFill/>
        </p:spPr>
        <p:txBody>
          <a:bodyPr wrap="square" rtlCol="0">
            <a:spAutoFit/>
          </a:bodyPr>
          <a:lstStyle/>
          <a:p>
            <a:r>
              <a:rPr lang="zh-CN" sz="2400" b="1">
                <a:solidFill>
                  <a:schemeClr val="tx1">
                    <a:lumMod val="75000"/>
                    <a:lumOff val="25000"/>
                    <a:alpha val="100000"/>
                  </a:schemeClr>
                </a:solidFill>
                <a:latin typeface="微软雅黑" panose="020B0503020204020204" pitchFamily="34" charset="-122"/>
                <a:ea typeface="微软雅黑" panose="020B0503020204020204" pitchFamily="34" charset="-122"/>
                <a:cs typeface="宋体" panose="02010600030101010101" pitchFamily="2" charset="-122"/>
                <a:sym typeface="Arial" panose="020B0604020202020204"/>
              </a:rPr>
              <a:t>扩展语言种类</a:t>
            </a:r>
          </a:p>
        </p:txBody>
      </p:sp>
      <p:pic>
        <p:nvPicPr>
          <p:cNvPr id="104" name="图片 103"/>
          <p:cNvPicPr>
            <a:picLocks noChangeAspect="1"/>
          </p:cNvPicPr>
          <p:nvPr/>
        </p:nvPicPr>
        <p:blipFill>
          <a:blip r:embed="rId3"/>
          <a:srcRect l="15552" r="4620"/>
          <a:stretch>
            <a:fillRect/>
          </a:stretch>
        </p:blipFill>
        <p:spPr>
          <a:xfrm>
            <a:off x="8301990" y="3865880"/>
            <a:ext cx="3056255" cy="1845310"/>
          </a:xfrm>
          <a:prstGeom prst="rect">
            <a:avLst/>
          </a:prstGeom>
          <a:ln>
            <a:solidFill>
              <a:schemeClr val="tx2">
                <a:lumMod val="25000"/>
                <a:lumOff val="75000"/>
              </a:schemeClr>
            </a:solidFill>
          </a:ln>
          <a:effectLst>
            <a:outerShdw blurRad="50800" dist="38100" dir="2700000" algn="tl" rotWithShape="0">
              <a:prstClr val="black">
                <a:alpha val="40000"/>
              </a:prstClr>
            </a:outerShdw>
          </a:effectLst>
        </p:spPr>
      </p:pic>
      <p:pic>
        <p:nvPicPr>
          <p:cNvPr id="2" name="图片 1"/>
          <p:cNvPicPr>
            <a:picLocks noChangeAspect="1"/>
          </p:cNvPicPr>
          <p:nvPr/>
        </p:nvPicPr>
        <p:blipFill>
          <a:blip r:embed="rId4"/>
          <a:stretch>
            <a:fillRect/>
          </a:stretch>
        </p:blipFill>
        <p:spPr>
          <a:xfrm>
            <a:off x="859790" y="3886200"/>
            <a:ext cx="2957830" cy="1849755"/>
          </a:xfrm>
          <a:prstGeom prst="rect">
            <a:avLst/>
          </a:prstGeom>
        </p:spPr>
      </p:pic>
      <p:pic>
        <p:nvPicPr>
          <p:cNvPr id="3" name="图片 2"/>
          <p:cNvPicPr>
            <a:picLocks noChangeAspect="1"/>
          </p:cNvPicPr>
          <p:nvPr/>
        </p:nvPicPr>
        <p:blipFill>
          <a:blip r:embed="rId5"/>
          <a:stretch>
            <a:fillRect/>
          </a:stretch>
        </p:blipFill>
        <p:spPr>
          <a:xfrm>
            <a:off x="848995" y="1782445"/>
            <a:ext cx="2968625" cy="18764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nodeType="withEffect">
                                  <p:stCondLst>
                                    <p:cond delay="0"/>
                                  </p:stCondLst>
                                  <p:childTnLst>
                                    <p:set>
                                      <p:cBhvr>
                                        <p:cTn id="9" dur="1" fill="hold">
                                          <p:stCondLst>
                                            <p:cond delay="0"/>
                                          </p:stCondLst>
                                        </p:cTn>
                                        <p:tgtEl>
                                          <p:spTgt spid="87"/>
                                        </p:tgtEl>
                                        <p:attrNameLst>
                                          <p:attrName>style.visibility</p:attrName>
                                        </p:attrNameLst>
                                      </p:cBhvr>
                                      <p:to>
                                        <p:strVal val="visible"/>
                                      </p:to>
                                    </p:set>
                                    <p:animEffect transition="in" filter="fade">
                                      <p:cBhvr>
                                        <p:cTn id="10" dur="500"/>
                                        <p:tgtEl>
                                          <p:spTgt spid="87"/>
                                        </p:tgtEl>
                                      </p:cBhvr>
                                    </p:animEffect>
                                  </p:childTnLst>
                                </p:cTn>
                              </p:par>
                              <p:par>
                                <p:cTn id="11" presetID="10" presetClass="entr" presetSubtype="0" fill="hold" nodeType="withEffect">
                                  <p:stCondLst>
                                    <p:cond delay="0"/>
                                  </p:stCondLst>
                                  <p:childTnLst>
                                    <p:set>
                                      <p:cBhvr>
                                        <p:cTn id="12" dur="1" fill="hold">
                                          <p:stCondLst>
                                            <p:cond delay="0"/>
                                          </p:stCondLst>
                                        </p:cTn>
                                        <p:tgtEl>
                                          <p:spTgt spid="86"/>
                                        </p:tgtEl>
                                        <p:attrNameLst>
                                          <p:attrName>style.visibility</p:attrName>
                                        </p:attrNameLst>
                                      </p:cBhvr>
                                      <p:to>
                                        <p:strVal val="visible"/>
                                      </p:to>
                                    </p:set>
                                    <p:animEffect transition="in" filter="fade">
                                      <p:cBhvr>
                                        <p:cTn id="13" dur="500"/>
                                        <p:tgtEl>
                                          <p:spTgt spid="86"/>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fade">
                                      <p:cBhvr>
                                        <p:cTn id="17" dur="500"/>
                                        <p:tgtEl>
                                          <p:spTgt spid="100"/>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97"/>
                                        </p:tgtEl>
                                        <p:attrNameLst>
                                          <p:attrName>style.visibility</p:attrName>
                                        </p:attrNameLst>
                                      </p:cBhvr>
                                      <p:to>
                                        <p:strVal val="visible"/>
                                      </p:to>
                                    </p:set>
                                    <p:animEffect transition="in" filter="fade">
                                      <p:cBhvr>
                                        <p:cTn id="21" dur="500"/>
                                        <p:tgtEl>
                                          <p:spTgt spid="9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9"/>
                                        </p:tgtEl>
                                        <p:attrNameLst>
                                          <p:attrName>style.visibility</p:attrName>
                                        </p:attrNameLst>
                                      </p:cBhvr>
                                      <p:to>
                                        <p:strVal val="visible"/>
                                      </p:to>
                                    </p:set>
                                    <p:animEffect transition="in" filter="fade">
                                      <p:cBhvr>
                                        <p:cTn id="24" dur="500"/>
                                        <p:tgtEl>
                                          <p:spTgt spid="99"/>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104"/>
                                        </p:tgtEl>
                                        <p:attrNameLst>
                                          <p:attrName>style.visibility</p:attrName>
                                        </p:attrNameLst>
                                      </p:cBhvr>
                                      <p:to>
                                        <p:strVal val="visible"/>
                                      </p:to>
                                    </p:set>
                                    <p:animEffect transition="in" filter="fade">
                                      <p:cBhvr>
                                        <p:cTn id="28" dur="500"/>
                                        <p:tgtEl>
                                          <p:spTgt spid="10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8"/>
                                        </p:tgtEl>
                                        <p:attrNameLst>
                                          <p:attrName>style.visibility</p:attrName>
                                        </p:attrNameLst>
                                      </p:cBhvr>
                                      <p:to>
                                        <p:strVal val="visible"/>
                                      </p:to>
                                    </p:set>
                                    <p:animEffect transition="in" filter="fade">
                                      <p:cBhvr>
                                        <p:cTn id="31"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98" grpId="0"/>
      <p:bldP spid="99" grpId="0"/>
      <p:bldP spid="100"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70000">
              <a:srgbClr val="B9B8F1">
                <a:alpha val="0"/>
              </a:srgbClr>
            </a:gs>
          </a:gsLst>
          <a:lin ang="18900000" scaled="0"/>
        </a:gradFill>
        <a:effectLst/>
      </p:bgPr>
    </p:bg>
    <p:spTree>
      <p:nvGrpSpPr>
        <p:cNvPr id="1" name=""/>
        <p:cNvGrpSpPr/>
        <p:nvPr/>
      </p:nvGrpSpPr>
      <p:grpSpPr>
        <a:xfrm>
          <a:off x="0" y="0"/>
          <a:ext cx="0" cy="0"/>
          <a:chOff x="0" y="0"/>
          <a:chExt cx="0" cy="0"/>
        </a:xfrm>
      </p:grpSpPr>
      <p:grpSp>
        <p:nvGrpSpPr>
          <p:cNvPr id="106" name="图形"/>
          <p:cNvGrpSpPr/>
          <p:nvPr/>
        </p:nvGrpSpPr>
        <p:grpSpPr>
          <a:xfrm>
            <a:off x="0" y="-1069340"/>
            <a:ext cx="12516485" cy="7927340"/>
            <a:chOff x="0" y="-1684"/>
            <a:chExt cx="19711" cy="12484"/>
          </a:xfrm>
        </p:grpSpPr>
        <p:pic>
          <p:nvPicPr>
            <p:cNvPr id="107" name="图形" descr="D:/包图网/5b601bfb6affe.png5b601bfb6affe"/>
            <p:cNvPicPr>
              <a:picLocks noChangeAspect="1"/>
            </p:cNvPicPr>
            <p:nvPr/>
          </p:nvPicPr>
          <p:blipFill>
            <a:blip r:embed="rId3"/>
            <a:srcRect t="-2777" b="-1468"/>
            <a:stretch>
              <a:fillRect/>
            </a:stretch>
          </p:blipFill>
          <p:spPr>
            <a:xfrm>
              <a:off x="0" y="4674"/>
              <a:ext cx="7780" cy="5896"/>
            </a:xfrm>
            <a:prstGeom prst="rect">
              <a:avLst/>
            </a:prstGeom>
          </p:spPr>
        </p:pic>
        <p:sp>
          <p:nvSpPr>
            <p:cNvPr id="108" name="图形"/>
            <p:cNvSpPr/>
            <p:nvPr/>
          </p:nvSpPr>
          <p:spPr>
            <a:xfrm rot="8580000" flipV="1">
              <a:off x="17359" y="-1684"/>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109" name="组合 138"/>
            <p:cNvGrpSpPr/>
            <p:nvPr/>
          </p:nvGrpSpPr>
          <p:grpSpPr>
            <a:xfrm>
              <a:off x="2320" y="2938"/>
              <a:ext cx="2821" cy="1006"/>
              <a:chOff x="1595" y="1487"/>
              <a:chExt cx="4594" cy="1639"/>
            </a:xfrm>
            <a:gradFill>
              <a:gsLst>
                <a:gs pos="0">
                  <a:srgbClr val="B9B8F1">
                    <a:alpha val="100000"/>
                  </a:srgbClr>
                </a:gs>
                <a:gs pos="94000">
                  <a:srgbClr val="B9B8F1">
                    <a:alpha val="0"/>
                  </a:srgbClr>
                </a:gs>
              </a:gsLst>
              <a:lin ang="10800000" scaled="0"/>
            </a:gradFill>
          </p:grpSpPr>
          <p:grpSp>
            <p:nvGrpSpPr>
              <p:cNvPr id="110" name="组合 51"/>
              <p:cNvGrpSpPr/>
              <p:nvPr/>
            </p:nvGrpSpPr>
            <p:grpSpPr>
              <a:xfrm>
                <a:off x="1595" y="1487"/>
                <a:ext cx="4594" cy="226"/>
                <a:chOff x="1595" y="1487"/>
                <a:chExt cx="4594" cy="226"/>
              </a:xfrm>
              <a:grpFill/>
            </p:grpSpPr>
            <p:sp>
              <p:nvSpPr>
                <p:cNvPr id="111"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2"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3"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4"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5"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6"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17"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18" name="组合 52"/>
              <p:cNvGrpSpPr/>
              <p:nvPr/>
            </p:nvGrpSpPr>
            <p:grpSpPr>
              <a:xfrm>
                <a:off x="1595" y="1958"/>
                <a:ext cx="4594" cy="226"/>
                <a:chOff x="1595" y="1487"/>
                <a:chExt cx="4594" cy="226"/>
              </a:xfrm>
              <a:grpFill/>
            </p:grpSpPr>
            <p:sp>
              <p:nvSpPr>
                <p:cNvPr id="119"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0"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1"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2"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3"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4"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5"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26" name="组合 120"/>
              <p:cNvGrpSpPr/>
              <p:nvPr/>
            </p:nvGrpSpPr>
            <p:grpSpPr>
              <a:xfrm>
                <a:off x="1595" y="2429"/>
                <a:ext cx="4594" cy="226"/>
                <a:chOff x="1595" y="1487"/>
                <a:chExt cx="4594" cy="226"/>
              </a:xfrm>
              <a:grpFill/>
            </p:grpSpPr>
            <p:sp>
              <p:nvSpPr>
                <p:cNvPr id="127"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8"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29"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30"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31"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32"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33"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134" name="组合 128"/>
              <p:cNvGrpSpPr/>
              <p:nvPr/>
            </p:nvGrpSpPr>
            <p:grpSpPr>
              <a:xfrm>
                <a:off x="1595" y="2900"/>
                <a:ext cx="4594" cy="226"/>
                <a:chOff x="1595" y="1487"/>
                <a:chExt cx="4594" cy="226"/>
              </a:xfrm>
              <a:grpFill/>
            </p:grpSpPr>
            <p:sp>
              <p:nvSpPr>
                <p:cNvPr id="135"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36"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37"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38"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39"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40"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41"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sp>
          <p:nvSpPr>
            <p:cNvPr id="142" name="图形"/>
            <p:cNvSpPr/>
            <p:nvPr/>
          </p:nvSpPr>
          <p:spPr>
            <a:xfrm>
              <a:off x="0" y="10796"/>
              <a:ext cx="4" cy="4"/>
            </a:xfrm>
            <a:custGeom>
              <a:avLst/>
              <a:gdLst/>
              <a:ahLst/>
              <a:cxnLst>
                <a:cxn ang="3">
                  <a:pos x="hc" y="t"/>
                </a:cxn>
                <a:cxn ang="cd2">
                  <a:pos x="l" y="vc"/>
                </a:cxn>
                <a:cxn ang="cd4">
                  <a:pos x="hc" y="b"/>
                </a:cxn>
                <a:cxn ang="0">
                  <a:pos x="r" y="vc"/>
                </a:cxn>
              </a:cxnLst>
              <a:rect l="l" t="t" r="r" b="b"/>
              <a:pathLst>
                <a:path w="4" h="4">
                  <a:moveTo>
                    <a:pt x="0" y="0"/>
                  </a:moveTo>
                  <a:lnTo>
                    <a:pt x="4" y="4"/>
                  </a:lnTo>
                  <a:lnTo>
                    <a:pt x="0" y="4"/>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43" name="图形"/>
            <p:cNvSpPr/>
            <p:nvPr/>
          </p:nvSpPr>
          <p:spPr>
            <a:xfrm>
              <a:off x="0" y="2210"/>
              <a:ext cx="11364" cy="8590"/>
            </a:xfrm>
            <a:custGeom>
              <a:avLst/>
              <a:gdLst/>
              <a:ahLst/>
              <a:cxnLst>
                <a:cxn ang="3">
                  <a:pos x="hc" y="t"/>
                </a:cxn>
                <a:cxn ang="cd2">
                  <a:pos x="l" y="vc"/>
                </a:cxn>
                <a:cxn ang="cd4">
                  <a:pos x="hc" y="b"/>
                </a:cxn>
                <a:cxn ang="0">
                  <a:pos x="r" y="vc"/>
                </a:cxn>
              </a:cxnLst>
              <a:rect l="l" t="t" r="r" b="b"/>
              <a:pathLst>
                <a:path w="11364" h="8590">
                  <a:moveTo>
                    <a:pt x="677" y="0"/>
                  </a:moveTo>
                  <a:cubicBezTo>
                    <a:pt x="949" y="-1"/>
                    <a:pt x="1204" y="66"/>
                    <a:pt x="1429" y="218"/>
                  </a:cubicBezTo>
                  <a:cubicBezTo>
                    <a:pt x="2008" y="798"/>
                    <a:pt x="1883" y="1992"/>
                    <a:pt x="2745" y="2676"/>
                  </a:cubicBezTo>
                  <a:cubicBezTo>
                    <a:pt x="3748" y="3184"/>
                    <a:pt x="4863" y="2726"/>
                    <a:pt x="6368" y="3236"/>
                  </a:cubicBezTo>
                  <a:cubicBezTo>
                    <a:pt x="7486" y="4177"/>
                    <a:pt x="7194" y="5103"/>
                    <a:pt x="7858" y="5815"/>
                  </a:cubicBezTo>
                  <a:cubicBezTo>
                    <a:pt x="8574" y="6232"/>
                    <a:pt x="9738" y="5636"/>
                    <a:pt x="10848" y="6384"/>
                  </a:cubicBezTo>
                  <a:cubicBezTo>
                    <a:pt x="11491" y="6818"/>
                    <a:pt x="11469" y="7655"/>
                    <a:pt x="11131" y="8564"/>
                  </a:cubicBezTo>
                  <a:lnTo>
                    <a:pt x="11121" y="8590"/>
                  </a:lnTo>
                  <a:lnTo>
                    <a:pt x="4" y="8590"/>
                  </a:lnTo>
                  <a:lnTo>
                    <a:pt x="0" y="8587"/>
                  </a:lnTo>
                  <a:lnTo>
                    <a:pt x="0" y="129"/>
                  </a:lnTo>
                  <a:lnTo>
                    <a:pt x="13" y="124"/>
                  </a:lnTo>
                  <a:cubicBezTo>
                    <a:pt x="240" y="45"/>
                    <a:pt x="464" y="1"/>
                    <a:pt x="677" y="0"/>
                  </a:cubicBezTo>
                  <a:close/>
                </a:path>
              </a:pathLst>
            </a:custGeom>
            <a:gradFill>
              <a:gsLst>
                <a:gs pos="0">
                  <a:srgbClr val="B9B8F1">
                    <a:alpha val="30000"/>
                  </a:srgbClr>
                </a:gs>
                <a:gs pos="100000">
                  <a:srgbClr val="B9B8F1">
                    <a:alpha val="0"/>
                  </a:srgb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144" name="图形"/>
          <p:cNvSpPr txBox="1"/>
          <p:nvPr/>
        </p:nvSpPr>
        <p:spPr>
          <a:xfrm>
            <a:off x="5222242" y="3194052"/>
            <a:ext cx="6322695" cy="1241425"/>
          </a:xfrm>
          <a:prstGeom prst="rect">
            <a:avLst/>
          </a:prstGeom>
          <a:noFill/>
        </p:spPr>
        <p:txBody>
          <a:bodyPr wrap="square" lIns="0" tIns="0" rIns="0" bIns="0" rtlCol="0">
            <a:noAutofit/>
          </a:bodyPr>
          <a:lstStyle/>
          <a:p>
            <a:pPr algn="dist"/>
            <a:r>
              <a:rPr lang="zh-CN" sz="80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实训总结</a:t>
            </a:r>
          </a:p>
        </p:txBody>
      </p:sp>
      <p:sp>
        <p:nvSpPr>
          <p:cNvPr id="145" name="图形"/>
          <p:cNvSpPr txBox="1"/>
          <p:nvPr/>
        </p:nvSpPr>
        <p:spPr>
          <a:xfrm>
            <a:off x="6669090" y="4516120"/>
            <a:ext cx="3429000" cy="323850"/>
          </a:xfrm>
          <a:prstGeom prst="rect">
            <a:avLst/>
          </a:prstGeom>
          <a:noFill/>
        </p:spPr>
        <p:txBody>
          <a:bodyPr wrap="square" lIns="0" tIns="0" rIns="0" bIns="0" rtlCol="0">
            <a:spAutoFit/>
          </a:bodyPr>
          <a:lstStyle/>
          <a:p>
            <a:pPr algn="dist">
              <a:lnSpc>
                <a:spcPct val="150000"/>
              </a:lnSpc>
            </a:pPr>
            <a:r>
              <a:rPr lang="en-US" sz="1400">
                <a:ln>
                  <a:noFill/>
                </a:ln>
                <a:solidFill>
                  <a:schemeClr val="tx1">
                    <a:lumMod val="65000"/>
                    <a:lumOff val="35000"/>
                    <a:alpha val="100000"/>
                  </a:schemeClr>
                </a:solidFill>
                <a:effectLst/>
                <a:latin typeface="Arial" panose="020B0604020202020204"/>
                <a:ea typeface="微软雅黑" panose="020B0503020204020204" pitchFamily="34" charset="-122"/>
                <a:cs typeface="思源黑体 Normal"/>
                <a:sym typeface="Arial" panose="020B0604020202020204"/>
              </a:rPr>
              <a:t>The Summary</a:t>
            </a:r>
          </a:p>
        </p:txBody>
      </p:sp>
      <p:grpSp>
        <p:nvGrpSpPr>
          <p:cNvPr id="146" name="图形"/>
          <p:cNvGrpSpPr/>
          <p:nvPr/>
        </p:nvGrpSpPr>
        <p:grpSpPr>
          <a:xfrm>
            <a:off x="7793357" y="1932305"/>
            <a:ext cx="3750945" cy="849630"/>
            <a:chOff x="12273" y="2943"/>
            <a:chExt cx="5907" cy="1338"/>
          </a:xfrm>
        </p:grpSpPr>
        <p:sp>
          <p:nvSpPr>
            <p:cNvPr id="147" name="图形"/>
            <p:cNvSpPr/>
            <p:nvPr/>
          </p:nvSpPr>
          <p:spPr>
            <a:xfrm>
              <a:off x="12273"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第</a:t>
              </a:r>
            </a:p>
          </p:txBody>
        </p:sp>
        <p:sp>
          <p:nvSpPr>
            <p:cNvPr id="148" name="图形"/>
            <p:cNvSpPr/>
            <p:nvPr/>
          </p:nvSpPr>
          <p:spPr>
            <a:xfrm>
              <a:off x="13796" y="2943"/>
              <a:ext cx="1338" cy="1338"/>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sz="3600" b="1">
                  <a:latin typeface="宋体" panose="02010600030101010101" pitchFamily="2" charset="-122"/>
                  <a:ea typeface="宋体" panose="02010600030101010101" pitchFamily="2" charset="-122"/>
                  <a:cs typeface="思源黑体 Normal"/>
                  <a:sym typeface="Arial" panose="020B0604020202020204"/>
                </a:rPr>
                <a:t>七</a:t>
              </a:r>
            </a:p>
          </p:txBody>
        </p:sp>
        <p:sp>
          <p:nvSpPr>
            <p:cNvPr id="149" name="图形"/>
            <p:cNvSpPr/>
            <p:nvPr/>
          </p:nvSpPr>
          <p:spPr>
            <a:xfrm>
              <a:off x="15319"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部</a:t>
              </a:r>
            </a:p>
          </p:txBody>
        </p:sp>
        <p:sp>
          <p:nvSpPr>
            <p:cNvPr id="150" name="图形"/>
            <p:cNvSpPr/>
            <p:nvPr/>
          </p:nvSpPr>
          <p:spPr>
            <a:xfrm>
              <a:off x="16842"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分</a:t>
              </a:r>
            </a:p>
          </p:txBody>
        </p:sp>
      </p:grpSp>
      <p:grpSp>
        <p:nvGrpSpPr>
          <p:cNvPr id="151" name="图形"/>
          <p:cNvGrpSpPr/>
          <p:nvPr/>
        </p:nvGrpSpPr>
        <p:grpSpPr>
          <a:xfrm>
            <a:off x="8990331" y="5836920"/>
            <a:ext cx="2555240" cy="444500"/>
            <a:chOff x="14158" y="9192"/>
            <a:chExt cx="4024" cy="700"/>
          </a:xfrm>
        </p:grpSpPr>
        <p:sp>
          <p:nvSpPr>
            <p:cNvPr id="152" name="图形"/>
            <p:cNvSpPr/>
            <p:nvPr/>
          </p:nvSpPr>
          <p:spPr>
            <a:xfrm>
              <a:off x="14158" y="9192"/>
              <a:ext cx="701" cy="701"/>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53" name="图形"/>
            <p:cNvSpPr/>
            <p:nvPr/>
          </p:nvSpPr>
          <p:spPr>
            <a:xfrm>
              <a:off x="15266"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54" name="图形"/>
            <p:cNvSpPr/>
            <p:nvPr/>
          </p:nvSpPr>
          <p:spPr>
            <a:xfrm>
              <a:off x="16374"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55" name="图形"/>
            <p:cNvSpPr/>
            <p:nvPr/>
          </p:nvSpPr>
          <p:spPr>
            <a:xfrm>
              <a:off x="17482"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9" name="组合 18"/>
          <p:cNvGrpSpPr/>
          <p:nvPr/>
        </p:nvGrpSpPr>
        <p:grpSpPr>
          <a:xfrm>
            <a:off x="9503410" y="508000"/>
            <a:ext cx="2338705" cy="1039495"/>
            <a:chOff x="14966" y="800"/>
            <a:chExt cx="3683" cy="1637"/>
          </a:xfrm>
        </p:grpSpPr>
        <p:pic>
          <p:nvPicPr>
            <p:cNvPr id="17" name="图片 16"/>
            <p:cNvPicPr>
              <a:picLocks noChangeAspect="1"/>
            </p:cNvPicPr>
            <p:nvPr/>
          </p:nvPicPr>
          <p:blipFill>
            <a:blip r:embed="rId4"/>
            <a:stretch>
              <a:fillRect/>
            </a:stretch>
          </p:blipFill>
          <p:spPr>
            <a:xfrm>
              <a:off x="14966" y="800"/>
              <a:ext cx="1381" cy="1381"/>
            </a:xfrm>
            <a:prstGeom prst="rect">
              <a:avLst/>
            </a:prstGeom>
          </p:spPr>
        </p:pic>
        <p:sp>
          <p:nvSpPr>
            <p:cNvPr id="18" name="文本框 17"/>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par>
                                <p:cTn id="8" presetID="10" presetClass="entr" presetSubtype="0" fill="hold" nodeType="withEffect">
                                  <p:stCondLst>
                                    <p:cond delay="0"/>
                                  </p:stCondLst>
                                  <p:childTnLst>
                                    <p:set>
                                      <p:cBhvr>
                                        <p:cTn id="9" dur="1" fill="hold">
                                          <p:stCondLst>
                                            <p:cond delay="0"/>
                                          </p:stCondLst>
                                        </p:cTn>
                                        <p:tgtEl>
                                          <p:spTgt spid="151"/>
                                        </p:tgtEl>
                                        <p:attrNameLst>
                                          <p:attrName>style.visibility</p:attrName>
                                        </p:attrNameLst>
                                      </p:cBhvr>
                                      <p:to>
                                        <p:strVal val="visible"/>
                                      </p:to>
                                    </p:set>
                                    <p:animEffect transition="in" filter="fade">
                                      <p:cBhvr>
                                        <p:cTn id="10" dur="500"/>
                                        <p:tgtEl>
                                          <p:spTgt spid="151"/>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000" fill="hold">
                                          <p:stCondLst>
                                            <p:cond delay="0"/>
                                          </p:stCondLst>
                                        </p:cTn>
                                        <p:tgtEl>
                                          <p:spTgt spid="146"/>
                                        </p:tgtEl>
                                        <p:attrNameLst>
                                          <p:attrName>style.visibility</p:attrName>
                                        </p:attrNameLst>
                                      </p:cBhvr>
                                      <p:to>
                                        <p:strVal val="visible"/>
                                      </p:to>
                                    </p:set>
                                    <p:anim calcmode="lin" valueType="num">
                                      <p:cBhvr>
                                        <p:cTn id="14" dur="1000" fill="hold"/>
                                        <p:tgtEl>
                                          <p:spTgt spid="146"/>
                                        </p:tgtEl>
                                        <p:attrNameLst>
                                          <p:attrName>ppt_w</p:attrName>
                                        </p:attrNameLst>
                                      </p:cBhvr>
                                      <p:tavLst>
                                        <p:tav tm="0">
                                          <p:val>
                                            <p:fltVal val="0"/>
                                          </p:val>
                                        </p:tav>
                                        <p:tav tm="100000">
                                          <p:val>
                                            <p:strVal val="#ppt_w"/>
                                          </p:val>
                                        </p:tav>
                                      </p:tavLst>
                                    </p:anim>
                                    <p:anim calcmode="lin" valueType="num">
                                      <p:cBhvr>
                                        <p:cTn id="15" dur="1000" fill="hold"/>
                                        <p:tgtEl>
                                          <p:spTgt spid="146"/>
                                        </p:tgtEl>
                                        <p:attrNameLst>
                                          <p:attrName>ppt_h</p:attrName>
                                        </p:attrNameLst>
                                      </p:cBhvr>
                                      <p:tavLst>
                                        <p:tav tm="0">
                                          <p:val>
                                            <p:fltVal val="0"/>
                                          </p:val>
                                        </p:tav>
                                        <p:tav tm="100000">
                                          <p:val>
                                            <p:strVal val="#ppt_h"/>
                                          </p:val>
                                        </p:tav>
                                      </p:tavLst>
                                    </p:anim>
                                  </p:childTnLst>
                                </p:cTn>
                              </p:par>
                            </p:childTnLst>
                          </p:cTn>
                        </p:par>
                        <p:par>
                          <p:cTn id="16" fill="hold">
                            <p:stCondLst>
                              <p:cond delay="1500"/>
                            </p:stCondLst>
                            <p:childTnLst>
                              <p:par>
                                <p:cTn id="17" presetID="23" presetClass="entr" presetSubtype="16" fill="hold" nodeType="afterEffect">
                                  <p:stCondLst>
                                    <p:cond delay="0"/>
                                  </p:stCondLst>
                                  <p:childTnLst>
                                    <p:set>
                                      <p:cBhvr>
                                        <p:cTn id="18" dur="1000" fill="hold">
                                          <p:stCondLst>
                                            <p:cond delay="0"/>
                                          </p:stCondLst>
                                        </p:cTn>
                                        <p:tgtEl>
                                          <p:spTgt spid="144"/>
                                        </p:tgtEl>
                                        <p:attrNameLst>
                                          <p:attrName>style.visibility</p:attrName>
                                        </p:attrNameLst>
                                      </p:cBhvr>
                                      <p:to>
                                        <p:strVal val="visible"/>
                                      </p:to>
                                    </p:set>
                                    <p:anim calcmode="lin" valueType="num">
                                      <p:cBhvr>
                                        <p:cTn id="19" dur="1000" fill="hold"/>
                                        <p:tgtEl>
                                          <p:spTgt spid="144"/>
                                        </p:tgtEl>
                                        <p:attrNameLst>
                                          <p:attrName>ppt_w</p:attrName>
                                        </p:attrNameLst>
                                      </p:cBhvr>
                                      <p:tavLst>
                                        <p:tav tm="0">
                                          <p:val>
                                            <p:fltVal val="0"/>
                                          </p:val>
                                        </p:tav>
                                        <p:tav tm="100000">
                                          <p:val>
                                            <p:strVal val="#ppt_w"/>
                                          </p:val>
                                        </p:tav>
                                      </p:tavLst>
                                    </p:anim>
                                    <p:anim calcmode="lin" valueType="num">
                                      <p:cBhvr>
                                        <p:cTn id="20" dur="1000" fill="hold"/>
                                        <p:tgtEl>
                                          <p:spTgt spid="144"/>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000" fill="hold">
                                          <p:stCondLst>
                                            <p:cond delay="0"/>
                                          </p:stCondLst>
                                        </p:cTn>
                                        <p:tgtEl>
                                          <p:spTgt spid="145"/>
                                        </p:tgtEl>
                                        <p:attrNameLst>
                                          <p:attrName>style.visibility</p:attrName>
                                        </p:attrNameLst>
                                      </p:cBhvr>
                                      <p:to>
                                        <p:strVal val="visible"/>
                                      </p:to>
                                    </p:set>
                                    <p:anim calcmode="lin" valueType="num">
                                      <p:cBhvr>
                                        <p:cTn id="23" dur="1000" fill="hold"/>
                                        <p:tgtEl>
                                          <p:spTgt spid="145"/>
                                        </p:tgtEl>
                                        <p:attrNameLst>
                                          <p:attrName>ppt_w</p:attrName>
                                        </p:attrNameLst>
                                      </p:cBhvr>
                                      <p:tavLst>
                                        <p:tav tm="0">
                                          <p:val>
                                            <p:fltVal val="0"/>
                                          </p:val>
                                        </p:tav>
                                        <p:tav tm="100000">
                                          <p:val>
                                            <p:strVal val="#ppt_w"/>
                                          </p:val>
                                        </p:tav>
                                      </p:tavLst>
                                    </p:anim>
                                    <p:anim calcmode="lin" valueType="num">
                                      <p:cBhvr>
                                        <p:cTn id="24" dur="1000" fill="hold"/>
                                        <p:tgtEl>
                                          <p:spTgt spid="14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 name="图形"/>
          <p:cNvGrpSpPr/>
          <p:nvPr/>
        </p:nvGrpSpPr>
        <p:grpSpPr>
          <a:xfrm>
            <a:off x="-477520" y="-918210"/>
            <a:ext cx="3362960" cy="2447925"/>
            <a:chOff x="-752" y="-1446"/>
            <a:chExt cx="5296" cy="3855"/>
          </a:xfrm>
        </p:grpSpPr>
        <p:sp>
          <p:nvSpPr>
            <p:cNvPr id="159"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160" name="图形"/>
            <p:cNvSpPr txBox="1"/>
            <p:nvPr/>
          </p:nvSpPr>
          <p:spPr>
            <a:xfrm>
              <a:off x="1354" y="611"/>
              <a:ext cx="3190" cy="918"/>
            </a:xfrm>
            <a:prstGeom prst="rect">
              <a:avLst/>
            </a:prstGeom>
            <a:noFill/>
          </p:spPr>
          <p:txBody>
            <a:bodyPr wrap="square" lIns="0" tIns="0" rIns="0" bIns="0" rtlCol="0">
              <a:noAutofit/>
            </a:bodyPr>
            <a:lstStyle/>
            <a:p>
              <a:pPr algn="dist"/>
              <a:r>
                <a:rPr lang="zh-CN" sz="36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需求解决</a:t>
              </a:r>
            </a:p>
          </p:txBody>
        </p:sp>
        <p:sp>
          <p:nvSpPr>
            <p:cNvPr id="161"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162" name="图形"/>
          <p:cNvGrpSpPr/>
          <p:nvPr>
            <p:custDataLst>
              <p:tags r:id="rId1"/>
            </p:custDataLst>
          </p:nvPr>
        </p:nvGrpSpPr>
        <p:grpSpPr>
          <a:xfrm>
            <a:off x="1047117" y="1612267"/>
            <a:ext cx="10070465" cy="4274185"/>
            <a:chOff x="1649" y="2279"/>
            <a:chExt cx="15859" cy="6731"/>
          </a:xfrm>
        </p:grpSpPr>
        <p:sp>
          <p:nvSpPr>
            <p:cNvPr id="163" name="图形"/>
            <p:cNvSpPr/>
            <p:nvPr>
              <p:custDataLst>
                <p:tags r:id="rId14"/>
              </p:custDataLst>
            </p:nvPr>
          </p:nvSpPr>
          <p:spPr>
            <a:xfrm>
              <a:off x="1649" y="2279"/>
              <a:ext cx="4985" cy="6731"/>
            </a:xfrm>
            <a:prstGeom prst="rect">
              <a:avLst/>
            </a:prstGeom>
            <a:noFill/>
            <a:ln w="25400">
              <a:solidFill>
                <a:srgbClr val="F7B75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64" name="图形"/>
            <p:cNvSpPr/>
            <p:nvPr>
              <p:custDataLst>
                <p:tags r:id="rId15"/>
              </p:custDataLst>
            </p:nvPr>
          </p:nvSpPr>
          <p:spPr>
            <a:xfrm>
              <a:off x="7086" y="2279"/>
              <a:ext cx="4985" cy="6731"/>
            </a:xfrm>
            <a:prstGeom prst="rect">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65" name="图形"/>
            <p:cNvSpPr/>
            <p:nvPr>
              <p:custDataLst>
                <p:tags r:id="rId16"/>
              </p:custDataLst>
            </p:nvPr>
          </p:nvSpPr>
          <p:spPr>
            <a:xfrm>
              <a:off x="12523" y="2279"/>
              <a:ext cx="4985" cy="6731"/>
            </a:xfrm>
            <a:prstGeom prst="rect">
              <a:avLst/>
            </a:prstGeom>
            <a:noFill/>
            <a:ln w="25400">
              <a:solidFill>
                <a:srgbClr val="F7B75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66" name="图形"/>
            <p:cNvSpPr txBox="1"/>
            <p:nvPr>
              <p:custDataLst>
                <p:tags r:id="rId17"/>
              </p:custDataLst>
            </p:nvPr>
          </p:nvSpPr>
          <p:spPr>
            <a:xfrm>
              <a:off x="2423" y="5482"/>
              <a:ext cx="3437" cy="1539"/>
            </a:xfrm>
            <a:prstGeom prst="rect">
              <a:avLst/>
            </a:prstGeom>
            <a:noFill/>
          </p:spPr>
          <p:txBody>
            <a:bodyPr wrap="square" rtlCol="0">
              <a:spAutoFit/>
            </a:bodyPr>
            <a:lstStyle/>
            <a:p>
              <a:pPr algn="ctr" fontAlgn="auto">
                <a:lnSpc>
                  <a:spcPct val="120000"/>
                </a:lnSpc>
              </a:pPr>
              <a:r>
                <a:rPr lang="zh-CN" altLang="en-US" sz="2400" dirty="0">
                  <a:solidFill>
                    <a:schemeClr val="tx1">
                      <a:lumMod val="75000"/>
                      <a:lumOff val="25000"/>
                    </a:schemeClr>
                  </a:solidFill>
                  <a:latin typeface="Arial" panose="020B0604020202020204"/>
                  <a:ea typeface="微软雅黑" panose="020B0503020204020204" pitchFamily="34" charset="-122"/>
                  <a:cs typeface="思源黑体 Medium" panose="020B0600000000000000" charset="-122"/>
                  <a:sym typeface="Arial" panose="020B0604020202020204"/>
                </a:rPr>
                <a:t>文件的上传</a:t>
              </a:r>
            </a:p>
            <a:p>
              <a:pPr algn="ctr" fontAlgn="auto">
                <a:lnSpc>
                  <a:spcPct val="120000"/>
                </a:lnSpc>
              </a:pPr>
              <a:r>
                <a:rPr lang="zh-CN" altLang="en-US" sz="2400" dirty="0">
                  <a:solidFill>
                    <a:schemeClr val="tx1">
                      <a:lumMod val="75000"/>
                      <a:lumOff val="25000"/>
                    </a:schemeClr>
                  </a:solidFill>
                  <a:latin typeface="Arial" panose="020B0604020202020204"/>
                  <a:ea typeface="微软雅黑" panose="020B0503020204020204" pitchFamily="34" charset="-122"/>
                  <a:cs typeface="思源黑体 Medium" panose="020B0600000000000000" charset="-122"/>
                  <a:sym typeface="Arial" panose="020B0604020202020204"/>
                </a:rPr>
                <a:t>与下载获取</a:t>
              </a:r>
            </a:p>
          </p:txBody>
        </p:sp>
        <p:sp>
          <p:nvSpPr>
            <p:cNvPr id="167" name="图形"/>
            <p:cNvSpPr/>
            <p:nvPr>
              <p:custDataLst>
                <p:tags r:id="rId18"/>
              </p:custDataLst>
            </p:nvPr>
          </p:nvSpPr>
          <p:spPr>
            <a:xfrm>
              <a:off x="2117" y="7894"/>
              <a:ext cx="3628" cy="119"/>
            </a:xfrm>
            <a:prstGeom prst="roundRect">
              <a:avLst/>
            </a:prstGeom>
            <a:solidFill>
              <a:srgbClr val="F7B7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9B8F1"/>
                </a:solidFill>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68" name="图形"/>
            <p:cNvSpPr txBox="1"/>
            <p:nvPr>
              <p:custDataLst>
                <p:tags r:id="rId19"/>
              </p:custDataLst>
            </p:nvPr>
          </p:nvSpPr>
          <p:spPr>
            <a:xfrm>
              <a:off x="2643" y="4038"/>
              <a:ext cx="2560" cy="1420"/>
            </a:xfrm>
            <a:prstGeom prst="rect">
              <a:avLst/>
            </a:prstGeom>
            <a:noFill/>
          </p:spPr>
          <p:txBody>
            <a:bodyPr wrap="square" rtlCol="0">
              <a:spAutoFit/>
            </a:bodyPr>
            <a:lstStyle/>
            <a:p>
              <a:pPr algn="ctr">
                <a:lnSpc>
                  <a:spcPct val="120000"/>
                </a:lnSpc>
              </a:pPr>
              <a:r>
                <a:rPr lang="zh-CN" sz="4400">
                  <a:solidFill>
                    <a:srgbClr val="F7B75D">
                      <a:alpha val="100000"/>
                    </a:srgbClr>
                  </a:solidFill>
                  <a:latin typeface="Arial" panose="020B0604020202020204"/>
                  <a:ea typeface="微软雅黑" panose="020B0503020204020204" pitchFamily="34" charset="-122"/>
                  <a:cs typeface="思源黑体 Normal"/>
                  <a:sym typeface="Arial" panose="020B0604020202020204"/>
                </a:rPr>
                <a:t>需求</a:t>
              </a:r>
              <a:r>
                <a:rPr lang="en-US" sz="4400">
                  <a:solidFill>
                    <a:srgbClr val="F7B75D">
                      <a:alpha val="100000"/>
                    </a:srgbClr>
                  </a:solidFill>
                  <a:latin typeface="Arial" panose="020B0604020202020204"/>
                  <a:ea typeface="微软雅黑" panose="020B0503020204020204" pitchFamily="34" charset="-122"/>
                  <a:cs typeface="思源黑体 Normal"/>
                  <a:sym typeface="Arial" panose="020B0604020202020204"/>
                </a:rPr>
                <a:t>1</a:t>
              </a:r>
            </a:p>
          </p:txBody>
        </p:sp>
        <p:sp>
          <p:nvSpPr>
            <p:cNvPr id="169" name="图形"/>
            <p:cNvSpPr txBox="1"/>
            <p:nvPr>
              <p:custDataLst>
                <p:tags r:id="rId20"/>
              </p:custDataLst>
            </p:nvPr>
          </p:nvSpPr>
          <p:spPr>
            <a:xfrm>
              <a:off x="13297" y="5464"/>
              <a:ext cx="3437" cy="841"/>
            </a:xfrm>
            <a:prstGeom prst="rect">
              <a:avLst/>
            </a:prstGeom>
            <a:noFill/>
          </p:spPr>
          <p:txBody>
            <a:bodyPr wrap="square" rtlCol="0">
              <a:spAutoFit/>
            </a:bodyPr>
            <a:lstStyle/>
            <a:p>
              <a:pPr algn="ctr" fontAlgn="auto">
                <a:lnSpc>
                  <a:spcPct val="120000"/>
                </a:lnSpc>
              </a:pPr>
              <a:r>
                <a:rPr lang="zh-CN" altLang="en-US" sz="2400" dirty="0">
                  <a:solidFill>
                    <a:schemeClr val="tx1">
                      <a:lumMod val="75000"/>
                      <a:lumOff val="25000"/>
                    </a:schemeClr>
                  </a:solidFill>
                  <a:latin typeface="Arial" panose="020B0604020202020204"/>
                  <a:ea typeface="微软雅黑" panose="020B0503020204020204" pitchFamily="34" charset="-122"/>
                  <a:cs typeface="思源黑体 Medium" panose="020B0600000000000000" charset="-122"/>
                  <a:sym typeface="Arial" panose="020B0604020202020204"/>
                </a:rPr>
                <a:t>文件功能实现</a:t>
              </a:r>
            </a:p>
          </p:txBody>
        </p:sp>
        <p:sp>
          <p:nvSpPr>
            <p:cNvPr id="170" name="图形"/>
            <p:cNvSpPr/>
            <p:nvPr>
              <p:custDataLst>
                <p:tags r:id="rId21"/>
              </p:custDataLst>
            </p:nvPr>
          </p:nvSpPr>
          <p:spPr>
            <a:xfrm>
              <a:off x="13468" y="7894"/>
              <a:ext cx="3628" cy="119"/>
            </a:xfrm>
            <a:prstGeom prst="roundRect">
              <a:avLst/>
            </a:prstGeom>
            <a:solidFill>
              <a:srgbClr val="F7B7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9B8F1"/>
                </a:solidFill>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71" name="图形"/>
            <p:cNvSpPr txBox="1"/>
            <p:nvPr>
              <p:custDataLst>
                <p:tags r:id="rId22"/>
              </p:custDataLst>
            </p:nvPr>
          </p:nvSpPr>
          <p:spPr>
            <a:xfrm>
              <a:off x="13736" y="3972"/>
              <a:ext cx="2560" cy="1420"/>
            </a:xfrm>
            <a:prstGeom prst="rect">
              <a:avLst/>
            </a:prstGeom>
            <a:noFill/>
          </p:spPr>
          <p:txBody>
            <a:bodyPr wrap="square" rtlCol="0">
              <a:spAutoFit/>
            </a:bodyPr>
            <a:lstStyle/>
            <a:p>
              <a:pPr algn="ctr">
                <a:lnSpc>
                  <a:spcPct val="120000"/>
                </a:lnSpc>
              </a:pPr>
              <a:r>
                <a:rPr lang="zh-CN" sz="4400">
                  <a:solidFill>
                    <a:srgbClr val="F7B75D">
                      <a:alpha val="100000"/>
                    </a:srgbClr>
                  </a:solidFill>
                  <a:latin typeface="Arial" panose="020B0604020202020204"/>
                  <a:ea typeface="微软雅黑" panose="020B0503020204020204" pitchFamily="34" charset="-122"/>
                  <a:cs typeface="思源黑体 Normal"/>
                  <a:sym typeface="Arial" panose="020B0604020202020204"/>
                </a:rPr>
                <a:t>需求</a:t>
              </a:r>
              <a:r>
                <a:rPr lang="en-US" sz="4400">
                  <a:solidFill>
                    <a:srgbClr val="F7B75D">
                      <a:alpha val="100000"/>
                    </a:srgbClr>
                  </a:solidFill>
                  <a:latin typeface="Arial" panose="020B0604020202020204"/>
                  <a:ea typeface="微软雅黑" panose="020B0503020204020204" pitchFamily="34" charset="-122"/>
                  <a:cs typeface="思源黑体 Normal"/>
                  <a:sym typeface="Arial" panose="020B0604020202020204"/>
                </a:rPr>
                <a:t>3</a:t>
              </a:r>
            </a:p>
          </p:txBody>
        </p:sp>
        <p:sp>
          <p:nvSpPr>
            <p:cNvPr id="172" name="图形"/>
            <p:cNvSpPr txBox="1"/>
            <p:nvPr>
              <p:custDataLst>
                <p:tags r:id="rId23"/>
              </p:custDataLst>
            </p:nvPr>
          </p:nvSpPr>
          <p:spPr>
            <a:xfrm>
              <a:off x="7860" y="5464"/>
              <a:ext cx="3437" cy="841"/>
            </a:xfrm>
            <a:prstGeom prst="rect">
              <a:avLst/>
            </a:prstGeom>
            <a:noFill/>
          </p:spPr>
          <p:txBody>
            <a:bodyPr wrap="square" rtlCol="0">
              <a:spAutoFit/>
            </a:bodyPr>
            <a:lstStyle/>
            <a:p>
              <a:pPr algn="ctr" fontAlgn="auto">
                <a:lnSpc>
                  <a:spcPct val="120000"/>
                </a:lnSpc>
              </a:pPr>
              <a:r>
                <a:rPr lang="zh-CN" altLang="en-US" sz="2400" dirty="0">
                  <a:solidFill>
                    <a:schemeClr val="bg1"/>
                  </a:solidFill>
                  <a:latin typeface="Arial" panose="020B0604020202020204"/>
                  <a:ea typeface="微软雅黑" panose="020B0503020204020204" pitchFamily="34" charset="-122"/>
                  <a:cs typeface="思源黑体 Medium" panose="020B0600000000000000" charset="-122"/>
                  <a:sym typeface="Arial" panose="020B0604020202020204"/>
                </a:rPr>
                <a:t>智能文件生成</a:t>
              </a:r>
            </a:p>
          </p:txBody>
        </p:sp>
        <p:sp>
          <p:nvSpPr>
            <p:cNvPr id="173" name="图形"/>
            <p:cNvSpPr/>
            <p:nvPr>
              <p:custDataLst>
                <p:tags r:id="rId24"/>
              </p:custDataLst>
            </p:nvPr>
          </p:nvSpPr>
          <p:spPr>
            <a:xfrm>
              <a:off x="7799" y="7894"/>
              <a:ext cx="3628" cy="11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174" name="图形"/>
            <p:cNvSpPr txBox="1"/>
            <p:nvPr>
              <p:custDataLst>
                <p:tags r:id="rId25"/>
              </p:custDataLst>
            </p:nvPr>
          </p:nvSpPr>
          <p:spPr>
            <a:xfrm>
              <a:off x="8323" y="3972"/>
              <a:ext cx="2560" cy="1420"/>
            </a:xfrm>
            <a:prstGeom prst="rect">
              <a:avLst/>
            </a:prstGeom>
            <a:noFill/>
          </p:spPr>
          <p:txBody>
            <a:bodyPr wrap="square" rtlCol="0">
              <a:spAutoFit/>
            </a:bodyPr>
            <a:lstStyle/>
            <a:p>
              <a:pPr algn="ctr">
                <a:lnSpc>
                  <a:spcPct val="120000"/>
                </a:lnSpc>
              </a:pPr>
              <a:r>
                <a:rPr lang="zh-CN" sz="4400">
                  <a:solidFill>
                    <a:srgbClr val="FFFFFF">
                      <a:alpha val="100000"/>
                    </a:srgbClr>
                  </a:solidFill>
                  <a:latin typeface="Arial" panose="020B0604020202020204"/>
                  <a:ea typeface="微软雅黑" panose="020B0503020204020204" pitchFamily="34" charset="-122"/>
                  <a:cs typeface="思源黑体 Normal"/>
                  <a:sym typeface="Arial" panose="020B0604020202020204"/>
                </a:rPr>
                <a:t>需求</a:t>
              </a:r>
              <a:r>
                <a:rPr lang="en-US" sz="4400">
                  <a:solidFill>
                    <a:srgbClr val="FFFFFF">
                      <a:alpha val="100000"/>
                    </a:srgbClr>
                  </a:solidFill>
                  <a:latin typeface="Arial" panose="020B0604020202020204"/>
                  <a:ea typeface="微软雅黑" panose="020B0503020204020204" pitchFamily="34" charset="-122"/>
                  <a:cs typeface="思源黑体 Normal"/>
                  <a:sym typeface="Arial" panose="020B0604020202020204"/>
                </a:rPr>
                <a:t>2</a:t>
              </a:r>
            </a:p>
          </p:txBody>
        </p:sp>
      </p:grpSp>
      <p:grpSp>
        <p:nvGrpSpPr>
          <p:cNvPr id="4" name="组合 3"/>
          <p:cNvGrpSpPr/>
          <p:nvPr>
            <p:custDataLst>
              <p:tags r:id="rId2"/>
            </p:custDataLst>
          </p:nvPr>
        </p:nvGrpSpPr>
        <p:grpSpPr>
          <a:xfrm>
            <a:off x="1033145" y="1612265"/>
            <a:ext cx="3179445" cy="4310380"/>
            <a:chOff x="1627" y="2539"/>
            <a:chExt cx="5007" cy="6788"/>
          </a:xfrm>
        </p:grpSpPr>
        <p:sp>
          <p:nvSpPr>
            <p:cNvPr id="193" name="矩形 192"/>
            <p:cNvSpPr/>
            <p:nvPr>
              <p:custDataLst>
                <p:tags r:id="rId11"/>
              </p:custDataLst>
            </p:nvPr>
          </p:nvSpPr>
          <p:spPr>
            <a:xfrm>
              <a:off x="1649" y="2539"/>
              <a:ext cx="4974" cy="6788"/>
            </a:xfrm>
            <a:prstGeom prst="rect">
              <a:avLst/>
            </a:prstGeom>
            <a:solidFill>
              <a:srgbClr val="EFB758">
                <a:alpha val="100000"/>
              </a:srgbClr>
            </a:solidFill>
            <a:ln w="0"/>
          </p:spPr>
          <p:txBody>
            <a:bodyPr anchor="ctr"/>
            <a:lstStyle/>
            <a:p>
              <a:pPr algn="ctr"/>
              <a:endParaRPr/>
            </a:p>
          </p:txBody>
        </p:sp>
        <p:sp>
          <p:nvSpPr>
            <p:cNvPr id="196" name="图形"/>
            <p:cNvSpPr txBox="1"/>
            <p:nvPr>
              <p:custDataLst>
                <p:tags r:id="rId12"/>
              </p:custDataLst>
            </p:nvPr>
          </p:nvSpPr>
          <p:spPr>
            <a:xfrm>
              <a:off x="2308" y="4232"/>
              <a:ext cx="3440" cy="2935"/>
            </a:xfrm>
            <a:prstGeom prst="rect">
              <a:avLst/>
            </a:prstGeom>
            <a:noFill/>
          </p:spPr>
          <p:txBody>
            <a:bodyPr wrap="square" rtlCol="0">
              <a:spAutoFit/>
            </a:bodyPr>
            <a:lstStyle/>
            <a:p>
              <a:pPr algn="ctr">
                <a:lnSpc>
                  <a:spcPct val="120000"/>
                </a:lnSpc>
              </a:pPr>
              <a:r>
                <a:rPr lang="zh-CN" altLang="en-US"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通过部署</a:t>
              </a:r>
              <a:r>
                <a:rPr lang="en-US" altLang="zh-CN"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OCR</a:t>
              </a:r>
              <a:r>
                <a:rPr lang="zh-CN" altLang="en-US"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模型解决识图翻译的图片文字提取功能，</a:t>
              </a:r>
            </a:p>
          </p:txBody>
        </p:sp>
        <p:sp>
          <p:nvSpPr>
            <p:cNvPr id="197" name="图形"/>
            <p:cNvSpPr txBox="1"/>
            <p:nvPr>
              <p:custDataLst>
                <p:tags r:id="rId13"/>
              </p:custDataLst>
            </p:nvPr>
          </p:nvSpPr>
          <p:spPr>
            <a:xfrm>
              <a:off x="1627" y="2888"/>
              <a:ext cx="5007" cy="1074"/>
            </a:xfrm>
            <a:prstGeom prst="rect">
              <a:avLst/>
            </a:prstGeom>
            <a:noFill/>
          </p:spPr>
          <p:txBody>
            <a:bodyPr wrap="square" rtlCol="0">
              <a:spAutoFit/>
            </a:bodyPr>
            <a:lstStyle/>
            <a:p>
              <a:pPr algn="ctr">
                <a:lnSpc>
                  <a:spcPct val="120000"/>
                </a:lnSpc>
              </a:pPr>
              <a:r>
                <a:rPr lang="zh-CN" altLang="en-US" sz="3200" b="1">
                  <a:solidFill>
                    <a:schemeClr val="bg1">
                      <a:alpha val="100000"/>
                    </a:schemeClr>
                  </a:solidFill>
                  <a:latin typeface="Arial" panose="020B0604020202020204"/>
                  <a:ea typeface="微软雅黑" panose="020B0503020204020204" pitchFamily="34" charset="-122"/>
                  <a:cs typeface="思源黑体 Normal"/>
                  <a:sym typeface="Arial" panose="020B0604020202020204"/>
                </a:rPr>
                <a:t>全方位输入需求</a:t>
              </a:r>
            </a:p>
          </p:txBody>
        </p:sp>
      </p:grpSp>
      <p:grpSp>
        <p:nvGrpSpPr>
          <p:cNvPr id="2" name="组合 1"/>
          <p:cNvGrpSpPr/>
          <p:nvPr>
            <p:custDataLst>
              <p:tags r:id="rId3"/>
            </p:custDataLst>
          </p:nvPr>
        </p:nvGrpSpPr>
        <p:grpSpPr>
          <a:xfrm>
            <a:off x="4533900" y="1682750"/>
            <a:ext cx="3126105" cy="4133215"/>
            <a:chOff x="7140" y="2650"/>
            <a:chExt cx="4923" cy="6509"/>
          </a:xfrm>
        </p:grpSpPr>
        <p:sp>
          <p:nvSpPr>
            <p:cNvPr id="194" name="矩形 193"/>
            <p:cNvSpPr/>
            <p:nvPr>
              <p:custDataLst>
                <p:tags r:id="rId8"/>
              </p:custDataLst>
            </p:nvPr>
          </p:nvSpPr>
          <p:spPr>
            <a:xfrm>
              <a:off x="7155" y="2650"/>
              <a:ext cx="4848" cy="6509"/>
            </a:xfrm>
            <a:prstGeom prst="rect">
              <a:avLst/>
            </a:prstGeom>
            <a:solidFill>
              <a:srgbClr val="FFFFFF">
                <a:alpha val="100000"/>
              </a:srgbClr>
            </a:solidFill>
            <a:ln w="0"/>
          </p:spPr>
          <p:txBody>
            <a:bodyPr anchor="ctr"/>
            <a:lstStyle/>
            <a:p>
              <a:pPr algn="ctr"/>
              <a:endParaRPr/>
            </a:p>
          </p:txBody>
        </p:sp>
        <p:sp>
          <p:nvSpPr>
            <p:cNvPr id="198" name="图形"/>
            <p:cNvSpPr txBox="1"/>
            <p:nvPr>
              <p:custDataLst>
                <p:tags r:id="rId9"/>
              </p:custDataLst>
            </p:nvPr>
          </p:nvSpPr>
          <p:spPr>
            <a:xfrm>
              <a:off x="7580" y="4298"/>
              <a:ext cx="3997" cy="3632"/>
            </a:xfrm>
            <a:prstGeom prst="rect">
              <a:avLst/>
            </a:prstGeom>
            <a:noFill/>
          </p:spPr>
          <p:txBody>
            <a:bodyPr wrap="square" rtlCol="0">
              <a:spAutoFit/>
            </a:bodyPr>
            <a:lstStyle/>
            <a:p>
              <a:pPr algn="ctr">
                <a:lnSpc>
                  <a:spcPct val="120000"/>
                </a:lnSpc>
              </a:pPr>
              <a:r>
                <a:rPr lang="zh-CN" altLang="en-US"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通过</a:t>
              </a:r>
              <a:r>
                <a:rPr lang="en-US" altLang="zh-CN"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transformer</a:t>
              </a:r>
              <a:r>
                <a:rPr lang="zh-CN" altLang="en-US"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架构训练</a:t>
              </a:r>
              <a:r>
                <a:rPr lang="en-US" altLang="zh-CN"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a:t>
              </a:r>
              <a:r>
                <a:rPr lang="zh-CN" altLang="en-US"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高速度</a:t>
              </a:r>
              <a:r>
                <a:rPr lang="en-US" altLang="zh-CN"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a:t>
              </a:r>
              <a:r>
                <a:rPr lang="zh-CN" altLang="en-US"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a:t>
              </a:r>
              <a:r>
                <a:rPr lang="en-US" altLang="zh-CN"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a:t>
              </a:r>
              <a:r>
                <a:rPr lang="zh-CN" altLang="en-US"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高精度</a:t>
              </a:r>
              <a:r>
                <a:rPr lang="en-US" altLang="zh-CN"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a:t>
              </a:r>
              <a:r>
                <a:rPr lang="zh-CN" altLang="en-US" sz="240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模型，并且本地部署第三方大模型</a:t>
              </a:r>
            </a:p>
          </p:txBody>
        </p:sp>
        <p:sp>
          <p:nvSpPr>
            <p:cNvPr id="199" name="图形"/>
            <p:cNvSpPr txBox="1"/>
            <p:nvPr>
              <p:custDataLst>
                <p:tags r:id="rId10"/>
              </p:custDataLst>
            </p:nvPr>
          </p:nvSpPr>
          <p:spPr>
            <a:xfrm>
              <a:off x="7140" y="2909"/>
              <a:ext cx="4923" cy="1074"/>
            </a:xfrm>
            <a:prstGeom prst="rect">
              <a:avLst/>
            </a:prstGeom>
            <a:noFill/>
          </p:spPr>
          <p:txBody>
            <a:bodyPr wrap="square" rtlCol="0">
              <a:spAutoFit/>
            </a:bodyPr>
            <a:lstStyle/>
            <a:p>
              <a:pPr algn="ctr">
                <a:lnSpc>
                  <a:spcPct val="120000"/>
                </a:lnSpc>
              </a:pPr>
              <a:r>
                <a:rPr lang="zh-CN" altLang="en-US" sz="3200" b="1">
                  <a:solidFill>
                    <a:schemeClr val="tx1">
                      <a:alpha val="100000"/>
                    </a:schemeClr>
                  </a:solidFill>
                  <a:latin typeface="Arial" panose="020B0604020202020204"/>
                  <a:ea typeface="微软雅黑" panose="020B0503020204020204" pitchFamily="34" charset="-122"/>
                  <a:cs typeface="思源黑体 Normal"/>
                  <a:sym typeface="Arial" panose="020B0604020202020204"/>
                </a:rPr>
                <a:t>个性化输出需求</a:t>
              </a:r>
            </a:p>
          </p:txBody>
        </p:sp>
      </p:grpSp>
      <p:grpSp>
        <p:nvGrpSpPr>
          <p:cNvPr id="3" name="组合 2"/>
          <p:cNvGrpSpPr/>
          <p:nvPr>
            <p:custDataLst>
              <p:tags r:id="rId4"/>
            </p:custDataLst>
          </p:nvPr>
        </p:nvGrpSpPr>
        <p:grpSpPr>
          <a:xfrm>
            <a:off x="7952105" y="1612265"/>
            <a:ext cx="3158490" cy="4310380"/>
            <a:chOff x="12523" y="2539"/>
            <a:chExt cx="4974" cy="6788"/>
          </a:xfrm>
        </p:grpSpPr>
        <p:sp>
          <p:nvSpPr>
            <p:cNvPr id="195" name="矩形 194"/>
            <p:cNvSpPr/>
            <p:nvPr>
              <p:custDataLst>
                <p:tags r:id="rId5"/>
              </p:custDataLst>
            </p:nvPr>
          </p:nvSpPr>
          <p:spPr>
            <a:xfrm>
              <a:off x="12523" y="2539"/>
              <a:ext cx="4974" cy="6788"/>
            </a:xfrm>
            <a:prstGeom prst="rect">
              <a:avLst/>
            </a:prstGeom>
            <a:solidFill>
              <a:srgbClr val="EFB758">
                <a:alpha val="100000"/>
              </a:srgbClr>
            </a:solidFill>
            <a:ln w="0"/>
          </p:spPr>
          <p:txBody>
            <a:bodyPr anchor="ctr"/>
            <a:lstStyle/>
            <a:p>
              <a:pPr algn="ctr"/>
              <a:endParaRPr/>
            </a:p>
          </p:txBody>
        </p:sp>
        <p:sp>
          <p:nvSpPr>
            <p:cNvPr id="200" name="图形"/>
            <p:cNvSpPr txBox="1"/>
            <p:nvPr>
              <p:custDataLst>
                <p:tags r:id="rId6"/>
              </p:custDataLst>
            </p:nvPr>
          </p:nvSpPr>
          <p:spPr>
            <a:xfrm>
              <a:off x="13290" y="4158"/>
              <a:ext cx="3440" cy="4330"/>
            </a:xfrm>
            <a:prstGeom prst="rect">
              <a:avLst/>
            </a:prstGeom>
            <a:noFill/>
          </p:spPr>
          <p:txBody>
            <a:bodyPr wrap="square" rtlCol="0">
              <a:spAutoFit/>
            </a:bodyPr>
            <a:lstStyle/>
            <a:p>
              <a:pPr algn="ctr">
                <a:lnSpc>
                  <a:spcPct val="120000"/>
                </a:lnSpc>
              </a:pPr>
              <a:r>
                <a:rPr lang="zh-CN" altLang="en-US"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采用</a:t>
              </a:r>
              <a:r>
                <a:rPr lang="en-US" altLang="zh-CN"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HTTPS</a:t>
              </a:r>
              <a:r>
                <a:rPr lang="zh-CN" altLang="en-US"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加密传输、用户信息加密存储</a:t>
              </a:r>
              <a:r>
                <a:rPr lang="en-US" altLang="zh-CN"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 </a:t>
              </a:r>
              <a:r>
                <a:rPr lang="zh-CN" altLang="en-US"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a:t>
              </a:r>
              <a:r>
                <a:rPr lang="en-US" altLang="zh-CN"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Token</a:t>
              </a:r>
              <a:r>
                <a:rPr lang="zh-CN" altLang="en-US"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认证机制、保障数据安全</a:t>
              </a:r>
            </a:p>
          </p:txBody>
        </p:sp>
        <p:sp>
          <p:nvSpPr>
            <p:cNvPr id="201" name="图形"/>
            <p:cNvSpPr txBox="1"/>
            <p:nvPr>
              <p:custDataLst>
                <p:tags r:id="rId7"/>
              </p:custDataLst>
            </p:nvPr>
          </p:nvSpPr>
          <p:spPr>
            <a:xfrm>
              <a:off x="12686" y="2909"/>
              <a:ext cx="4796" cy="1074"/>
            </a:xfrm>
            <a:prstGeom prst="rect">
              <a:avLst/>
            </a:prstGeom>
            <a:noFill/>
          </p:spPr>
          <p:txBody>
            <a:bodyPr wrap="square" rtlCol="0">
              <a:spAutoFit/>
            </a:bodyPr>
            <a:lstStyle/>
            <a:p>
              <a:pPr algn="ctr">
                <a:lnSpc>
                  <a:spcPct val="120000"/>
                </a:lnSpc>
              </a:pPr>
              <a:r>
                <a:rPr lang="zh-CN" altLang="en-US" sz="3200" b="1">
                  <a:solidFill>
                    <a:schemeClr val="bg1">
                      <a:alpha val="100000"/>
                    </a:schemeClr>
                  </a:solidFill>
                  <a:latin typeface="Arial" panose="020B0604020202020204"/>
                  <a:ea typeface="微软雅黑" panose="020B0503020204020204" pitchFamily="34" charset="-122"/>
                  <a:cs typeface="思源黑体 Normal"/>
                  <a:sym typeface="Arial" panose="020B0604020202020204"/>
                </a:rPr>
                <a:t>安全与稳定需求</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wipe(left)">
                                      <p:cBhvr>
                                        <p:cTn id="7" dur="500"/>
                                        <p:tgtEl>
                                          <p:spTgt spid="16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p:tgtEl>
                                          <p:spTgt spid="4"/>
                                        </p:tgtEl>
                                        <p:attrNameLst>
                                          <p:attrName>ppt_y</p:attrName>
                                        </p:attrNameLst>
                                      </p:cBhvr>
                                      <p:tavLst>
                                        <p:tav tm="0">
                                          <p:val>
                                            <p:strVal val="#ppt_y-#ppt_h*1.125000"/>
                                          </p:val>
                                        </p:tav>
                                        <p:tav tm="100000">
                                          <p:val>
                                            <p:strVal val="#ppt_y"/>
                                          </p:val>
                                        </p:tav>
                                      </p:tavLst>
                                    </p:anim>
                                    <p:animEffect transition="in" filter="wipe(down)">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down)">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p:tgtEl>
                                          <p:spTgt spid="3"/>
                                        </p:tgtEl>
                                        <p:attrNameLst>
                                          <p:attrName>ppt_y</p:attrName>
                                        </p:attrNameLst>
                                      </p:cBhvr>
                                      <p:tavLst>
                                        <p:tav tm="0">
                                          <p:val>
                                            <p:strVal val="#ppt_y-#ppt_h*1.125000"/>
                                          </p:val>
                                        </p:tav>
                                        <p:tav tm="100000">
                                          <p:val>
                                            <p:strVal val="#ppt_y"/>
                                          </p:val>
                                        </p:tav>
                                      </p:tavLst>
                                    </p:anim>
                                    <p:animEffect transition="in" filter="wipe(down)">
                                      <p:cBhvr>
                                        <p:cTn id="25" dur="500"/>
                                        <p:tgtEl>
                                          <p:spTgt spid="3"/>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3" name="图形"/>
          <p:cNvGrpSpPr/>
          <p:nvPr/>
        </p:nvGrpSpPr>
        <p:grpSpPr>
          <a:xfrm>
            <a:off x="-477520" y="-918210"/>
            <a:ext cx="6062345" cy="2447925"/>
            <a:chOff x="-752" y="-1446"/>
            <a:chExt cx="9547" cy="3855"/>
          </a:xfrm>
        </p:grpSpPr>
        <p:sp>
          <p:nvSpPr>
            <p:cNvPr id="204"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205" name="图形"/>
            <p:cNvSpPr txBox="1"/>
            <p:nvPr/>
          </p:nvSpPr>
          <p:spPr>
            <a:xfrm>
              <a:off x="1354" y="611"/>
              <a:ext cx="7441" cy="918"/>
            </a:xfrm>
            <a:prstGeom prst="rect">
              <a:avLst/>
            </a:prstGeom>
            <a:noFill/>
          </p:spPr>
          <p:txBody>
            <a:bodyPr wrap="square" lIns="0" tIns="0" rIns="0" bIns="0" rtlCol="0">
              <a:noAutofit/>
            </a:bodyPr>
            <a:lstStyle/>
            <a:p>
              <a:pPr algn="dist"/>
              <a:r>
                <a:rPr lang="zh-CN" sz="36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项目经验（技术难点）</a:t>
              </a:r>
            </a:p>
          </p:txBody>
        </p:sp>
        <p:sp>
          <p:nvSpPr>
            <p:cNvPr id="206"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grpSp>
        <p:nvGrpSpPr>
          <p:cNvPr id="207" name="图形"/>
          <p:cNvGrpSpPr/>
          <p:nvPr>
            <p:custDataLst>
              <p:tags r:id="rId1"/>
            </p:custDataLst>
          </p:nvPr>
        </p:nvGrpSpPr>
        <p:grpSpPr>
          <a:xfrm>
            <a:off x="1047117" y="1612267"/>
            <a:ext cx="10070465" cy="4274185"/>
            <a:chOff x="1649" y="2279"/>
            <a:chExt cx="15859" cy="6731"/>
          </a:xfrm>
        </p:grpSpPr>
        <p:sp>
          <p:nvSpPr>
            <p:cNvPr id="208" name="图形"/>
            <p:cNvSpPr/>
            <p:nvPr>
              <p:custDataLst>
                <p:tags r:id="rId14"/>
              </p:custDataLst>
            </p:nvPr>
          </p:nvSpPr>
          <p:spPr>
            <a:xfrm>
              <a:off x="1649" y="2279"/>
              <a:ext cx="4985" cy="6731"/>
            </a:xfrm>
            <a:prstGeom prst="rect">
              <a:avLst/>
            </a:prstGeom>
            <a:noFill/>
            <a:ln w="25400">
              <a:solidFill>
                <a:srgbClr val="F7B75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09" name="图形"/>
            <p:cNvSpPr/>
            <p:nvPr>
              <p:custDataLst>
                <p:tags r:id="rId15"/>
              </p:custDataLst>
            </p:nvPr>
          </p:nvSpPr>
          <p:spPr>
            <a:xfrm>
              <a:off x="7086" y="2279"/>
              <a:ext cx="4985" cy="6731"/>
            </a:xfrm>
            <a:prstGeom prst="rect">
              <a:avLst/>
            </a:pr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10" name="图形"/>
            <p:cNvSpPr/>
            <p:nvPr>
              <p:custDataLst>
                <p:tags r:id="rId16"/>
              </p:custDataLst>
            </p:nvPr>
          </p:nvSpPr>
          <p:spPr>
            <a:xfrm>
              <a:off x="12523" y="2279"/>
              <a:ext cx="4985" cy="6731"/>
            </a:xfrm>
            <a:prstGeom prst="rect">
              <a:avLst/>
            </a:prstGeom>
            <a:noFill/>
            <a:ln w="25400">
              <a:solidFill>
                <a:srgbClr val="F7B75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11" name="图形"/>
            <p:cNvSpPr txBox="1"/>
            <p:nvPr>
              <p:custDataLst>
                <p:tags r:id="rId17"/>
              </p:custDataLst>
            </p:nvPr>
          </p:nvSpPr>
          <p:spPr>
            <a:xfrm>
              <a:off x="2423" y="5482"/>
              <a:ext cx="3437" cy="1539"/>
            </a:xfrm>
            <a:prstGeom prst="rect">
              <a:avLst/>
            </a:prstGeom>
            <a:noFill/>
          </p:spPr>
          <p:txBody>
            <a:bodyPr wrap="square" rtlCol="0">
              <a:spAutoFit/>
            </a:bodyPr>
            <a:lstStyle/>
            <a:p>
              <a:pPr algn="ctr" fontAlgn="auto">
                <a:lnSpc>
                  <a:spcPct val="120000"/>
                </a:lnSpc>
              </a:pPr>
              <a:r>
                <a:rPr lang="zh-CN" altLang="en-US" sz="2400" dirty="0">
                  <a:solidFill>
                    <a:schemeClr val="tx1">
                      <a:lumMod val="75000"/>
                      <a:lumOff val="25000"/>
                    </a:schemeClr>
                  </a:solidFill>
                  <a:latin typeface="Arial" panose="020B0604020202020204"/>
                  <a:ea typeface="微软雅黑" panose="020B0503020204020204" pitchFamily="34" charset="-122"/>
                  <a:cs typeface="思源黑体 Medium" panose="020B0600000000000000" charset="-122"/>
                  <a:sym typeface="Arial" panose="020B0604020202020204"/>
                </a:rPr>
                <a:t>前后端</a:t>
              </a:r>
            </a:p>
            <a:p>
              <a:pPr algn="ctr" fontAlgn="auto">
                <a:lnSpc>
                  <a:spcPct val="120000"/>
                </a:lnSpc>
              </a:pPr>
              <a:r>
                <a:rPr lang="zh-CN" altLang="en-US" sz="2400" dirty="0">
                  <a:solidFill>
                    <a:schemeClr val="tx1">
                      <a:lumMod val="75000"/>
                      <a:lumOff val="25000"/>
                    </a:schemeClr>
                  </a:solidFill>
                  <a:latin typeface="Arial" panose="020B0604020202020204"/>
                  <a:ea typeface="微软雅黑" panose="020B0503020204020204" pitchFamily="34" charset="-122"/>
                  <a:cs typeface="思源黑体 Medium" panose="020B0600000000000000" charset="-122"/>
                  <a:sym typeface="Arial" panose="020B0604020202020204"/>
                </a:rPr>
                <a:t>跨域访问</a:t>
              </a:r>
            </a:p>
          </p:txBody>
        </p:sp>
        <p:sp>
          <p:nvSpPr>
            <p:cNvPr id="212" name="图形"/>
            <p:cNvSpPr/>
            <p:nvPr>
              <p:custDataLst>
                <p:tags r:id="rId18"/>
              </p:custDataLst>
            </p:nvPr>
          </p:nvSpPr>
          <p:spPr>
            <a:xfrm>
              <a:off x="2117" y="7894"/>
              <a:ext cx="3628" cy="119"/>
            </a:xfrm>
            <a:prstGeom prst="roundRect">
              <a:avLst/>
            </a:prstGeom>
            <a:solidFill>
              <a:srgbClr val="F7B7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9B8F1"/>
                </a:solidFill>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13" name="图形"/>
            <p:cNvSpPr txBox="1"/>
            <p:nvPr>
              <p:custDataLst>
                <p:tags r:id="rId19"/>
              </p:custDataLst>
            </p:nvPr>
          </p:nvSpPr>
          <p:spPr>
            <a:xfrm>
              <a:off x="2643" y="4038"/>
              <a:ext cx="2560" cy="1410"/>
            </a:xfrm>
            <a:prstGeom prst="rect">
              <a:avLst/>
            </a:prstGeom>
            <a:noFill/>
          </p:spPr>
          <p:txBody>
            <a:bodyPr wrap="square" rtlCol="0">
              <a:spAutoFit/>
            </a:bodyPr>
            <a:lstStyle/>
            <a:p>
              <a:pPr algn="ctr">
                <a:lnSpc>
                  <a:spcPct val="120000"/>
                </a:lnSpc>
              </a:pPr>
              <a:r>
                <a:rPr lang="zh-CN" sz="4400">
                  <a:solidFill>
                    <a:srgbClr val="F7B75D">
                      <a:alpha val="100000"/>
                    </a:srgbClr>
                  </a:solidFill>
                  <a:latin typeface="Arial" panose="020B0604020202020204"/>
                  <a:ea typeface="微软雅黑" panose="020B0503020204020204" pitchFamily="34" charset="-122"/>
                  <a:cs typeface="思源黑体 Normal"/>
                  <a:sym typeface="Arial" panose="020B0604020202020204"/>
                </a:rPr>
                <a:t>难点</a:t>
              </a:r>
              <a:r>
                <a:rPr lang="en-US" sz="4400">
                  <a:solidFill>
                    <a:srgbClr val="F7B75D">
                      <a:alpha val="100000"/>
                    </a:srgbClr>
                  </a:solidFill>
                  <a:latin typeface="Arial" panose="020B0604020202020204"/>
                  <a:ea typeface="微软雅黑" panose="020B0503020204020204" pitchFamily="34" charset="-122"/>
                  <a:cs typeface="思源黑体 Normal"/>
                  <a:sym typeface="Arial" panose="020B0604020202020204"/>
                </a:rPr>
                <a:t>1</a:t>
              </a:r>
            </a:p>
          </p:txBody>
        </p:sp>
        <p:sp>
          <p:nvSpPr>
            <p:cNvPr id="214" name="图形"/>
            <p:cNvSpPr txBox="1"/>
            <p:nvPr>
              <p:custDataLst>
                <p:tags r:id="rId20"/>
              </p:custDataLst>
            </p:nvPr>
          </p:nvSpPr>
          <p:spPr>
            <a:xfrm>
              <a:off x="13297" y="5464"/>
              <a:ext cx="3660" cy="1539"/>
            </a:xfrm>
            <a:prstGeom prst="rect">
              <a:avLst/>
            </a:prstGeom>
            <a:noFill/>
          </p:spPr>
          <p:txBody>
            <a:bodyPr wrap="square" rtlCol="0">
              <a:spAutoFit/>
            </a:bodyPr>
            <a:lstStyle/>
            <a:p>
              <a:pPr algn="ctr" fontAlgn="auto">
                <a:lnSpc>
                  <a:spcPct val="120000"/>
                </a:lnSpc>
              </a:pPr>
              <a:r>
                <a:rPr lang="zh-CN" altLang="en-US" sz="2400" dirty="0">
                  <a:solidFill>
                    <a:schemeClr val="tx1">
                      <a:lumMod val="75000"/>
                      <a:lumOff val="25000"/>
                    </a:schemeClr>
                  </a:solidFill>
                  <a:latin typeface="Arial" panose="020B0604020202020204"/>
                  <a:ea typeface="微软雅黑" panose="020B0503020204020204" pitchFamily="34" charset="-122"/>
                  <a:cs typeface="思源黑体 Medium" panose="020B0600000000000000" charset="-122"/>
                  <a:sym typeface="Arial" panose="020B0604020202020204"/>
                </a:rPr>
                <a:t>前端、云端、后端信息不同步</a:t>
              </a:r>
            </a:p>
          </p:txBody>
        </p:sp>
        <p:sp>
          <p:nvSpPr>
            <p:cNvPr id="215" name="图形"/>
            <p:cNvSpPr/>
            <p:nvPr>
              <p:custDataLst>
                <p:tags r:id="rId21"/>
              </p:custDataLst>
            </p:nvPr>
          </p:nvSpPr>
          <p:spPr>
            <a:xfrm>
              <a:off x="13468" y="7894"/>
              <a:ext cx="3628" cy="119"/>
            </a:xfrm>
            <a:prstGeom prst="roundRect">
              <a:avLst/>
            </a:prstGeom>
            <a:solidFill>
              <a:srgbClr val="F7B7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B9B8F1"/>
                </a:solidFill>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16" name="图形"/>
            <p:cNvSpPr txBox="1"/>
            <p:nvPr>
              <p:custDataLst>
                <p:tags r:id="rId22"/>
              </p:custDataLst>
            </p:nvPr>
          </p:nvSpPr>
          <p:spPr>
            <a:xfrm>
              <a:off x="13736" y="3972"/>
              <a:ext cx="2560" cy="1410"/>
            </a:xfrm>
            <a:prstGeom prst="rect">
              <a:avLst/>
            </a:prstGeom>
            <a:noFill/>
          </p:spPr>
          <p:txBody>
            <a:bodyPr wrap="square" rtlCol="0">
              <a:spAutoFit/>
            </a:bodyPr>
            <a:lstStyle/>
            <a:p>
              <a:pPr algn="ctr">
                <a:lnSpc>
                  <a:spcPct val="120000"/>
                </a:lnSpc>
              </a:pPr>
              <a:r>
                <a:rPr lang="zh-CN" sz="4400">
                  <a:solidFill>
                    <a:srgbClr val="F7B75D">
                      <a:alpha val="100000"/>
                    </a:srgbClr>
                  </a:solidFill>
                  <a:latin typeface="Arial" panose="020B0604020202020204"/>
                  <a:ea typeface="微软雅黑" panose="020B0503020204020204" pitchFamily="34" charset="-122"/>
                  <a:cs typeface="思源黑体 Normal"/>
                  <a:sym typeface="Arial" panose="020B0604020202020204"/>
                </a:rPr>
                <a:t>难点</a:t>
              </a:r>
              <a:r>
                <a:rPr lang="en-US" sz="4400">
                  <a:solidFill>
                    <a:srgbClr val="F7B75D">
                      <a:alpha val="100000"/>
                    </a:srgbClr>
                  </a:solidFill>
                  <a:latin typeface="Arial" panose="020B0604020202020204"/>
                  <a:ea typeface="微软雅黑" panose="020B0503020204020204" pitchFamily="34" charset="-122"/>
                  <a:cs typeface="思源黑体 Normal"/>
                  <a:sym typeface="Arial" panose="020B0604020202020204"/>
                </a:rPr>
                <a:t>3</a:t>
              </a:r>
            </a:p>
          </p:txBody>
        </p:sp>
        <p:sp>
          <p:nvSpPr>
            <p:cNvPr id="217" name="图形"/>
            <p:cNvSpPr txBox="1"/>
            <p:nvPr>
              <p:custDataLst>
                <p:tags r:id="rId23"/>
              </p:custDataLst>
            </p:nvPr>
          </p:nvSpPr>
          <p:spPr>
            <a:xfrm>
              <a:off x="7585" y="5464"/>
              <a:ext cx="4184" cy="2237"/>
            </a:xfrm>
            <a:prstGeom prst="rect">
              <a:avLst/>
            </a:prstGeom>
            <a:noFill/>
          </p:spPr>
          <p:txBody>
            <a:bodyPr wrap="square" rtlCol="0">
              <a:spAutoFit/>
            </a:bodyPr>
            <a:lstStyle/>
            <a:p>
              <a:pPr algn="ctr" fontAlgn="auto">
                <a:lnSpc>
                  <a:spcPct val="120000"/>
                </a:lnSpc>
              </a:pPr>
              <a:r>
                <a:rPr lang="en-US" altLang="zh-CN" sz="2400" dirty="0">
                  <a:solidFill>
                    <a:schemeClr val="bg1"/>
                  </a:solidFill>
                  <a:latin typeface="Arial" panose="020B0604020202020204"/>
                  <a:ea typeface="微软雅黑" panose="020B0503020204020204" pitchFamily="34" charset="-122"/>
                  <a:cs typeface="思源黑体 Medium" panose="020B0600000000000000" charset="-122"/>
                  <a:sym typeface="Arial" panose="020B0604020202020204"/>
                </a:rPr>
                <a:t>Image_to_Text</a:t>
              </a:r>
              <a:r>
                <a:rPr lang="zh-CN" altLang="en-US" sz="2400" dirty="0">
                  <a:solidFill>
                    <a:schemeClr val="bg1"/>
                  </a:solidFill>
                  <a:latin typeface="Arial" panose="020B0604020202020204"/>
                  <a:ea typeface="微软雅黑" panose="020B0503020204020204" pitchFamily="34" charset="-122"/>
                  <a:cs typeface="思源黑体 Medium" panose="020B0600000000000000" charset="-122"/>
                  <a:sym typeface="Arial" panose="020B0604020202020204"/>
                </a:rPr>
                <a:t>大模型微调（数据集、模板、代码）</a:t>
              </a:r>
            </a:p>
          </p:txBody>
        </p:sp>
        <p:sp>
          <p:nvSpPr>
            <p:cNvPr id="218" name="图形"/>
            <p:cNvSpPr/>
            <p:nvPr>
              <p:custDataLst>
                <p:tags r:id="rId24"/>
              </p:custDataLst>
            </p:nvPr>
          </p:nvSpPr>
          <p:spPr>
            <a:xfrm>
              <a:off x="7799" y="7894"/>
              <a:ext cx="3628" cy="11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19" name="图形"/>
            <p:cNvSpPr txBox="1"/>
            <p:nvPr>
              <p:custDataLst>
                <p:tags r:id="rId25"/>
              </p:custDataLst>
            </p:nvPr>
          </p:nvSpPr>
          <p:spPr>
            <a:xfrm>
              <a:off x="8323" y="3972"/>
              <a:ext cx="2560" cy="1410"/>
            </a:xfrm>
            <a:prstGeom prst="rect">
              <a:avLst/>
            </a:prstGeom>
            <a:noFill/>
          </p:spPr>
          <p:txBody>
            <a:bodyPr wrap="square" rtlCol="0">
              <a:spAutoFit/>
            </a:bodyPr>
            <a:lstStyle/>
            <a:p>
              <a:pPr algn="ctr">
                <a:lnSpc>
                  <a:spcPct val="120000"/>
                </a:lnSpc>
              </a:pPr>
              <a:r>
                <a:rPr lang="zh-CN" sz="4400">
                  <a:solidFill>
                    <a:srgbClr val="FFFFFF">
                      <a:alpha val="100000"/>
                    </a:srgbClr>
                  </a:solidFill>
                  <a:latin typeface="Arial" panose="020B0604020202020204"/>
                  <a:ea typeface="微软雅黑" panose="020B0503020204020204" pitchFamily="34" charset="-122"/>
                  <a:cs typeface="思源黑体 Normal"/>
                  <a:sym typeface="Arial" panose="020B0604020202020204"/>
                </a:rPr>
                <a:t>难点</a:t>
              </a:r>
              <a:r>
                <a:rPr lang="en-US" sz="4400">
                  <a:solidFill>
                    <a:srgbClr val="FFFFFF">
                      <a:alpha val="100000"/>
                    </a:srgbClr>
                  </a:solidFill>
                  <a:latin typeface="Arial" panose="020B0604020202020204"/>
                  <a:ea typeface="微软雅黑" panose="020B0503020204020204" pitchFamily="34" charset="-122"/>
                  <a:cs typeface="思源黑体 Normal"/>
                  <a:sym typeface="Arial" panose="020B0604020202020204"/>
                </a:rPr>
                <a:t>2</a:t>
              </a:r>
            </a:p>
          </p:txBody>
        </p:sp>
      </p:grpSp>
      <p:grpSp>
        <p:nvGrpSpPr>
          <p:cNvPr id="4" name="组合 3"/>
          <p:cNvGrpSpPr/>
          <p:nvPr>
            <p:custDataLst>
              <p:tags r:id="rId2"/>
            </p:custDataLst>
          </p:nvPr>
        </p:nvGrpSpPr>
        <p:grpSpPr>
          <a:xfrm>
            <a:off x="1047115" y="1612265"/>
            <a:ext cx="3158490" cy="4310380"/>
            <a:chOff x="1649" y="2539"/>
            <a:chExt cx="4974" cy="6788"/>
          </a:xfrm>
        </p:grpSpPr>
        <p:sp>
          <p:nvSpPr>
            <p:cNvPr id="238" name="矩形 237"/>
            <p:cNvSpPr/>
            <p:nvPr>
              <p:custDataLst>
                <p:tags r:id="rId11"/>
              </p:custDataLst>
            </p:nvPr>
          </p:nvSpPr>
          <p:spPr>
            <a:xfrm>
              <a:off x="1649" y="2539"/>
              <a:ext cx="4974" cy="6788"/>
            </a:xfrm>
            <a:prstGeom prst="rect">
              <a:avLst/>
            </a:prstGeom>
            <a:solidFill>
              <a:srgbClr val="EFB758">
                <a:alpha val="100000"/>
              </a:srgbClr>
            </a:solidFill>
            <a:ln w="0"/>
          </p:spPr>
          <p:txBody>
            <a:bodyPr anchor="ctr"/>
            <a:lstStyle/>
            <a:p>
              <a:pPr algn="ctr"/>
              <a:endParaRPr/>
            </a:p>
          </p:txBody>
        </p:sp>
        <p:sp>
          <p:nvSpPr>
            <p:cNvPr id="241" name="图形"/>
            <p:cNvSpPr txBox="1"/>
            <p:nvPr>
              <p:custDataLst>
                <p:tags r:id="rId12"/>
              </p:custDataLst>
            </p:nvPr>
          </p:nvSpPr>
          <p:spPr>
            <a:xfrm>
              <a:off x="2308" y="4232"/>
              <a:ext cx="3440" cy="4330"/>
            </a:xfrm>
            <a:prstGeom prst="rect">
              <a:avLst/>
            </a:prstGeom>
            <a:noFill/>
          </p:spPr>
          <p:txBody>
            <a:bodyPr wrap="square" rtlCol="0">
              <a:spAutoFit/>
            </a:bodyPr>
            <a:lstStyle/>
            <a:p>
              <a:pPr algn="ctr">
                <a:lnSpc>
                  <a:spcPct val="120000"/>
                </a:lnSpc>
              </a:pPr>
              <a:r>
                <a:rPr lang="zh-CN" altLang="en-US"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利用前端控制台日志和后端测试输出不断测试来查找前后端交互的最佳匹配</a:t>
              </a:r>
            </a:p>
          </p:txBody>
        </p:sp>
        <p:sp>
          <p:nvSpPr>
            <p:cNvPr id="242" name="图形"/>
            <p:cNvSpPr txBox="1"/>
            <p:nvPr>
              <p:custDataLst>
                <p:tags r:id="rId13"/>
              </p:custDataLst>
            </p:nvPr>
          </p:nvSpPr>
          <p:spPr>
            <a:xfrm>
              <a:off x="1649" y="2888"/>
              <a:ext cx="4886" cy="1074"/>
            </a:xfrm>
            <a:prstGeom prst="rect">
              <a:avLst/>
            </a:prstGeom>
            <a:noFill/>
          </p:spPr>
          <p:txBody>
            <a:bodyPr wrap="square" rtlCol="0">
              <a:spAutoFit/>
            </a:bodyPr>
            <a:lstStyle/>
            <a:p>
              <a:pPr algn="ctr">
                <a:lnSpc>
                  <a:spcPct val="120000"/>
                </a:lnSpc>
              </a:pPr>
              <a:r>
                <a:rPr lang="zh-CN" altLang="en-US" sz="3200" b="1">
                  <a:solidFill>
                    <a:schemeClr val="bg1">
                      <a:alpha val="100000"/>
                    </a:schemeClr>
                  </a:solidFill>
                  <a:latin typeface="Arial" panose="020B0604020202020204"/>
                  <a:ea typeface="微软雅黑" panose="020B0503020204020204" pitchFamily="34" charset="-122"/>
                  <a:cs typeface="思源黑体 Normal"/>
                  <a:sym typeface="Arial" panose="020B0604020202020204"/>
                </a:rPr>
                <a:t>前后端交互方面</a:t>
              </a:r>
            </a:p>
          </p:txBody>
        </p:sp>
      </p:grpSp>
      <p:grpSp>
        <p:nvGrpSpPr>
          <p:cNvPr id="2" name="组合 1"/>
          <p:cNvGrpSpPr/>
          <p:nvPr>
            <p:custDataLst>
              <p:tags r:id="rId3"/>
            </p:custDataLst>
          </p:nvPr>
        </p:nvGrpSpPr>
        <p:grpSpPr>
          <a:xfrm>
            <a:off x="4543425" y="1682750"/>
            <a:ext cx="3078480" cy="4133215"/>
            <a:chOff x="7155" y="2650"/>
            <a:chExt cx="4848" cy="6509"/>
          </a:xfrm>
        </p:grpSpPr>
        <p:sp>
          <p:nvSpPr>
            <p:cNvPr id="239" name="矩形 238"/>
            <p:cNvSpPr/>
            <p:nvPr>
              <p:custDataLst>
                <p:tags r:id="rId8"/>
              </p:custDataLst>
            </p:nvPr>
          </p:nvSpPr>
          <p:spPr>
            <a:xfrm>
              <a:off x="7155" y="2650"/>
              <a:ext cx="4848" cy="6509"/>
            </a:xfrm>
            <a:prstGeom prst="rect">
              <a:avLst/>
            </a:prstGeom>
            <a:solidFill>
              <a:srgbClr val="FFFFFF">
                <a:alpha val="100000"/>
              </a:srgbClr>
            </a:solidFill>
            <a:ln w="0"/>
          </p:spPr>
          <p:txBody>
            <a:bodyPr anchor="ctr"/>
            <a:lstStyle/>
            <a:p>
              <a:pPr algn="ctr"/>
              <a:endParaRPr/>
            </a:p>
          </p:txBody>
        </p:sp>
        <p:sp>
          <p:nvSpPr>
            <p:cNvPr id="243" name="图形"/>
            <p:cNvSpPr txBox="1"/>
            <p:nvPr>
              <p:custDataLst>
                <p:tags r:id="rId9"/>
              </p:custDataLst>
            </p:nvPr>
          </p:nvSpPr>
          <p:spPr>
            <a:xfrm>
              <a:off x="7515" y="4298"/>
              <a:ext cx="4289" cy="4330"/>
            </a:xfrm>
            <a:prstGeom prst="rect">
              <a:avLst/>
            </a:prstGeom>
            <a:noFill/>
          </p:spPr>
          <p:txBody>
            <a:bodyPr wrap="square" rtlCol="0">
              <a:spAutoFit/>
            </a:bodyPr>
            <a:lstStyle/>
            <a:p>
              <a:pPr algn="ctr">
                <a:lnSpc>
                  <a:spcPct val="120000"/>
                </a:lnSpc>
              </a:pPr>
              <a:r>
                <a:rPr lang="zh-CN" altLang="en-US" sz="2400" dirty="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对于第一次使用的华为昇腾平台，我们选用了适配</a:t>
              </a:r>
              <a:r>
                <a:rPr lang="en-US" altLang="zh-CN" sz="2400" dirty="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Ascend</a:t>
              </a:r>
              <a:r>
                <a:rPr lang="zh-CN" altLang="en-US" sz="2400" dirty="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的</a:t>
              </a:r>
              <a:r>
                <a:rPr lang="en-US" altLang="zh-CN" sz="2400" dirty="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 Mindspore 3.6.0 </a:t>
              </a:r>
              <a:r>
                <a:rPr lang="zh-CN" altLang="en-US" sz="2400" dirty="0">
                  <a:solidFill>
                    <a:schemeClr val="tx1">
                      <a:alpha val="100000"/>
                    </a:schemeClr>
                  </a:solidFill>
                  <a:latin typeface="Arial" panose="020B0604020202020204"/>
                  <a:ea typeface="微软雅黑" panose="020B0503020204020204" pitchFamily="34" charset="-122"/>
                  <a:cs typeface="思源黑体 Medium"/>
                  <a:sym typeface="Arial" panose="020B0604020202020204"/>
                </a:rPr>
                <a:t>环境</a:t>
              </a:r>
            </a:p>
          </p:txBody>
        </p:sp>
        <p:sp>
          <p:nvSpPr>
            <p:cNvPr id="244" name="图形"/>
            <p:cNvSpPr txBox="1"/>
            <p:nvPr>
              <p:custDataLst>
                <p:tags r:id="rId10"/>
              </p:custDataLst>
            </p:nvPr>
          </p:nvSpPr>
          <p:spPr>
            <a:xfrm>
              <a:off x="7237" y="2888"/>
              <a:ext cx="4702" cy="1074"/>
            </a:xfrm>
            <a:prstGeom prst="rect">
              <a:avLst/>
            </a:prstGeom>
            <a:noFill/>
          </p:spPr>
          <p:txBody>
            <a:bodyPr wrap="square" rtlCol="0">
              <a:spAutoFit/>
            </a:bodyPr>
            <a:lstStyle/>
            <a:p>
              <a:pPr algn="ctr">
                <a:lnSpc>
                  <a:spcPct val="120000"/>
                </a:lnSpc>
              </a:pPr>
              <a:r>
                <a:rPr lang="zh-CN" altLang="en-US" sz="3200" b="1">
                  <a:solidFill>
                    <a:schemeClr val="tx1">
                      <a:alpha val="100000"/>
                    </a:schemeClr>
                  </a:solidFill>
                  <a:latin typeface="Arial" panose="020B0604020202020204"/>
                  <a:ea typeface="微软雅黑" panose="020B0503020204020204" pitchFamily="34" charset="-122"/>
                  <a:cs typeface="思源黑体 Normal"/>
                  <a:sym typeface="Arial" panose="020B0604020202020204"/>
                </a:rPr>
                <a:t>训练环境配置</a:t>
              </a:r>
            </a:p>
          </p:txBody>
        </p:sp>
      </p:grpSp>
      <p:grpSp>
        <p:nvGrpSpPr>
          <p:cNvPr id="3" name="组合 2"/>
          <p:cNvGrpSpPr/>
          <p:nvPr>
            <p:custDataLst>
              <p:tags r:id="rId4"/>
            </p:custDataLst>
          </p:nvPr>
        </p:nvGrpSpPr>
        <p:grpSpPr>
          <a:xfrm>
            <a:off x="7858125" y="1612265"/>
            <a:ext cx="3263265" cy="4310380"/>
            <a:chOff x="12375" y="2539"/>
            <a:chExt cx="5139" cy="6788"/>
          </a:xfrm>
        </p:grpSpPr>
        <p:sp>
          <p:nvSpPr>
            <p:cNvPr id="240" name="矩形 239"/>
            <p:cNvSpPr/>
            <p:nvPr>
              <p:custDataLst>
                <p:tags r:id="rId5"/>
              </p:custDataLst>
            </p:nvPr>
          </p:nvSpPr>
          <p:spPr>
            <a:xfrm>
              <a:off x="12523" y="2539"/>
              <a:ext cx="4974" cy="6788"/>
            </a:xfrm>
            <a:prstGeom prst="rect">
              <a:avLst/>
            </a:prstGeom>
            <a:solidFill>
              <a:srgbClr val="EFB758">
                <a:alpha val="100000"/>
              </a:srgbClr>
            </a:solidFill>
            <a:ln w="0"/>
          </p:spPr>
          <p:txBody>
            <a:bodyPr anchor="ctr"/>
            <a:lstStyle/>
            <a:p>
              <a:pPr algn="ctr"/>
              <a:endParaRPr/>
            </a:p>
          </p:txBody>
        </p:sp>
        <p:sp>
          <p:nvSpPr>
            <p:cNvPr id="245" name="图形"/>
            <p:cNvSpPr txBox="1"/>
            <p:nvPr>
              <p:custDataLst>
                <p:tags r:id="rId6"/>
              </p:custDataLst>
            </p:nvPr>
          </p:nvSpPr>
          <p:spPr>
            <a:xfrm>
              <a:off x="13290" y="4158"/>
              <a:ext cx="3440" cy="5028"/>
            </a:xfrm>
            <a:prstGeom prst="rect">
              <a:avLst/>
            </a:prstGeom>
            <a:noFill/>
          </p:spPr>
          <p:txBody>
            <a:bodyPr wrap="square" rtlCol="0">
              <a:spAutoFit/>
            </a:bodyPr>
            <a:lstStyle/>
            <a:p>
              <a:pPr algn="ctr">
                <a:lnSpc>
                  <a:spcPct val="120000"/>
                </a:lnSpc>
              </a:pPr>
              <a:r>
                <a:rPr lang="zh-CN" altLang="en-US" sz="2400">
                  <a:solidFill>
                    <a:schemeClr val="bg1">
                      <a:alpha val="100000"/>
                    </a:schemeClr>
                  </a:solidFill>
                  <a:latin typeface="Arial" panose="020B0604020202020204"/>
                  <a:ea typeface="微软雅黑" panose="020B0503020204020204" pitchFamily="34" charset="-122"/>
                  <a:cs typeface="思源黑体 Medium"/>
                  <a:sym typeface="Arial" panose="020B0604020202020204"/>
                </a:rPr>
                <a:t>将翻译模型整合在脚本文件中，实现一键加载和端口监听，脚本启动后自动完成模型初始化</a:t>
              </a:r>
            </a:p>
          </p:txBody>
        </p:sp>
        <p:sp>
          <p:nvSpPr>
            <p:cNvPr id="246" name="图形"/>
            <p:cNvSpPr txBox="1"/>
            <p:nvPr>
              <p:custDataLst>
                <p:tags r:id="rId7"/>
              </p:custDataLst>
            </p:nvPr>
          </p:nvSpPr>
          <p:spPr>
            <a:xfrm>
              <a:off x="12375" y="2814"/>
              <a:ext cx="5139" cy="1074"/>
            </a:xfrm>
            <a:prstGeom prst="rect">
              <a:avLst/>
            </a:prstGeom>
            <a:noFill/>
          </p:spPr>
          <p:txBody>
            <a:bodyPr wrap="square" rtlCol="0">
              <a:spAutoFit/>
            </a:bodyPr>
            <a:lstStyle/>
            <a:p>
              <a:pPr algn="ctr">
                <a:lnSpc>
                  <a:spcPct val="120000"/>
                </a:lnSpc>
              </a:pPr>
              <a:r>
                <a:rPr lang="zh-CN" altLang="en-US" sz="3200" b="1">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模型</a:t>
              </a:r>
              <a:r>
                <a:rPr lang="en-US" altLang="zh-CN" sz="3200" b="1">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API</a:t>
              </a:r>
              <a:r>
                <a:rPr lang="zh-CN" altLang="en-US" sz="3200" b="1">
                  <a:solidFill>
                    <a:schemeClr val="bg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封装</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wipe(left)">
                                      <p:cBhvr>
                                        <p:cTn id="7" dur="500"/>
                                        <p:tgtEl>
                                          <p:spTgt spid="20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p:tgtEl>
                                          <p:spTgt spid="4"/>
                                        </p:tgtEl>
                                        <p:attrNameLst>
                                          <p:attrName>ppt_y</p:attrName>
                                        </p:attrNameLst>
                                      </p:cBhvr>
                                      <p:tavLst>
                                        <p:tav tm="0">
                                          <p:val>
                                            <p:strVal val="#ppt_y-#ppt_h*1.125000"/>
                                          </p:val>
                                        </p:tav>
                                        <p:tav tm="100000">
                                          <p:val>
                                            <p:strVal val="#ppt_y"/>
                                          </p:val>
                                        </p:tav>
                                      </p:tavLst>
                                    </p:anim>
                                    <p:animEffect transition="in" filter="wipe(down)">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down)">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p:tgtEl>
                                          <p:spTgt spid="3"/>
                                        </p:tgtEl>
                                        <p:attrNameLst>
                                          <p:attrName>ppt_y</p:attrName>
                                        </p:attrNameLst>
                                      </p:cBhvr>
                                      <p:tavLst>
                                        <p:tav tm="0">
                                          <p:val>
                                            <p:strVal val="#ppt_y-#ppt_h*1.125000"/>
                                          </p:val>
                                        </p:tav>
                                        <p:tav tm="100000">
                                          <p:val>
                                            <p:strVal val="#ppt_y"/>
                                          </p:val>
                                        </p:tav>
                                      </p:tavLst>
                                    </p:anim>
                                    <p:animEffect transition="in" filter="wipe(down)">
                                      <p:cBhvr>
                                        <p:cTn id="25" dur="500"/>
                                        <p:tgtEl>
                                          <p:spTgt spid="3"/>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8" name="图形"/>
          <p:cNvGrpSpPr/>
          <p:nvPr/>
        </p:nvGrpSpPr>
        <p:grpSpPr>
          <a:xfrm>
            <a:off x="-477520" y="-918210"/>
            <a:ext cx="6020435" cy="2447925"/>
            <a:chOff x="-752" y="-1446"/>
            <a:chExt cx="9481" cy="3855"/>
          </a:xfrm>
        </p:grpSpPr>
        <p:sp>
          <p:nvSpPr>
            <p:cNvPr id="249"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250" name="图形"/>
            <p:cNvSpPr txBox="1"/>
            <p:nvPr/>
          </p:nvSpPr>
          <p:spPr>
            <a:xfrm>
              <a:off x="1354" y="611"/>
              <a:ext cx="7375" cy="918"/>
            </a:xfrm>
            <a:prstGeom prst="rect">
              <a:avLst/>
            </a:prstGeom>
            <a:noFill/>
          </p:spPr>
          <p:txBody>
            <a:bodyPr wrap="square" lIns="0" tIns="0" rIns="0" bIns="0" rtlCol="0">
              <a:noAutofit/>
            </a:bodyPr>
            <a:lstStyle/>
            <a:p>
              <a:pPr algn="dist"/>
              <a:r>
                <a:rPr lang="zh-CN" sz="3600" b="1">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项目经验（团队收获）</a:t>
              </a:r>
            </a:p>
          </p:txBody>
        </p:sp>
        <p:sp>
          <p:nvSpPr>
            <p:cNvPr id="251"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252" name="TextBox 10"/>
          <p:cNvSpPr txBox="1">
            <a:spLocks noChangeArrowheads="1"/>
          </p:cNvSpPr>
          <p:nvPr>
            <p:custDataLst>
              <p:tags r:id="rId1"/>
            </p:custDataLst>
          </p:nvPr>
        </p:nvSpPr>
        <p:spPr bwMode="auto">
          <a:xfrm>
            <a:off x="4387850" y="2462530"/>
            <a:ext cx="7620635" cy="829945"/>
          </a:xfrm>
          <a:prstGeom prst="rect">
            <a:avLst/>
          </a:prstGeom>
          <a:noFill/>
          <a:ln>
            <a:noFill/>
          </a:ln>
        </p:spPr>
        <p:txBody>
          <a:bodyPr wrap="square">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2400" kern="0" dirty="0">
                <a:latin typeface="宋体" panose="02010600030101010101" pitchFamily="2" charset="-122"/>
                <a:ea typeface="宋体" panose="02010600030101010101" pitchFamily="2" charset="-122"/>
                <a:cs typeface="+mn-ea"/>
                <a:sym typeface="+mn-lt"/>
              </a:rPr>
              <a:t>深入学习了</a:t>
            </a:r>
            <a:r>
              <a:rPr lang="zh-CN" altLang="en-US" sz="2400" b="1" kern="0" dirty="0">
                <a:solidFill>
                  <a:srgbClr val="A4A4ED"/>
                </a:solidFill>
                <a:latin typeface="宋体" panose="02010600030101010101" pitchFamily="2" charset="-122"/>
                <a:ea typeface="宋体" panose="02010600030101010101" pitchFamily="2" charset="-122"/>
                <a:cs typeface="+mn-ea"/>
                <a:sym typeface="+mn-lt"/>
              </a:rPr>
              <a:t>前端开发</a:t>
            </a:r>
            <a:r>
              <a:rPr lang="zh-CN" altLang="en-US" sz="2400" kern="0" dirty="0">
                <a:latin typeface="宋体" panose="02010600030101010101" pitchFamily="2" charset="-122"/>
                <a:ea typeface="宋体" panose="02010600030101010101" pitchFamily="2" charset="-122"/>
                <a:cs typeface="+mn-ea"/>
                <a:sym typeface="+mn-lt"/>
              </a:rPr>
              <a:t>框架，对前端开发有了深层的实践体验。掌握了前端与后端大模型通信访问的实现</a:t>
            </a:r>
          </a:p>
        </p:txBody>
      </p:sp>
      <p:sp>
        <p:nvSpPr>
          <p:cNvPr id="254" name="TextBox 12"/>
          <p:cNvSpPr txBox="1">
            <a:spLocks noChangeArrowheads="1"/>
          </p:cNvSpPr>
          <p:nvPr>
            <p:custDataLst>
              <p:tags r:id="rId2"/>
            </p:custDataLst>
          </p:nvPr>
        </p:nvSpPr>
        <p:spPr bwMode="auto">
          <a:xfrm>
            <a:off x="4387850" y="4293870"/>
            <a:ext cx="7445375" cy="830997"/>
          </a:xfrm>
          <a:prstGeom prst="rect">
            <a:avLst/>
          </a:prstGeom>
          <a:noFill/>
          <a:ln>
            <a:noFill/>
          </a:ln>
        </p:spPr>
        <p:txBody>
          <a:bodyPr wrap="square">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2400" kern="0" dirty="0">
                <a:solidFill>
                  <a:srgbClr val="484849"/>
                </a:solidFill>
                <a:latin typeface="宋体" panose="02010600030101010101" pitchFamily="2" charset="-122"/>
                <a:ea typeface="宋体" panose="02010600030101010101" pitchFamily="2" charset="-122"/>
                <a:cs typeface="+mn-ea"/>
                <a:sym typeface="+mn-lt"/>
              </a:rPr>
              <a:t>体验了在服务器上部署大模型的整个流程，并学习了</a:t>
            </a:r>
            <a:r>
              <a:rPr lang="zh-CN" altLang="en-US" sz="2400" b="1" kern="0" dirty="0">
                <a:solidFill>
                  <a:srgbClr val="A4A4ED"/>
                </a:solidFill>
                <a:latin typeface="宋体" panose="02010600030101010101" pitchFamily="2" charset="-122"/>
                <a:ea typeface="宋体" panose="02010600030101010101" pitchFamily="2" charset="-122"/>
                <a:cs typeface="+mn-ea"/>
                <a:sym typeface="+mn-lt"/>
              </a:rPr>
              <a:t>LLa</a:t>
            </a:r>
            <a:r>
              <a:rPr lang="en-US" altLang="zh-CN" sz="2400" b="1" kern="0" dirty="0">
                <a:solidFill>
                  <a:srgbClr val="A4A4ED"/>
                </a:solidFill>
                <a:latin typeface="宋体" panose="02010600030101010101" pitchFamily="2" charset="-122"/>
                <a:ea typeface="宋体" panose="02010600030101010101" pitchFamily="2" charset="-122"/>
                <a:cs typeface="+mn-ea"/>
                <a:sym typeface="+mn-lt"/>
              </a:rPr>
              <a:t>MA</a:t>
            </a:r>
            <a:r>
              <a:rPr lang="zh-CN" altLang="en-US" sz="2400" b="1" kern="0" dirty="0">
                <a:solidFill>
                  <a:srgbClr val="A4A4ED"/>
                </a:solidFill>
                <a:latin typeface="宋体" panose="02010600030101010101" pitchFamily="2" charset="-122"/>
                <a:ea typeface="宋体" panose="02010600030101010101" pitchFamily="2" charset="-122"/>
                <a:cs typeface="+mn-ea"/>
                <a:sym typeface="+mn-lt"/>
              </a:rPr>
              <a:t>-Factory微调</a:t>
            </a:r>
            <a:r>
              <a:rPr lang="zh-CN" altLang="en-US" sz="2400" kern="0" dirty="0">
                <a:solidFill>
                  <a:srgbClr val="484849"/>
                </a:solidFill>
                <a:latin typeface="宋体" panose="02010600030101010101" pitchFamily="2" charset="-122"/>
                <a:ea typeface="宋体" panose="02010600030101010101" pitchFamily="2" charset="-122"/>
                <a:cs typeface="+mn-ea"/>
                <a:sym typeface="+mn-lt"/>
              </a:rPr>
              <a:t>算法，提升大模型技术的实践理解</a:t>
            </a:r>
          </a:p>
        </p:txBody>
      </p:sp>
      <p:sp>
        <p:nvSpPr>
          <p:cNvPr id="255" name="椭圆 7"/>
          <p:cNvSpPr>
            <a:spLocks noChangeArrowheads="1"/>
          </p:cNvSpPr>
          <p:nvPr>
            <p:custDataLst>
              <p:tags r:id="rId3"/>
            </p:custDataLst>
          </p:nvPr>
        </p:nvSpPr>
        <p:spPr bwMode="auto">
          <a:xfrm>
            <a:off x="3792537" y="1531620"/>
            <a:ext cx="504825" cy="504825"/>
          </a:xfrm>
          <a:prstGeom prst="ellipse">
            <a:avLst/>
          </a:prstGeom>
          <a:solidFill>
            <a:srgbClr val="CCCBF6">
              <a:alpha val="100000"/>
            </a:srgbClr>
          </a:solidFill>
          <a:ln w="9525">
            <a:noFill/>
            <a:round/>
          </a:ln>
        </p:spPr>
        <p:txBody>
          <a:bodyPr/>
          <a:lstStyle/>
          <a:p>
            <a:pPr marL="0" lvl="0" indent="0" defTabSz="914400">
              <a:lnSpc>
                <a:spcPct val="100000"/>
              </a:lnSpc>
              <a:spcBef>
                <a:spcPts val="0"/>
              </a:spcBef>
              <a:spcAft>
                <a:spcPts val="0"/>
              </a:spcAft>
              <a:buClrTx/>
              <a:buSzTx/>
              <a:buFontTx/>
              <a:buNone/>
              <a:defRPr sz="1800">
                <a:solidFill>
                  <a:schemeClr val="tx1">
                    <a:alpha val="100000"/>
                  </a:schemeClr>
                </a:solidFill>
                <a:latin typeface="思源黑体 Normal"/>
                <a:ea typeface="思源黑体 Normal"/>
                <a:cs typeface="+mn-cs"/>
              </a:defRPr>
            </a:pPr>
            <a:r>
              <a:rPr lang="en-US" sz="2000" b="1" i="0" u="none" strike="noStrike" spc="0" baseline="0">
                <a:ln>
                  <a:noFill/>
                </a:ln>
                <a:solidFill>
                  <a:srgbClr val="FFFFFF">
                    <a:alpha val="100000"/>
                  </a:srgbClr>
                </a:solidFill>
                <a:effectLst/>
                <a:latin typeface="思源黑体 Normal"/>
                <a:ea typeface="思源黑体 Normal"/>
                <a:cs typeface="思源黑体 Normal"/>
                <a:sym typeface="思源黑体 Normal"/>
              </a:rPr>
              <a:t>1</a:t>
            </a:r>
          </a:p>
        </p:txBody>
      </p:sp>
      <p:sp>
        <p:nvSpPr>
          <p:cNvPr id="256" name="椭圆 8"/>
          <p:cNvSpPr>
            <a:spLocks noChangeArrowheads="1"/>
          </p:cNvSpPr>
          <p:nvPr>
            <p:custDataLst>
              <p:tags r:id="rId4"/>
            </p:custDataLst>
          </p:nvPr>
        </p:nvSpPr>
        <p:spPr bwMode="auto">
          <a:xfrm>
            <a:off x="3792537" y="2444115"/>
            <a:ext cx="504825" cy="502920"/>
          </a:xfrm>
          <a:prstGeom prst="ellipse">
            <a:avLst/>
          </a:prstGeom>
          <a:solidFill>
            <a:srgbClr val="CCCBF6">
              <a:alpha val="100000"/>
            </a:srgbClr>
          </a:solidFill>
          <a:ln w="9525">
            <a:no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FFFFFF"/>
                </a:solidFill>
                <a:effectLst/>
                <a:uLnTx/>
                <a:uFillTx/>
                <a:cs typeface="+mn-ea"/>
                <a:sym typeface="+mn-lt"/>
              </a:rPr>
              <a:t>2</a:t>
            </a:r>
          </a:p>
        </p:txBody>
      </p:sp>
      <p:sp>
        <p:nvSpPr>
          <p:cNvPr id="257" name="椭圆 9"/>
          <p:cNvSpPr>
            <a:spLocks noChangeArrowheads="1"/>
          </p:cNvSpPr>
          <p:nvPr>
            <p:custDataLst>
              <p:tags r:id="rId5"/>
            </p:custDataLst>
          </p:nvPr>
        </p:nvSpPr>
        <p:spPr bwMode="auto">
          <a:xfrm>
            <a:off x="3792537" y="3369310"/>
            <a:ext cx="504825" cy="502920"/>
          </a:xfrm>
          <a:prstGeom prst="ellipse">
            <a:avLst/>
          </a:prstGeom>
          <a:solidFill>
            <a:srgbClr val="CCCBF6">
              <a:alpha val="100000"/>
            </a:srgbClr>
          </a:solidFill>
          <a:ln w="9525">
            <a:noFill/>
            <a:round/>
          </a:ln>
        </p:spPr>
        <p:txBody>
          <a:bodyPr/>
          <a:lstStyle/>
          <a:p>
            <a:pPr marL="0" lvl="0" indent="0" defTabSz="914400">
              <a:lnSpc>
                <a:spcPct val="100000"/>
              </a:lnSpc>
              <a:spcBef>
                <a:spcPts val="0"/>
              </a:spcBef>
              <a:spcAft>
                <a:spcPts val="0"/>
              </a:spcAft>
              <a:buClrTx/>
              <a:buSzTx/>
              <a:buFontTx/>
              <a:buNone/>
              <a:defRPr sz="1800">
                <a:solidFill>
                  <a:schemeClr val="tx1">
                    <a:alpha val="100000"/>
                  </a:schemeClr>
                </a:solidFill>
                <a:latin typeface="思源黑体 Normal"/>
                <a:ea typeface="思源黑体 Normal"/>
                <a:cs typeface="+mn-cs"/>
              </a:defRPr>
            </a:pPr>
            <a:r>
              <a:rPr lang="en-US" sz="2000" b="1" i="0" u="none" strike="noStrike" spc="0" baseline="0">
                <a:ln>
                  <a:noFill/>
                </a:ln>
                <a:solidFill>
                  <a:srgbClr val="FFFFFF">
                    <a:alpha val="100000"/>
                  </a:srgbClr>
                </a:solidFill>
                <a:effectLst/>
                <a:latin typeface="思源黑体 Normal"/>
                <a:ea typeface="思源黑体 Normal"/>
                <a:cs typeface="思源黑体 Normal"/>
                <a:sym typeface="思源黑体 Normal"/>
              </a:rPr>
              <a:t>3</a:t>
            </a:r>
          </a:p>
        </p:txBody>
      </p:sp>
      <p:sp>
        <p:nvSpPr>
          <p:cNvPr id="258" name="椭圆 18"/>
          <p:cNvSpPr>
            <a:spLocks noChangeArrowheads="1"/>
          </p:cNvSpPr>
          <p:nvPr>
            <p:custDataLst>
              <p:tags r:id="rId6"/>
            </p:custDataLst>
          </p:nvPr>
        </p:nvSpPr>
        <p:spPr bwMode="auto">
          <a:xfrm>
            <a:off x="3792537" y="4294505"/>
            <a:ext cx="504825" cy="504825"/>
          </a:xfrm>
          <a:prstGeom prst="ellipse">
            <a:avLst/>
          </a:prstGeom>
          <a:solidFill>
            <a:srgbClr val="CCCBF6">
              <a:alpha val="100000"/>
            </a:srgbClr>
          </a:solidFill>
          <a:ln w="9525">
            <a:noFill/>
            <a:round/>
          </a:ln>
        </p:spPr>
        <p:txBody>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a:ln>
                  <a:noFill/>
                </a:ln>
                <a:solidFill>
                  <a:srgbClr val="FFFFFF"/>
                </a:solidFill>
                <a:effectLst/>
                <a:uLnTx/>
                <a:uFillTx/>
                <a:cs typeface="+mn-ea"/>
                <a:sym typeface="+mn-lt"/>
              </a:rPr>
              <a:t>4</a:t>
            </a:r>
          </a:p>
        </p:txBody>
      </p:sp>
      <p:sp>
        <p:nvSpPr>
          <p:cNvPr id="259" name="椭圆 19"/>
          <p:cNvSpPr>
            <a:spLocks noChangeArrowheads="1"/>
          </p:cNvSpPr>
          <p:nvPr>
            <p:custDataLst>
              <p:tags r:id="rId7"/>
            </p:custDataLst>
          </p:nvPr>
        </p:nvSpPr>
        <p:spPr bwMode="auto">
          <a:xfrm>
            <a:off x="3792537" y="5186680"/>
            <a:ext cx="504825" cy="502920"/>
          </a:xfrm>
          <a:prstGeom prst="ellipse">
            <a:avLst/>
          </a:prstGeom>
          <a:solidFill>
            <a:srgbClr val="CCCBF6">
              <a:alpha val="100000"/>
            </a:srgbClr>
          </a:solidFill>
          <a:ln w="9525">
            <a:noFill/>
            <a:round/>
          </a:ln>
        </p:spPr>
        <p:txBody>
          <a:bodyPr/>
          <a:lstStyle/>
          <a:p>
            <a:pPr marL="0" lvl="0" indent="0" defTabSz="914400">
              <a:lnSpc>
                <a:spcPct val="100000"/>
              </a:lnSpc>
              <a:spcBef>
                <a:spcPts val="0"/>
              </a:spcBef>
              <a:spcAft>
                <a:spcPts val="0"/>
              </a:spcAft>
              <a:buClrTx/>
              <a:buSzTx/>
              <a:buFontTx/>
              <a:buNone/>
              <a:defRPr sz="1800">
                <a:solidFill>
                  <a:schemeClr val="tx1">
                    <a:alpha val="100000"/>
                  </a:schemeClr>
                </a:solidFill>
                <a:latin typeface="思源黑体 Normal"/>
                <a:ea typeface="思源黑体 Normal"/>
                <a:cs typeface="+mn-cs"/>
              </a:defRPr>
            </a:pPr>
            <a:r>
              <a:rPr lang="en-US" sz="2000" b="1" i="0" u="none" strike="noStrike" spc="0" baseline="0">
                <a:ln>
                  <a:noFill/>
                </a:ln>
                <a:solidFill>
                  <a:srgbClr val="FFFFFF">
                    <a:alpha val="100000"/>
                  </a:srgbClr>
                </a:solidFill>
                <a:effectLst/>
                <a:latin typeface="思源黑体 Normal"/>
                <a:ea typeface="思源黑体 Normal"/>
                <a:cs typeface="思源黑体 Normal"/>
                <a:sym typeface="思源黑体 Normal"/>
              </a:rPr>
              <a:t>5</a:t>
            </a:r>
          </a:p>
        </p:txBody>
      </p:sp>
      <p:sp>
        <p:nvSpPr>
          <p:cNvPr id="260" name="TextBox 23"/>
          <p:cNvSpPr txBox="1">
            <a:spLocks noChangeArrowheads="1"/>
          </p:cNvSpPr>
          <p:nvPr>
            <p:custDataLst>
              <p:tags r:id="rId8"/>
            </p:custDataLst>
          </p:nvPr>
        </p:nvSpPr>
        <p:spPr bwMode="auto">
          <a:xfrm>
            <a:off x="4387850" y="3333750"/>
            <a:ext cx="7620635" cy="829945"/>
          </a:xfrm>
          <a:prstGeom prst="rect">
            <a:avLst/>
          </a:prstGeom>
          <a:noFill/>
          <a:ln>
            <a:noFill/>
          </a:ln>
        </p:spPr>
        <p:txBody>
          <a:bodyPr wrap="square">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2400" kern="0" dirty="0">
                <a:solidFill>
                  <a:srgbClr val="484849"/>
                </a:solidFill>
                <a:latin typeface="宋体" panose="02010600030101010101" pitchFamily="2" charset="-122"/>
                <a:ea typeface="宋体" panose="02010600030101010101" pitchFamily="2" charset="-122"/>
                <a:cs typeface="+mn-ea"/>
                <a:sym typeface="+mn-lt"/>
              </a:rPr>
              <a:t>掌握了vue的使用，明白了ali-oss云存储器的使用逻辑，实现了</a:t>
            </a:r>
            <a:r>
              <a:rPr lang="zh-CN" altLang="en-US" sz="2400" b="1" kern="0" dirty="0">
                <a:solidFill>
                  <a:srgbClr val="A4A4ED"/>
                </a:solidFill>
                <a:latin typeface="宋体" panose="02010600030101010101" pitchFamily="2" charset="-122"/>
                <a:ea typeface="宋体" panose="02010600030101010101" pitchFamily="2" charset="-122"/>
                <a:cs typeface="+mn-ea"/>
                <a:sym typeface="+mn-lt"/>
              </a:rPr>
              <a:t>前后端的跨域访问</a:t>
            </a:r>
            <a:r>
              <a:rPr lang="zh-CN" altLang="en-US" sz="2400" kern="0" dirty="0">
                <a:solidFill>
                  <a:srgbClr val="484849"/>
                </a:solidFill>
                <a:latin typeface="宋体" panose="02010600030101010101" pitchFamily="2" charset="-122"/>
                <a:ea typeface="宋体" panose="02010600030101010101" pitchFamily="2" charset="-122"/>
                <a:cs typeface="+mn-ea"/>
                <a:sym typeface="+mn-lt"/>
              </a:rPr>
              <a:t>以及前端和数据库的交叉使用</a:t>
            </a:r>
          </a:p>
        </p:txBody>
      </p:sp>
      <p:grpSp>
        <p:nvGrpSpPr>
          <p:cNvPr id="261" name="组合 5"/>
          <p:cNvGrpSpPr/>
          <p:nvPr/>
        </p:nvGrpSpPr>
        <p:grpSpPr>
          <a:xfrm>
            <a:off x="599122" y="2145665"/>
            <a:ext cx="2530475" cy="3304540"/>
            <a:chOff x="1221" y="3698"/>
            <a:chExt cx="3985" cy="5204"/>
          </a:xfrm>
          <a:solidFill>
            <a:srgbClr val="B9B8F1">
              <a:alpha val="74000"/>
            </a:srgbClr>
          </a:solidFill>
        </p:grpSpPr>
        <p:sp>
          <p:nvSpPr>
            <p:cNvPr id="262" name="TextBox 6"/>
            <p:cNvSpPr txBox="1">
              <a:spLocks noChangeArrowheads="1"/>
            </p:cNvSpPr>
            <p:nvPr/>
          </p:nvSpPr>
          <p:spPr bwMode="auto">
            <a:xfrm>
              <a:off x="1221" y="8177"/>
              <a:ext cx="3985" cy="725"/>
            </a:xfrm>
            <a:prstGeom prst="rect">
              <a:avLst/>
            </a:prstGeom>
            <a:grpFill/>
            <a:ln>
              <a:noFill/>
            </a:ln>
          </p:spPr>
          <p:txBody>
            <a:bodyPr>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2400" kern="0" dirty="0">
                  <a:solidFill>
                    <a:srgbClr val="FFFFFF"/>
                  </a:solidFill>
                  <a:latin typeface="宋体" panose="02010600030101010101" pitchFamily="2" charset="-122"/>
                  <a:ea typeface="宋体" panose="02010600030101010101" pitchFamily="2" charset="-122"/>
                  <a:cs typeface="+mn-ea"/>
                  <a:sym typeface="+mn-lt"/>
                </a:rPr>
                <a:t>队员感悟</a:t>
              </a:r>
            </a:p>
          </p:txBody>
        </p:sp>
        <p:sp>
          <p:nvSpPr>
            <p:cNvPr id="263" name="Oval 9"/>
            <p:cNvSpPr>
              <a:spLocks noChangeArrowheads="1"/>
            </p:cNvSpPr>
            <p:nvPr/>
          </p:nvSpPr>
          <p:spPr bwMode="auto">
            <a:xfrm>
              <a:off x="1234" y="3698"/>
              <a:ext cx="3972" cy="3970"/>
            </a:xfrm>
            <a:prstGeom prst="ellipse">
              <a:avLst/>
            </a:pr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mn-ea"/>
                <a:sym typeface="+mn-lt"/>
              </a:endParaRPr>
            </a:p>
          </p:txBody>
        </p:sp>
        <p:sp>
          <p:nvSpPr>
            <p:cNvPr id="264" name="椭圆形标注 3"/>
            <p:cNvSpPr/>
            <p:nvPr/>
          </p:nvSpPr>
          <p:spPr>
            <a:xfrm>
              <a:off x="2129" y="4678"/>
              <a:ext cx="2182" cy="1733"/>
            </a:xfrm>
            <a:prstGeom prst="wedgeEllipseCallout">
              <a:avLst/>
            </a:prstGeom>
            <a:solidFill>
              <a:schemeClr val="bg1">
                <a:alpha val="10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5" name="文本框 8"/>
          <p:cNvSpPr txBox="1"/>
          <p:nvPr>
            <p:custDataLst>
              <p:tags r:id="rId9"/>
            </p:custDataLst>
          </p:nvPr>
        </p:nvSpPr>
        <p:spPr>
          <a:xfrm>
            <a:off x="4396105" y="1531620"/>
            <a:ext cx="7612380" cy="829945"/>
          </a:xfrm>
          <a:prstGeom prst="rect">
            <a:avLst/>
          </a:prstGeom>
          <a:noFill/>
        </p:spPr>
        <p:txBody>
          <a:bodyPr wrap="square" rtlCol="0">
            <a:spAutoFit/>
          </a:bodyPr>
          <a:lstStyle/>
          <a:p>
            <a:r>
              <a:rPr lang="zh-CN" altLang="en-US" sz="2400">
                <a:latin typeface="宋体" panose="02010600030101010101" pitchFamily="2" charset="-122"/>
                <a:ea typeface="宋体" panose="02010600030101010101" pitchFamily="2" charset="-122"/>
              </a:rPr>
              <a:t>学习并切身体验了</a:t>
            </a:r>
            <a:r>
              <a:rPr lang="zh-CN" altLang="en-US" sz="2400" b="1">
                <a:solidFill>
                  <a:srgbClr val="A4A4ED"/>
                </a:solidFill>
                <a:latin typeface="宋体" panose="02010600030101010101" pitchFamily="2" charset="-122"/>
                <a:ea typeface="宋体" panose="02010600030101010101" pitchFamily="2" charset="-122"/>
              </a:rPr>
              <a:t>大模型</a:t>
            </a:r>
            <a:r>
              <a:rPr lang="zh-CN" altLang="en-US" sz="2400">
                <a:latin typeface="宋体" panose="02010600030101010101" pitchFamily="2" charset="-122"/>
                <a:ea typeface="宋体" panose="02010600030101010101" pitchFamily="2" charset="-122"/>
              </a:rPr>
              <a:t>推理及微调时复杂的配置与部署，也掌握了如何将后端成功运行的大模型展示到前端</a:t>
            </a:r>
          </a:p>
        </p:txBody>
      </p:sp>
      <p:sp>
        <p:nvSpPr>
          <p:cNvPr id="2" name="TextBox 12"/>
          <p:cNvSpPr txBox="1">
            <a:spLocks noChangeArrowheads="1"/>
          </p:cNvSpPr>
          <p:nvPr>
            <p:custDataLst>
              <p:tags r:id="rId10"/>
            </p:custDataLst>
          </p:nvPr>
        </p:nvSpPr>
        <p:spPr bwMode="auto">
          <a:xfrm>
            <a:off x="4396105" y="5209540"/>
            <a:ext cx="7611745" cy="829945"/>
          </a:xfrm>
          <a:prstGeom prst="rect">
            <a:avLst/>
          </a:prstGeom>
          <a:noFill/>
          <a:ln>
            <a:noFill/>
          </a:ln>
        </p:spPr>
        <p:txBody>
          <a:bodyPr wrap="square">
            <a:spAutoFit/>
          </a:bodyPr>
          <a:lstStyle>
            <a:lvl1pPr eaLnBrk="0" hangingPunct="0">
              <a:defRPr>
                <a:solidFill>
                  <a:schemeClr val="tx1"/>
                </a:solidFill>
              </a:defRPr>
            </a:lvl1pPr>
            <a:lvl2pPr marL="742950" indent="-285750" eaLnBrk="0" hangingPunct="0">
              <a:defRPr>
                <a:solidFill>
                  <a:schemeClr val="tx1"/>
                </a:solidFill>
              </a:defRPr>
            </a:lvl2pPr>
            <a:lvl3pPr marL="1143000" indent="-228600" eaLnBrk="0" hangingPunct="0">
              <a:defRPr>
                <a:solidFill>
                  <a:schemeClr val="tx1"/>
                </a:solidFill>
              </a:defRPr>
            </a:lvl3pPr>
            <a:lvl4pPr marL="1600200" indent="-228600" eaLnBrk="0" hangingPunct="0">
              <a:defRPr>
                <a:solidFill>
                  <a:schemeClr val="tx1"/>
                </a:solidFill>
              </a:defRPr>
            </a:lvl4pPr>
            <a:lvl5pPr marL="2057400" indent="-228600" eaLnBrk="0" hangingPunct="0">
              <a:defRPr>
                <a:solidFill>
                  <a:schemeClr val="tx1"/>
                </a:solidFill>
              </a:defRPr>
            </a:lvl5pPr>
            <a:lvl6pPr marL="2514600" indent="-228600" eaLnBrk="0" fontAlgn="base" hangingPunct="0">
              <a:spcBef>
                <a:spcPct val="0"/>
              </a:spcBef>
              <a:spcAft>
                <a:spcPct val="0"/>
              </a:spcAft>
              <a:buFont typeface="Arial" panose="020B0604020202020204" pitchFamily="34" charset="0"/>
              <a:defRPr>
                <a:solidFill>
                  <a:schemeClr val="tx1"/>
                </a:solidFill>
              </a:defRPr>
            </a:lvl6pPr>
            <a:lvl7pPr marL="2971800" indent="-228600" eaLnBrk="0" fontAlgn="base" hangingPunct="0">
              <a:spcBef>
                <a:spcPct val="0"/>
              </a:spcBef>
              <a:spcAft>
                <a:spcPct val="0"/>
              </a:spcAft>
              <a:buFont typeface="Arial" panose="020B0604020202020204" pitchFamily="34" charset="0"/>
              <a:defRPr>
                <a:solidFill>
                  <a:schemeClr val="tx1"/>
                </a:solidFill>
              </a:defRPr>
            </a:lvl7pPr>
            <a:lvl8pPr marL="3429000" indent="-228600" eaLnBrk="0" fontAlgn="base" hangingPunct="0">
              <a:spcBef>
                <a:spcPct val="0"/>
              </a:spcBef>
              <a:spcAft>
                <a:spcPct val="0"/>
              </a:spcAft>
              <a:buFont typeface="Arial" panose="020B0604020202020204" pitchFamily="34" charset="0"/>
              <a:defRPr>
                <a:solidFill>
                  <a:schemeClr val="tx1"/>
                </a:solidFill>
              </a:defRPr>
            </a:lvl8pPr>
            <a:lvl9pPr marL="3886200" indent="-228600" eaLnBrk="0" fontAlgn="base" hangingPunct="0">
              <a:spcBef>
                <a:spcPct val="0"/>
              </a:spcBef>
              <a:spcAft>
                <a:spcPct val="0"/>
              </a:spcAft>
              <a:buFont typeface="Arial" panose="020B0604020202020204" pitchFamily="34" charset="0"/>
              <a:defRPr>
                <a:solidFill>
                  <a:schemeClr val="tx1"/>
                </a:solidFill>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2400" kern="0" dirty="0">
                <a:solidFill>
                  <a:srgbClr val="484849"/>
                </a:solidFill>
                <a:latin typeface="宋体" panose="02010600030101010101" pitchFamily="2" charset="-122"/>
                <a:ea typeface="宋体" panose="02010600030101010101" pitchFamily="2" charset="-122"/>
                <a:cs typeface="+mn-ea"/>
                <a:sym typeface="+mn-lt"/>
              </a:rPr>
              <a:t>掌握了基于</a:t>
            </a:r>
            <a:r>
              <a:rPr lang="en-US" altLang="zh-CN" sz="2400" kern="0" dirty="0">
                <a:solidFill>
                  <a:srgbClr val="484849"/>
                </a:solidFill>
                <a:latin typeface="宋体" panose="02010600030101010101" pitchFamily="2" charset="-122"/>
                <a:ea typeface="宋体" panose="02010600030101010101" pitchFamily="2" charset="-122"/>
                <a:cs typeface="+mn-ea"/>
                <a:sym typeface="+mn-lt"/>
              </a:rPr>
              <a:t>Pycharm+Django+MySQL</a:t>
            </a:r>
            <a:r>
              <a:rPr lang="zh-CN" altLang="en-US" sz="2400" kern="0" dirty="0">
                <a:solidFill>
                  <a:srgbClr val="484849"/>
                </a:solidFill>
                <a:latin typeface="宋体" panose="02010600030101010101" pitchFamily="2" charset="-122"/>
                <a:ea typeface="宋体" panose="02010600030101010101" pitchFamily="2" charset="-122"/>
                <a:cs typeface="+mn-ea"/>
                <a:sym typeface="+mn-lt"/>
              </a:rPr>
              <a:t>的</a:t>
            </a:r>
            <a:r>
              <a:rPr lang="zh-CN" altLang="en-US" sz="2400" b="1" kern="0" dirty="0">
                <a:solidFill>
                  <a:srgbClr val="A4A4ED"/>
                </a:solidFill>
                <a:latin typeface="宋体" panose="02010600030101010101" pitchFamily="2" charset="-122"/>
                <a:ea typeface="宋体" panose="02010600030101010101" pitchFamily="2" charset="-122"/>
                <a:cs typeface="+mn-ea"/>
                <a:sym typeface="+mn-lt"/>
              </a:rPr>
              <a:t>后端项目功能</a:t>
            </a:r>
            <a:r>
              <a:rPr lang="zh-CN" altLang="en-US" sz="2400" kern="0" dirty="0">
                <a:solidFill>
                  <a:srgbClr val="484849"/>
                </a:solidFill>
                <a:latin typeface="宋体" panose="02010600030101010101" pitchFamily="2" charset="-122"/>
                <a:ea typeface="宋体" panose="02010600030101010101" pitchFamily="2" charset="-122"/>
                <a:cs typeface="+mn-ea"/>
                <a:sym typeface="+mn-lt"/>
              </a:rPr>
              <a:t>编写，通过跨域访问成功实现不同设备的信息传输与连接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1000"/>
                                        <p:tgtEl>
                                          <p:spTgt spid="255"/>
                                        </p:tgtEl>
                                      </p:cBhvr>
                                    </p:animEffect>
                                    <p:anim calcmode="lin" valueType="num">
                                      <p:cBhvr>
                                        <p:cTn id="8" dur="1000" fill="hold"/>
                                        <p:tgtEl>
                                          <p:spTgt spid="255"/>
                                        </p:tgtEl>
                                        <p:attrNameLst>
                                          <p:attrName>ppt_x</p:attrName>
                                        </p:attrNameLst>
                                      </p:cBhvr>
                                      <p:tavLst>
                                        <p:tav tm="0">
                                          <p:val>
                                            <p:strVal val="#ppt_x"/>
                                          </p:val>
                                        </p:tav>
                                        <p:tav tm="100000">
                                          <p:val>
                                            <p:strVal val="#ppt_x"/>
                                          </p:val>
                                        </p:tav>
                                      </p:tavLst>
                                    </p:anim>
                                    <p:anim calcmode="lin" valueType="num">
                                      <p:cBhvr>
                                        <p:cTn id="9" dur="1000" fill="hold"/>
                                        <p:tgtEl>
                                          <p:spTgt spid="25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65"/>
                                        </p:tgtEl>
                                        <p:attrNameLst>
                                          <p:attrName>style.visibility</p:attrName>
                                        </p:attrNameLst>
                                      </p:cBhvr>
                                      <p:to>
                                        <p:strVal val="visible"/>
                                      </p:to>
                                    </p:set>
                                    <p:animEffect transition="in" filter="fade">
                                      <p:cBhvr>
                                        <p:cTn id="12" dur="1000"/>
                                        <p:tgtEl>
                                          <p:spTgt spid="265"/>
                                        </p:tgtEl>
                                      </p:cBhvr>
                                    </p:animEffect>
                                    <p:anim calcmode="lin" valueType="num">
                                      <p:cBhvr>
                                        <p:cTn id="13" dur="1000" fill="hold"/>
                                        <p:tgtEl>
                                          <p:spTgt spid="265"/>
                                        </p:tgtEl>
                                        <p:attrNameLst>
                                          <p:attrName>ppt_x</p:attrName>
                                        </p:attrNameLst>
                                      </p:cBhvr>
                                      <p:tavLst>
                                        <p:tav tm="0">
                                          <p:val>
                                            <p:strVal val="#ppt_x"/>
                                          </p:val>
                                        </p:tav>
                                        <p:tav tm="100000">
                                          <p:val>
                                            <p:strVal val="#ppt_x"/>
                                          </p:val>
                                        </p:tav>
                                      </p:tavLst>
                                    </p:anim>
                                    <p:anim calcmode="lin" valueType="num">
                                      <p:cBhvr>
                                        <p:cTn id="14" dur="1000" fill="hold"/>
                                        <p:tgtEl>
                                          <p:spTgt spid="26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7" presetClass="entr" presetSubtype="0" fill="hold" grpId="0" nodeType="afterEffect">
                                  <p:stCondLst>
                                    <p:cond delay="0"/>
                                  </p:stCondLst>
                                  <p:childTnLst>
                                    <p:set>
                                      <p:cBhvr>
                                        <p:cTn id="17" dur="1" fill="hold">
                                          <p:stCondLst>
                                            <p:cond delay="0"/>
                                          </p:stCondLst>
                                        </p:cTn>
                                        <p:tgtEl>
                                          <p:spTgt spid="252"/>
                                        </p:tgtEl>
                                        <p:attrNameLst>
                                          <p:attrName>style.visibility</p:attrName>
                                        </p:attrNameLst>
                                      </p:cBhvr>
                                      <p:to>
                                        <p:strVal val="visible"/>
                                      </p:to>
                                    </p:set>
                                    <p:animEffect transition="in" filter="fade">
                                      <p:cBhvr>
                                        <p:cTn id="18" dur="1000"/>
                                        <p:tgtEl>
                                          <p:spTgt spid="252"/>
                                        </p:tgtEl>
                                      </p:cBhvr>
                                    </p:animEffect>
                                    <p:anim calcmode="lin" valueType="num">
                                      <p:cBhvr>
                                        <p:cTn id="19" dur="1000" fill="hold"/>
                                        <p:tgtEl>
                                          <p:spTgt spid="252"/>
                                        </p:tgtEl>
                                        <p:attrNameLst>
                                          <p:attrName>ppt_x</p:attrName>
                                        </p:attrNameLst>
                                      </p:cBhvr>
                                      <p:tavLst>
                                        <p:tav tm="0">
                                          <p:val>
                                            <p:strVal val="#ppt_x"/>
                                          </p:val>
                                        </p:tav>
                                        <p:tav tm="100000">
                                          <p:val>
                                            <p:strVal val="#ppt_x"/>
                                          </p:val>
                                        </p:tav>
                                      </p:tavLst>
                                    </p:anim>
                                    <p:anim calcmode="lin" valueType="num">
                                      <p:cBhvr>
                                        <p:cTn id="20" dur="1000" fill="hold"/>
                                        <p:tgtEl>
                                          <p:spTgt spid="252"/>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256"/>
                                        </p:tgtEl>
                                        <p:attrNameLst>
                                          <p:attrName>style.visibility</p:attrName>
                                        </p:attrNameLst>
                                      </p:cBhvr>
                                      <p:to>
                                        <p:strVal val="visible"/>
                                      </p:to>
                                    </p:set>
                                    <p:animEffect transition="in" filter="fade">
                                      <p:cBhvr>
                                        <p:cTn id="23" dur="1000"/>
                                        <p:tgtEl>
                                          <p:spTgt spid="256"/>
                                        </p:tgtEl>
                                      </p:cBhvr>
                                    </p:animEffect>
                                    <p:anim calcmode="lin" valueType="num">
                                      <p:cBhvr>
                                        <p:cTn id="24" dur="1000" fill="hold"/>
                                        <p:tgtEl>
                                          <p:spTgt spid="256"/>
                                        </p:tgtEl>
                                        <p:attrNameLst>
                                          <p:attrName>ppt_x</p:attrName>
                                        </p:attrNameLst>
                                      </p:cBhvr>
                                      <p:tavLst>
                                        <p:tav tm="0">
                                          <p:val>
                                            <p:strVal val="#ppt_x"/>
                                          </p:val>
                                        </p:tav>
                                        <p:tav tm="100000">
                                          <p:val>
                                            <p:strVal val="#ppt_x"/>
                                          </p:val>
                                        </p:tav>
                                      </p:tavLst>
                                    </p:anim>
                                    <p:anim calcmode="lin" valueType="num">
                                      <p:cBhvr>
                                        <p:cTn id="25" dur="1000" fill="hold"/>
                                        <p:tgtEl>
                                          <p:spTgt spid="256"/>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7" presetClass="entr" presetSubtype="0" fill="hold" grpId="0" nodeType="afterEffect">
                                  <p:stCondLst>
                                    <p:cond delay="0"/>
                                  </p:stCondLst>
                                  <p:childTnLst>
                                    <p:set>
                                      <p:cBhvr>
                                        <p:cTn id="28" dur="1" fill="hold">
                                          <p:stCondLst>
                                            <p:cond delay="0"/>
                                          </p:stCondLst>
                                        </p:cTn>
                                        <p:tgtEl>
                                          <p:spTgt spid="260"/>
                                        </p:tgtEl>
                                        <p:attrNameLst>
                                          <p:attrName>style.visibility</p:attrName>
                                        </p:attrNameLst>
                                      </p:cBhvr>
                                      <p:to>
                                        <p:strVal val="visible"/>
                                      </p:to>
                                    </p:set>
                                    <p:animEffect transition="in" filter="fade">
                                      <p:cBhvr>
                                        <p:cTn id="29" dur="1000"/>
                                        <p:tgtEl>
                                          <p:spTgt spid="260"/>
                                        </p:tgtEl>
                                      </p:cBhvr>
                                    </p:animEffect>
                                    <p:anim calcmode="lin" valueType="num">
                                      <p:cBhvr>
                                        <p:cTn id="30" dur="1000" fill="hold"/>
                                        <p:tgtEl>
                                          <p:spTgt spid="260"/>
                                        </p:tgtEl>
                                        <p:attrNameLst>
                                          <p:attrName>ppt_x</p:attrName>
                                        </p:attrNameLst>
                                      </p:cBhvr>
                                      <p:tavLst>
                                        <p:tav tm="0">
                                          <p:val>
                                            <p:strVal val="#ppt_x"/>
                                          </p:val>
                                        </p:tav>
                                        <p:tav tm="100000">
                                          <p:val>
                                            <p:strVal val="#ppt_x"/>
                                          </p:val>
                                        </p:tav>
                                      </p:tavLst>
                                    </p:anim>
                                    <p:anim calcmode="lin" valueType="num">
                                      <p:cBhvr>
                                        <p:cTn id="31" dur="1000" fill="hold"/>
                                        <p:tgtEl>
                                          <p:spTgt spid="260"/>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257"/>
                                        </p:tgtEl>
                                        <p:attrNameLst>
                                          <p:attrName>style.visibility</p:attrName>
                                        </p:attrNameLst>
                                      </p:cBhvr>
                                      <p:to>
                                        <p:strVal val="visible"/>
                                      </p:to>
                                    </p:set>
                                    <p:animEffect transition="in" filter="fade">
                                      <p:cBhvr>
                                        <p:cTn id="34" dur="1000"/>
                                        <p:tgtEl>
                                          <p:spTgt spid="257"/>
                                        </p:tgtEl>
                                      </p:cBhvr>
                                    </p:animEffect>
                                    <p:anim calcmode="lin" valueType="num">
                                      <p:cBhvr>
                                        <p:cTn id="35" dur="1000" fill="hold"/>
                                        <p:tgtEl>
                                          <p:spTgt spid="257"/>
                                        </p:tgtEl>
                                        <p:attrNameLst>
                                          <p:attrName>ppt_x</p:attrName>
                                        </p:attrNameLst>
                                      </p:cBhvr>
                                      <p:tavLst>
                                        <p:tav tm="0">
                                          <p:val>
                                            <p:strVal val="#ppt_x"/>
                                          </p:val>
                                        </p:tav>
                                        <p:tav tm="100000">
                                          <p:val>
                                            <p:strVal val="#ppt_x"/>
                                          </p:val>
                                        </p:tav>
                                      </p:tavLst>
                                    </p:anim>
                                    <p:anim calcmode="lin" valueType="num">
                                      <p:cBhvr>
                                        <p:cTn id="36" dur="1000" fill="hold"/>
                                        <p:tgtEl>
                                          <p:spTgt spid="257"/>
                                        </p:tgtEl>
                                        <p:attrNameLst>
                                          <p:attrName>ppt_y</p:attrName>
                                        </p:attrNameLst>
                                      </p:cBhvr>
                                      <p:tavLst>
                                        <p:tav tm="0">
                                          <p:val>
                                            <p:strVal val="#ppt_y-.1"/>
                                          </p:val>
                                        </p:tav>
                                        <p:tav tm="100000">
                                          <p:val>
                                            <p:strVal val="#ppt_y"/>
                                          </p:val>
                                        </p:tav>
                                      </p:tavLst>
                                    </p:anim>
                                  </p:childTnLst>
                                </p:cTn>
                              </p:par>
                            </p:childTnLst>
                          </p:cTn>
                        </p:par>
                        <p:par>
                          <p:cTn id="37" fill="hold">
                            <p:stCondLst>
                              <p:cond delay="3000"/>
                            </p:stCondLst>
                            <p:childTnLst>
                              <p:par>
                                <p:cTn id="38" presetID="47" presetClass="entr" presetSubtype="0" fill="hold" grpId="0" nodeType="afterEffect">
                                  <p:stCondLst>
                                    <p:cond delay="0"/>
                                  </p:stCondLst>
                                  <p:childTnLst>
                                    <p:set>
                                      <p:cBhvr>
                                        <p:cTn id="39" dur="1" fill="hold">
                                          <p:stCondLst>
                                            <p:cond delay="0"/>
                                          </p:stCondLst>
                                        </p:cTn>
                                        <p:tgtEl>
                                          <p:spTgt spid="254"/>
                                        </p:tgtEl>
                                        <p:attrNameLst>
                                          <p:attrName>style.visibility</p:attrName>
                                        </p:attrNameLst>
                                      </p:cBhvr>
                                      <p:to>
                                        <p:strVal val="visible"/>
                                      </p:to>
                                    </p:set>
                                    <p:animEffect transition="in" filter="fade">
                                      <p:cBhvr>
                                        <p:cTn id="40" dur="1000"/>
                                        <p:tgtEl>
                                          <p:spTgt spid="254"/>
                                        </p:tgtEl>
                                      </p:cBhvr>
                                    </p:animEffect>
                                    <p:anim calcmode="lin" valueType="num">
                                      <p:cBhvr>
                                        <p:cTn id="41" dur="1000" fill="hold"/>
                                        <p:tgtEl>
                                          <p:spTgt spid="254"/>
                                        </p:tgtEl>
                                        <p:attrNameLst>
                                          <p:attrName>ppt_x</p:attrName>
                                        </p:attrNameLst>
                                      </p:cBhvr>
                                      <p:tavLst>
                                        <p:tav tm="0">
                                          <p:val>
                                            <p:strVal val="#ppt_x"/>
                                          </p:val>
                                        </p:tav>
                                        <p:tav tm="100000">
                                          <p:val>
                                            <p:strVal val="#ppt_x"/>
                                          </p:val>
                                        </p:tav>
                                      </p:tavLst>
                                    </p:anim>
                                    <p:anim calcmode="lin" valueType="num">
                                      <p:cBhvr>
                                        <p:cTn id="42" dur="1000" fill="hold"/>
                                        <p:tgtEl>
                                          <p:spTgt spid="254"/>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0"/>
                                  </p:stCondLst>
                                  <p:childTnLst>
                                    <p:set>
                                      <p:cBhvr>
                                        <p:cTn id="44" dur="1" fill="hold">
                                          <p:stCondLst>
                                            <p:cond delay="0"/>
                                          </p:stCondLst>
                                        </p:cTn>
                                        <p:tgtEl>
                                          <p:spTgt spid="258"/>
                                        </p:tgtEl>
                                        <p:attrNameLst>
                                          <p:attrName>style.visibility</p:attrName>
                                        </p:attrNameLst>
                                      </p:cBhvr>
                                      <p:to>
                                        <p:strVal val="visible"/>
                                      </p:to>
                                    </p:set>
                                    <p:animEffect transition="in" filter="fade">
                                      <p:cBhvr>
                                        <p:cTn id="45" dur="1000"/>
                                        <p:tgtEl>
                                          <p:spTgt spid="258"/>
                                        </p:tgtEl>
                                      </p:cBhvr>
                                    </p:animEffect>
                                    <p:anim calcmode="lin" valueType="num">
                                      <p:cBhvr>
                                        <p:cTn id="46" dur="1000" fill="hold"/>
                                        <p:tgtEl>
                                          <p:spTgt spid="258"/>
                                        </p:tgtEl>
                                        <p:attrNameLst>
                                          <p:attrName>ppt_x</p:attrName>
                                        </p:attrNameLst>
                                      </p:cBhvr>
                                      <p:tavLst>
                                        <p:tav tm="0">
                                          <p:val>
                                            <p:strVal val="#ppt_x"/>
                                          </p:val>
                                        </p:tav>
                                        <p:tav tm="100000">
                                          <p:val>
                                            <p:strVal val="#ppt_x"/>
                                          </p:val>
                                        </p:tav>
                                      </p:tavLst>
                                    </p:anim>
                                    <p:anim calcmode="lin" valueType="num">
                                      <p:cBhvr>
                                        <p:cTn id="47" dur="1000" fill="hold"/>
                                        <p:tgtEl>
                                          <p:spTgt spid="258"/>
                                        </p:tgtEl>
                                        <p:attrNameLst>
                                          <p:attrName>ppt_y</p:attrName>
                                        </p:attrNameLst>
                                      </p:cBhvr>
                                      <p:tavLst>
                                        <p:tav tm="0">
                                          <p:val>
                                            <p:strVal val="#ppt_y-.1"/>
                                          </p:val>
                                        </p:tav>
                                        <p:tav tm="100000">
                                          <p:val>
                                            <p:strVal val="#ppt_y"/>
                                          </p:val>
                                        </p:tav>
                                      </p:tavLst>
                                    </p:anim>
                                  </p:childTnLst>
                                </p:cTn>
                              </p:par>
                            </p:childTnLst>
                          </p:cTn>
                        </p:par>
                        <p:par>
                          <p:cTn id="48" fill="hold">
                            <p:stCondLst>
                              <p:cond delay="4000"/>
                            </p:stCondLst>
                            <p:childTnLst>
                              <p:par>
                                <p:cTn id="49" presetID="47" presetClass="entr" presetSubtype="0" fill="hold" grpId="0" nodeType="after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fade">
                                      <p:cBhvr>
                                        <p:cTn id="51" dur="1000"/>
                                        <p:tgtEl>
                                          <p:spTgt spid="2"/>
                                        </p:tgtEl>
                                      </p:cBhvr>
                                    </p:animEffect>
                                    <p:anim calcmode="lin" valueType="num">
                                      <p:cBhvr>
                                        <p:cTn id="52" dur="1000" fill="hold"/>
                                        <p:tgtEl>
                                          <p:spTgt spid="2"/>
                                        </p:tgtEl>
                                        <p:attrNameLst>
                                          <p:attrName>ppt_x</p:attrName>
                                        </p:attrNameLst>
                                      </p:cBhvr>
                                      <p:tavLst>
                                        <p:tav tm="0">
                                          <p:val>
                                            <p:strVal val="#ppt_x"/>
                                          </p:val>
                                        </p:tav>
                                        <p:tav tm="100000">
                                          <p:val>
                                            <p:strVal val="#ppt_x"/>
                                          </p:val>
                                        </p:tav>
                                      </p:tavLst>
                                    </p:anim>
                                    <p:anim calcmode="lin" valueType="num">
                                      <p:cBhvr>
                                        <p:cTn id="53" dur="1000" fill="hold"/>
                                        <p:tgtEl>
                                          <p:spTgt spid="2"/>
                                        </p:tgtEl>
                                        <p:attrNameLst>
                                          <p:attrName>ppt_y</p:attrName>
                                        </p:attrNameLst>
                                      </p:cBhvr>
                                      <p:tavLst>
                                        <p:tav tm="0">
                                          <p:val>
                                            <p:strVal val="#ppt_y-.1"/>
                                          </p:val>
                                        </p:tav>
                                        <p:tav tm="100000">
                                          <p:val>
                                            <p:strVal val="#ppt_y"/>
                                          </p:val>
                                        </p:tav>
                                      </p:tavLst>
                                    </p:anim>
                                  </p:childTnLst>
                                </p:cTn>
                              </p:par>
                              <p:par>
                                <p:cTn id="54" presetID="47" presetClass="entr" presetSubtype="0" fill="hold" grpId="0" nodeType="withEffect">
                                  <p:stCondLst>
                                    <p:cond delay="0"/>
                                  </p:stCondLst>
                                  <p:childTnLst>
                                    <p:set>
                                      <p:cBhvr>
                                        <p:cTn id="55" dur="1" fill="hold">
                                          <p:stCondLst>
                                            <p:cond delay="0"/>
                                          </p:stCondLst>
                                        </p:cTn>
                                        <p:tgtEl>
                                          <p:spTgt spid="259"/>
                                        </p:tgtEl>
                                        <p:attrNameLst>
                                          <p:attrName>style.visibility</p:attrName>
                                        </p:attrNameLst>
                                      </p:cBhvr>
                                      <p:to>
                                        <p:strVal val="visible"/>
                                      </p:to>
                                    </p:set>
                                    <p:animEffect transition="in" filter="fade">
                                      <p:cBhvr>
                                        <p:cTn id="56" dur="1000"/>
                                        <p:tgtEl>
                                          <p:spTgt spid="259"/>
                                        </p:tgtEl>
                                      </p:cBhvr>
                                    </p:animEffect>
                                    <p:anim calcmode="lin" valueType="num">
                                      <p:cBhvr>
                                        <p:cTn id="57" dur="1000" fill="hold"/>
                                        <p:tgtEl>
                                          <p:spTgt spid="259"/>
                                        </p:tgtEl>
                                        <p:attrNameLst>
                                          <p:attrName>ppt_x</p:attrName>
                                        </p:attrNameLst>
                                      </p:cBhvr>
                                      <p:tavLst>
                                        <p:tav tm="0">
                                          <p:val>
                                            <p:strVal val="#ppt_x"/>
                                          </p:val>
                                        </p:tav>
                                        <p:tav tm="100000">
                                          <p:val>
                                            <p:strVal val="#ppt_x"/>
                                          </p:val>
                                        </p:tav>
                                      </p:tavLst>
                                    </p:anim>
                                    <p:anim calcmode="lin" valueType="num">
                                      <p:cBhvr>
                                        <p:cTn id="58" dur="1000" fill="hold"/>
                                        <p:tgtEl>
                                          <p:spTgt spid="2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 grpId="0"/>
      <p:bldP spid="254" grpId="0"/>
      <p:bldP spid="255" grpId="0" animBg="1"/>
      <p:bldP spid="256" grpId="0" animBg="1"/>
      <p:bldP spid="257" grpId="0" animBg="1"/>
      <p:bldP spid="258" grpId="0" animBg="1"/>
      <p:bldP spid="259" grpId="0" animBg="1"/>
      <p:bldP spid="260" grpId="0"/>
      <p:bldP spid="265" grpId="0"/>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70000">
              <a:srgbClr val="B9B8F1">
                <a:alpha val="0"/>
              </a:srgbClr>
            </a:gs>
          </a:gsLst>
          <a:lin ang="18900000" scaled="0"/>
        </a:gradFill>
        <a:effectLst/>
      </p:bgPr>
    </p:bg>
    <p:spTree>
      <p:nvGrpSpPr>
        <p:cNvPr id="1" name=""/>
        <p:cNvGrpSpPr/>
        <p:nvPr/>
      </p:nvGrpSpPr>
      <p:grpSpPr>
        <a:xfrm>
          <a:off x="0" y="0"/>
          <a:ext cx="0" cy="0"/>
          <a:chOff x="0" y="0"/>
          <a:chExt cx="0" cy="0"/>
        </a:xfrm>
      </p:grpSpPr>
      <p:grpSp>
        <p:nvGrpSpPr>
          <p:cNvPr id="267" name="图形"/>
          <p:cNvGrpSpPr/>
          <p:nvPr/>
        </p:nvGrpSpPr>
        <p:grpSpPr>
          <a:xfrm>
            <a:off x="0" y="-1069340"/>
            <a:ext cx="12516485" cy="7927340"/>
            <a:chOff x="0" y="-1684"/>
            <a:chExt cx="19711" cy="12484"/>
          </a:xfrm>
        </p:grpSpPr>
        <p:pic>
          <p:nvPicPr>
            <p:cNvPr id="268" name="图形" descr="D:/包图网/5b601bfb6affe.png5b601bfb6affe"/>
            <p:cNvPicPr>
              <a:picLocks noChangeAspect="1"/>
            </p:cNvPicPr>
            <p:nvPr/>
          </p:nvPicPr>
          <p:blipFill>
            <a:blip r:embed="rId3"/>
            <a:srcRect t="-2777" b="-1468"/>
            <a:stretch>
              <a:fillRect/>
            </a:stretch>
          </p:blipFill>
          <p:spPr>
            <a:xfrm>
              <a:off x="0" y="4674"/>
              <a:ext cx="7780" cy="5896"/>
            </a:xfrm>
            <a:prstGeom prst="rect">
              <a:avLst/>
            </a:prstGeom>
          </p:spPr>
        </p:pic>
        <p:sp>
          <p:nvSpPr>
            <p:cNvPr id="269" name="图形"/>
            <p:cNvSpPr/>
            <p:nvPr/>
          </p:nvSpPr>
          <p:spPr>
            <a:xfrm rot="8580000" flipV="1">
              <a:off x="17359" y="-1684"/>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nvGrpSpPr>
            <p:cNvPr id="270" name="组合 138"/>
            <p:cNvGrpSpPr/>
            <p:nvPr/>
          </p:nvGrpSpPr>
          <p:grpSpPr>
            <a:xfrm>
              <a:off x="2320" y="2938"/>
              <a:ext cx="2821" cy="1006"/>
              <a:chOff x="1595" y="1487"/>
              <a:chExt cx="4594" cy="1639"/>
            </a:xfrm>
            <a:gradFill>
              <a:gsLst>
                <a:gs pos="0">
                  <a:srgbClr val="B9B8F1">
                    <a:alpha val="100000"/>
                  </a:srgbClr>
                </a:gs>
                <a:gs pos="94000">
                  <a:srgbClr val="B9B8F1">
                    <a:alpha val="0"/>
                  </a:srgbClr>
                </a:gs>
              </a:gsLst>
              <a:lin ang="10800000" scaled="0"/>
            </a:gradFill>
          </p:grpSpPr>
          <p:grpSp>
            <p:nvGrpSpPr>
              <p:cNvPr id="271" name="组合 51"/>
              <p:cNvGrpSpPr/>
              <p:nvPr/>
            </p:nvGrpSpPr>
            <p:grpSpPr>
              <a:xfrm>
                <a:off x="1595" y="1487"/>
                <a:ext cx="4594" cy="226"/>
                <a:chOff x="1595" y="1487"/>
                <a:chExt cx="4594" cy="226"/>
              </a:xfrm>
              <a:grpFill/>
            </p:grpSpPr>
            <p:sp>
              <p:nvSpPr>
                <p:cNvPr id="272"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73"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74"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75"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76"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77"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78"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279" name="组合 52"/>
              <p:cNvGrpSpPr/>
              <p:nvPr/>
            </p:nvGrpSpPr>
            <p:grpSpPr>
              <a:xfrm>
                <a:off x="1595" y="1958"/>
                <a:ext cx="4594" cy="226"/>
                <a:chOff x="1595" y="1487"/>
                <a:chExt cx="4594" cy="226"/>
              </a:xfrm>
              <a:grpFill/>
            </p:grpSpPr>
            <p:sp>
              <p:nvSpPr>
                <p:cNvPr id="280"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81"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82"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83"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84"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85"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86"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287" name="组合 120"/>
              <p:cNvGrpSpPr/>
              <p:nvPr/>
            </p:nvGrpSpPr>
            <p:grpSpPr>
              <a:xfrm>
                <a:off x="1595" y="2429"/>
                <a:ext cx="4594" cy="226"/>
                <a:chOff x="1595" y="1487"/>
                <a:chExt cx="4594" cy="226"/>
              </a:xfrm>
              <a:grpFill/>
            </p:grpSpPr>
            <p:sp>
              <p:nvSpPr>
                <p:cNvPr id="288"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89"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90"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91"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92"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93"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94"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nvGrpSpPr>
              <p:cNvPr id="295" name="组合 128"/>
              <p:cNvGrpSpPr/>
              <p:nvPr/>
            </p:nvGrpSpPr>
            <p:grpSpPr>
              <a:xfrm>
                <a:off x="1595" y="2900"/>
                <a:ext cx="4594" cy="226"/>
                <a:chOff x="1595" y="1487"/>
                <a:chExt cx="4594" cy="226"/>
              </a:xfrm>
              <a:grpFill/>
            </p:grpSpPr>
            <p:sp>
              <p:nvSpPr>
                <p:cNvPr id="296" name="图形"/>
                <p:cNvSpPr/>
                <p:nvPr/>
              </p:nvSpPr>
              <p:spPr>
                <a:xfrm>
                  <a:off x="159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97" name="图形"/>
                <p:cNvSpPr/>
                <p:nvPr/>
              </p:nvSpPr>
              <p:spPr>
                <a:xfrm>
                  <a:off x="232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98" name="图形"/>
                <p:cNvSpPr/>
                <p:nvPr/>
              </p:nvSpPr>
              <p:spPr>
                <a:xfrm>
                  <a:off x="3051"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299" name="图形"/>
                <p:cNvSpPr/>
                <p:nvPr/>
              </p:nvSpPr>
              <p:spPr>
                <a:xfrm>
                  <a:off x="3779"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300" name="图形"/>
                <p:cNvSpPr/>
                <p:nvPr/>
              </p:nvSpPr>
              <p:spPr>
                <a:xfrm>
                  <a:off x="4507"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301" name="图形"/>
                <p:cNvSpPr/>
                <p:nvPr/>
              </p:nvSpPr>
              <p:spPr>
                <a:xfrm>
                  <a:off x="5235"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sp>
              <p:nvSpPr>
                <p:cNvPr id="302" name="图形"/>
                <p:cNvSpPr/>
                <p:nvPr/>
              </p:nvSpPr>
              <p:spPr>
                <a:xfrm>
                  <a:off x="5963" y="1487"/>
                  <a:ext cx="226" cy="2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Medium" panose="020B0600000000000000" charset="-122"/>
                    <a:sym typeface="Arial" panose="020B0604020202020204"/>
                  </a:endParaRPr>
                </a:p>
              </p:txBody>
            </p:sp>
          </p:grpSp>
        </p:grpSp>
        <p:sp>
          <p:nvSpPr>
            <p:cNvPr id="303" name="图形"/>
            <p:cNvSpPr/>
            <p:nvPr/>
          </p:nvSpPr>
          <p:spPr>
            <a:xfrm>
              <a:off x="0" y="10796"/>
              <a:ext cx="4" cy="4"/>
            </a:xfrm>
            <a:custGeom>
              <a:avLst/>
              <a:gdLst/>
              <a:ahLst/>
              <a:cxnLst>
                <a:cxn ang="3">
                  <a:pos x="hc" y="t"/>
                </a:cxn>
                <a:cxn ang="cd2">
                  <a:pos x="l" y="vc"/>
                </a:cxn>
                <a:cxn ang="cd4">
                  <a:pos x="hc" y="b"/>
                </a:cxn>
                <a:cxn ang="0">
                  <a:pos x="r" y="vc"/>
                </a:cxn>
              </a:cxnLst>
              <a:rect l="l" t="t" r="r" b="b"/>
              <a:pathLst>
                <a:path w="4" h="4">
                  <a:moveTo>
                    <a:pt x="0" y="0"/>
                  </a:moveTo>
                  <a:lnTo>
                    <a:pt x="4" y="4"/>
                  </a:lnTo>
                  <a:lnTo>
                    <a:pt x="0" y="4"/>
                  </a:lnTo>
                  <a:lnTo>
                    <a:pt x="0" y="0"/>
                  </a:lnTo>
                  <a:close/>
                </a:path>
              </a:pathLst>
            </a:custGeom>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304" name="图形"/>
            <p:cNvSpPr/>
            <p:nvPr/>
          </p:nvSpPr>
          <p:spPr>
            <a:xfrm>
              <a:off x="0" y="2210"/>
              <a:ext cx="11364" cy="8590"/>
            </a:xfrm>
            <a:custGeom>
              <a:avLst/>
              <a:gdLst/>
              <a:ahLst/>
              <a:cxnLst>
                <a:cxn ang="3">
                  <a:pos x="hc" y="t"/>
                </a:cxn>
                <a:cxn ang="cd2">
                  <a:pos x="l" y="vc"/>
                </a:cxn>
                <a:cxn ang="cd4">
                  <a:pos x="hc" y="b"/>
                </a:cxn>
                <a:cxn ang="0">
                  <a:pos x="r" y="vc"/>
                </a:cxn>
              </a:cxnLst>
              <a:rect l="l" t="t" r="r" b="b"/>
              <a:pathLst>
                <a:path w="11364" h="8590">
                  <a:moveTo>
                    <a:pt x="677" y="0"/>
                  </a:moveTo>
                  <a:cubicBezTo>
                    <a:pt x="949" y="-1"/>
                    <a:pt x="1204" y="66"/>
                    <a:pt x="1429" y="218"/>
                  </a:cubicBezTo>
                  <a:cubicBezTo>
                    <a:pt x="2008" y="798"/>
                    <a:pt x="1883" y="1992"/>
                    <a:pt x="2745" y="2676"/>
                  </a:cubicBezTo>
                  <a:cubicBezTo>
                    <a:pt x="3748" y="3184"/>
                    <a:pt x="4863" y="2726"/>
                    <a:pt x="6368" y="3236"/>
                  </a:cubicBezTo>
                  <a:cubicBezTo>
                    <a:pt x="7486" y="4177"/>
                    <a:pt x="7194" y="5103"/>
                    <a:pt x="7858" y="5815"/>
                  </a:cubicBezTo>
                  <a:cubicBezTo>
                    <a:pt x="8574" y="6232"/>
                    <a:pt x="9738" y="5636"/>
                    <a:pt x="10848" y="6384"/>
                  </a:cubicBezTo>
                  <a:cubicBezTo>
                    <a:pt x="11491" y="6818"/>
                    <a:pt x="11469" y="7655"/>
                    <a:pt x="11131" y="8564"/>
                  </a:cubicBezTo>
                  <a:lnTo>
                    <a:pt x="11121" y="8590"/>
                  </a:lnTo>
                  <a:lnTo>
                    <a:pt x="4" y="8590"/>
                  </a:lnTo>
                  <a:lnTo>
                    <a:pt x="0" y="8587"/>
                  </a:lnTo>
                  <a:lnTo>
                    <a:pt x="0" y="129"/>
                  </a:lnTo>
                  <a:lnTo>
                    <a:pt x="13" y="124"/>
                  </a:lnTo>
                  <a:cubicBezTo>
                    <a:pt x="240" y="45"/>
                    <a:pt x="464" y="1"/>
                    <a:pt x="677" y="0"/>
                  </a:cubicBezTo>
                  <a:close/>
                </a:path>
              </a:pathLst>
            </a:custGeom>
            <a:gradFill>
              <a:gsLst>
                <a:gs pos="0">
                  <a:srgbClr val="B9B8F1">
                    <a:alpha val="30000"/>
                  </a:srgbClr>
                </a:gs>
                <a:gs pos="100000">
                  <a:srgbClr val="B9B8F1">
                    <a:alpha val="0"/>
                  </a:srgb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305" name="图形"/>
          <p:cNvSpPr txBox="1"/>
          <p:nvPr/>
        </p:nvSpPr>
        <p:spPr>
          <a:xfrm>
            <a:off x="5222242" y="3194052"/>
            <a:ext cx="6322695" cy="1241425"/>
          </a:xfrm>
          <a:prstGeom prst="rect">
            <a:avLst/>
          </a:prstGeom>
          <a:noFill/>
        </p:spPr>
        <p:txBody>
          <a:bodyPr wrap="square" lIns="0" tIns="0" rIns="0" bIns="0" rtlCol="0">
            <a:noAutofit/>
          </a:bodyPr>
          <a:lstStyle/>
          <a:p>
            <a:pPr algn="dist"/>
            <a:r>
              <a:rPr lang="zh-CN" sz="8000" b="1">
                <a:solidFill>
                  <a:schemeClr val="tx1">
                    <a:lumMod val="75000"/>
                    <a:lumOff val="25000"/>
                    <a:alpha val="100000"/>
                  </a:schemeClr>
                </a:solidFill>
                <a:latin typeface="Arial" panose="020B0604020202020204"/>
                <a:ea typeface="微软雅黑" panose="020B0503020204020204" pitchFamily="34" charset="-122"/>
                <a:cs typeface="思源黑体 Normal"/>
                <a:sym typeface="Arial" panose="020B0604020202020204"/>
              </a:rPr>
              <a:t>团队成员</a:t>
            </a:r>
          </a:p>
        </p:txBody>
      </p:sp>
      <p:sp>
        <p:nvSpPr>
          <p:cNvPr id="306" name="图形"/>
          <p:cNvSpPr txBox="1"/>
          <p:nvPr/>
        </p:nvSpPr>
        <p:spPr>
          <a:xfrm>
            <a:off x="6677345" y="4516120"/>
            <a:ext cx="3412490" cy="323850"/>
          </a:xfrm>
          <a:prstGeom prst="rect">
            <a:avLst/>
          </a:prstGeom>
          <a:noFill/>
        </p:spPr>
        <p:txBody>
          <a:bodyPr wrap="square" lIns="0" tIns="0" rIns="0" bIns="0" rtlCol="0">
            <a:spAutoFit/>
          </a:bodyPr>
          <a:lstStyle/>
          <a:p>
            <a:pPr algn="dist">
              <a:lnSpc>
                <a:spcPct val="150000"/>
              </a:lnSpc>
            </a:pPr>
            <a:r>
              <a:rPr lang="en-US" sz="1400">
                <a:ln>
                  <a:noFill/>
                </a:ln>
                <a:solidFill>
                  <a:schemeClr val="tx1">
                    <a:lumMod val="65000"/>
                    <a:lumOff val="35000"/>
                    <a:alpha val="100000"/>
                  </a:schemeClr>
                </a:solidFill>
                <a:effectLst/>
                <a:latin typeface="Arial" panose="020B0604020202020204"/>
                <a:ea typeface="微软雅黑" panose="020B0503020204020204" pitchFamily="34" charset="-122"/>
                <a:cs typeface="思源黑体 Normal"/>
                <a:sym typeface="Arial" panose="020B0604020202020204"/>
              </a:rPr>
              <a:t>The Team Members</a:t>
            </a:r>
          </a:p>
        </p:txBody>
      </p:sp>
      <p:grpSp>
        <p:nvGrpSpPr>
          <p:cNvPr id="307" name="图形"/>
          <p:cNvGrpSpPr/>
          <p:nvPr/>
        </p:nvGrpSpPr>
        <p:grpSpPr>
          <a:xfrm>
            <a:off x="7793357" y="1932305"/>
            <a:ext cx="3750945" cy="849630"/>
            <a:chOff x="12273" y="2943"/>
            <a:chExt cx="5907" cy="1338"/>
          </a:xfrm>
        </p:grpSpPr>
        <p:sp>
          <p:nvSpPr>
            <p:cNvPr id="308" name="图形"/>
            <p:cNvSpPr/>
            <p:nvPr/>
          </p:nvSpPr>
          <p:spPr>
            <a:xfrm>
              <a:off x="12273"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第</a:t>
              </a:r>
            </a:p>
          </p:txBody>
        </p:sp>
        <p:sp>
          <p:nvSpPr>
            <p:cNvPr id="309" name="图形"/>
            <p:cNvSpPr/>
            <p:nvPr/>
          </p:nvSpPr>
          <p:spPr>
            <a:xfrm>
              <a:off x="13796" y="2943"/>
              <a:ext cx="1338" cy="1338"/>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sz="3600" b="1">
                  <a:latin typeface="宋体" panose="02010600030101010101" pitchFamily="2" charset="-122"/>
                  <a:ea typeface="宋体" panose="02010600030101010101" pitchFamily="2" charset="-122"/>
                  <a:cs typeface="思源黑体 Normal"/>
                  <a:sym typeface="Arial" panose="020B0604020202020204"/>
                </a:rPr>
                <a:t>八</a:t>
              </a:r>
            </a:p>
          </p:txBody>
        </p:sp>
        <p:sp>
          <p:nvSpPr>
            <p:cNvPr id="310" name="图形"/>
            <p:cNvSpPr/>
            <p:nvPr/>
          </p:nvSpPr>
          <p:spPr>
            <a:xfrm>
              <a:off x="15319"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部</a:t>
              </a:r>
            </a:p>
          </p:txBody>
        </p:sp>
        <p:sp>
          <p:nvSpPr>
            <p:cNvPr id="311" name="图形"/>
            <p:cNvSpPr/>
            <p:nvPr/>
          </p:nvSpPr>
          <p:spPr>
            <a:xfrm>
              <a:off x="16842" y="2943"/>
              <a:ext cx="1338" cy="1338"/>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3600" b="1">
                  <a:latin typeface="宋体" panose="02010600030101010101" pitchFamily="2" charset="-122"/>
                  <a:ea typeface="宋体" panose="02010600030101010101" pitchFamily="2" charset="-122"/>
                  <a:cs typeface="思源黑体 Normal" panose="020B0400000000000000" charset="-122"/>
                  <a:sym typeface="Arial" panose="020B0604020202020204"/>
                </a:rPr>
                <a:t>分</a:t>
              </a:r>
            </a:p>
          </p:txBody>
        </p:sp>
      </p:grpSp>
      <p:grpSp>
        <p:nvGrpSpPr>
          <p:cNvPr id="312" name="图形"/>
          <p:cNvGrpSpPr/>
          <p:nvPr/>
        </p:nvGrpSpPr>
        <p:grpSpPr>
          <a:xfrm>
            <a:off x="8990331" y="5836920"/>
            <a:ext cx="2555240" cy="444500"/>
            <a:chOff x="14158" y="9192"/>
            <a:chExt cx="4024" cy="700"/>
          </a:xfrm>
        </p:grpSpPr>
        <p:sp>
          <p:nvSpPr>
            <p:cNvPr id="313" name="图形"/>
            <p:cNvSpPr/>
            <p:nvPr/>
          </p:nvSpPr>
          <p:spPr>
            <a:xfrm>
              <a:off x="14158" y="9192"/>
              <a:ext cx="701" cy="701"/>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314" name="图形"/>
            <p:cNvSpPr/>
            <p:nvPr/>
          </p:nvSpPr>
          <p:spPr>
            <a:xfrm>
              <a:off x="15266"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315" name="图形"/>
            <p:cNvSpPr/>
            <p:nvPr/>
          </p:nvSpPr>
          <p:spPr>
            <a:xfrm>
              <a:off x="16374"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316" name="图形"/>
            <p:cNvSpPr/>
            <p:nvPr/>
          </p:nvSpPr>
          <p:spPr>
            <a:xfrm>
              <a:off x="17482" y="9192"/>
              <a:ext cx="701" cy="701"/>
            </a:xfrm>
            <a:prstGeom prst="ellipse">
              <a:avLst/>
            </a:prstGeom>
            <a:solidFill>
              <a:srgbClr val="B9B8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pic>
        <p:nvPicPr>
          <p:cNvPr id="317" name="图片 316"/>
          <p:cNvPicPr>
            <a:picLocks noChangeAspect="1"/>
          </p:cNvPicPr>
          <p:nvPr/>
        </p:nvPicPr>
        <p:blipFill>
          <a:blip r:embed="rId4"/>
          <a:stretch>
            <a:fillRect/>
          </a:stretch>
        </p:blipFill>
        <p:spPr>
          <a:xfrm>
            <a:off x="9315626" y="154623"/>
            <a:ext cx="4016025" cy="922033"/>
          </a:xfrm>
          <a:prstGeom prst="rect">
            <a:avLst/>
          </a:prstGeom>
        </p:spPr>
      </p:pic>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500"/>
                                        <p:tgtEl>
                                          <p:spTgt spid="267"/>
                                        </p:tgtEl>
                                      </p:cBhvr>
                                    </p:animEffect>
                                  </p:childTnLst>
                                </p:cTn>
                              </p:par>
                              <p:par>
                                <p:cTn id="8" presetID="10" presetClass="entr" presetSubtype="0" fill="hold" nodeType="withEffect">
                                  <p:stCondLst>
                                    <p:cond delay="0"/>
                                  </p:stCondLst>
                                  <p:childTnLst>
                                    <p:set>
                                      <p:cBhvr>
                                        <p:cTn id="9" dur="1" fill="hold">
                                          <p:stCondLst>
                                            <p:cond delay="0"/>
                                          </p:stCondLst>
                                        </p:cTn>
                                        <p:tgtEl>
                                          <p:spTgt spid="312"/>
                                        </p:tgtEl>
                                        <p:attrNameLst>
                                          <p:attrName>style.visibility</p:attrName>
                                        </p:attrNameLst>
                                      </p:cBhvr>
                                      <p:to>
                                        <p:strVal val="visible"/>
                                      </p:to>
                                    </p:set>
                                    <p:animEffect transition="in" filter="fade">
                                      <p:cBhvr>
                                        <p:cTn id="10" dur="500"/>
                                        <p:tgtEl>
                                          <p:spTgt spid="312"/>
                                        </p:tgtEl>
                                      </p:cBhvr>
                                    </p:animEffect>
                                  </p:childTnLst>
                                </p:cTn>
                              </p:par>
                            </p:childTnLst>
                          </p:cTn>
                        </p:par>
                        <p:par>
                          <p:cTn id="11" fill="hold">
                            <p:stCondLst>
                              <p:cond delay="500"/>
                            </p:stCondLst>
                            <p:childTnLst>
                              <p:par>
                                <p:cTn id="12" presetID="23" presetClass="entr" presetSubtype="16" fill="hold" nodeType="afterEffect">
                                  <p:stCondLst>
                                    <p:cond delay="0"/>
                                  </p:stCondLst>
                                  <p:childTnLst>
                                    <p:set>
                                      <p:cBhvr>
                                        <p:cTn id="13" dur="1000" fill="hold">
                                          <p:stCondLst>
                                            <p:cond delay="0"/>
                                          </p:stCondLst>
                                        </p:cTn>
                                        <p:tgtEl>
                                          <p:spTgt spid="307"/>
                                        </p:tgtEl>
                                        <p:attrNameLst>
                                          <p:attrName>style.visibility</p:attrName>
                                        </p:attrNameLst>
                                      </p:cBhvr>
                                      <p:to>
                                        <p:strVal val="visible"/>
                                      </p:to>
                                    </p:set>
                                    <p:anim calcmode="lin" valueType="num">
                                      <p:cBhvr>
                                        <p:cTn id="14" dur="1000" fill="hold"/>
                                        <p:tgtEl>
                                          <p:spTgt spid="307"/>
                                        </p:tgtEl>
                                        <p:attrNameLst>
                                          <p:attrName>ppt_w</p:attrName>
                                        </p:attrNameLst>
                                      </p:cBhvr>
                                      <p:tavLst>
                                        <p:tav tm="0">
                                          <p:val>
                                            <p:fltVal val="0"/>
                                          </p:val>
                                        </p:tav>
                                        <p:tav tm="100000">
                                          <p:val>
                                            <p:strVal val="#ppt_w"/>
                                          </p:val>
                                        </p:tav>
                                      </p:tavLst>
                                    </p:anim>
                                    <p:anim calcmode="lin" valueType="num">
                                      <p:cBhvr>
                                        <p:cTn id="15" dur="1000" fill="hold"/>
                                        <p:tgtEl>
                                          <p:spTgt spid="307"/>
                                        </p:tgtEl>
                                        <p:attrNameLst>
                                          <p:attrName>ppt_h</p:attrName>
                                        </p:attrNameLst>
                                      </p:cBhvr>
                                      <p:tavLst>
                                        <p:tav tm="0">
                                          <p:val>
                                            <p:fltVal val="0"/>
                                          </p:val>
                                        </p:tav>
                                        <p:tav tm="100000">
                                          <p:val>
                                            <p:strVal val="#ppt_h"/>
                                          </p:val>
                                        </p:tav>
                                      </p:tavLst>
                                    </p:anim>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305"/>
                                        </p:tgtEl>
                                        <p:attrNameLst>
                                          <p:attrName>style.visibility</p:attrName>
                                        </p:attrNameLst>
                                      </p:cBhvr>
                                      <p:to>
                                        <p:strVal val="visible"/>
                                      </p:to>
                                    </p:set>
                                    <p:anim calcmode="lin" valueType="num">
                                      <p:cBhvr>
                                        <p:cTn id="19" dur="500" fill="hold"/>
                                        <p:tgtEl>
                                          <p:spTgt spid="305"/>
                                        </p:tgtEl>
                                        <p:attrNameLst>
                                          <p:attrName>ppt_w</p:attrName>
                                        </p:attrNameLst>
                                      </p:cBhvr>
                                      <p:tavLst>
                                        <p:tav tm="0">
                                          <p:val>
                                            <p:fltVal val="0"/>
                                          </p:val>
                                        </p:tav>
                                        <p:tav tm="100000">
                                          <p:val>
                                            <p:strVal val="#ppt_w"/>
                                          </p:val>
                                        </p:tav>
                                      </p:tavLst>
                                    </p:anim>
                                    <p:anim calcmode="lin" valueType="num">
                                      <p:cBhvr>
                                        <p:cTn id="20" dur="500" fill="hold"/>
                                        <p:tgtEl>
                                          <p:spTgt spid="305"/>
                                        </p:tgtEl>
                                        <p:attrNameLst>
                                          <p:attrName>ppt_h</p:attrName>
                                        </p:attrNameLst>
                                      </p:cBhvr>
                                      <p:tavLst>
                                        <p:tav tm="0">
                                          <p:val>
                                            <p:fltVal val="0"/>
                                          </p:val>
                                        </p:tav>
                                        <p:tav tm="100000">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306"/>
                                        </p:tgtEl>
                                        <p:attrNameLst>
                                          <p:attrName>style.visibility</p:attrName>
                                        </p:attrNameLst>
                                      </p:cBhvr>
                                      <p:to>
                                        <p:strVal val="visible"/>
                                      </p:to>
                                    </p:set>
                                    <p:anim calcmode="lin" valueType="num">
                                      <p:cBhvr>
                                        <p:cTn id="23" dur="500" fill="hold"/>
                                        <p:tgtEl>
                                          <p:spTgt spid="306"/>
                                        </p:tgtEl>
                                        <p:attrNameLst>
                                          <p:attrName>ppt_w</p:attrName>
                                        </p:attrNameLst>
                                      </p:cBhvr>
                                      <p:tavLst>
                                        <p:tav tm="0">
                                          <p:val>
                                            <p:fltVal val="0"/>
                                          </p:val>
                                        </p:tav>
                                        <p:tav tm="100000">
                                          <p:val>
                                            <p:strVal val="#ppt_w"/>
                                          </p:val>
                                        </p:tav>
                                      </p:tavLst>
                                    </p:anim>
                                    <p:anim calcmode="lin" valueType="num">
                                      <p:cBhvr>
                                        <p:cTn id="24" dur="500" fill="hold"/>
                                        <p:tgtEl>
                                          <p:spTgt spid="30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B9B8F1">
                <a:alpha val="30000"/>
              </a:srgbClr>
            </a:gs>
            <a:gs pos="33000">
              <a:srgbClr val="B9B8F1">
                <a:alpha val="0"/>
              </a:srgbClr>
            </a:gs>
          </a:gsLst>
          <a:lin ang="16200000" scaled="1"/>
        </a:gradFill>
        <a:effectLst/>
      </p:bgPr>
    </p:bg>
    <p:spTree>
      <p:nvGrpSpPr>
        <p:cNvPr id="1" name=""/>
        <p:cNvGrpSpPr/>
        <p:nvPr/>
      </p:nvGrpSpPr>
      <p:grpSpPr>
        <a:xfrm>
          <a:off x="0" y="0"/>
          <a:ext cx="0" cy="0"/>
          <a:chOff x="0" y="0"/>
          <a:chExt cx="0" cy="0"/>
        </a:xfrm>
      </p:grpSpPr>
      <p:grpSp>
        <p:nvGrpSpPr>
          <p:cNvPr id="341" name="图形"/>
          <p:cNvGrpSpPr/>
          <p:nvPr/>
        </p:nvGrpSpPr>
        <p:grpSpPr>
          <a:xfrm>
            <a:off x="-477520" y="-918210"/>
            <a:ext cx="4231640" cy="2447925"/>
            <a:chOff x="-752" y="-1446"/>
            <a:chExt cx="6664" cy="3855"/>
          </a:xfrm>
        </p:grpSpPr>
        <p:sp>
          <p:nvSpPr>
            <p:cNvPr id="34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343" name="图形"/>
            <p:cNvSpPr txBox="1"/>
            <p:nvPr/>
          </p:nvSpPr>
          <p:spPr>
            <a:xfrm>
              <a:off x="1354" y="744"/>
              <a:ext cx="4558" cy="918"/>
            </a:xfrm>
            <a:prstGeom prst="rect">
              <a:avLst/>
            </a:prstGeom>
            <a:noFill/>
          </p:spPr>
          <p:txBody>
            <a:bodyPr wrap="square" lIns="0" tIns="0" rIns="0" bIns="0" rtlCol="0">
              <a:noAutofit/>
            </a:bodyPr>
            <a:lstStyle/>
            <a:p>
              <a:pPr algn="dist"/>
              <a:r>
                <a:rPr lang="zh-CN" sz="3600" b="1" dirty="0">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团队成员</a:t>
              </a:r>
            </a:p>
          </p:txBody>
        </p:sp>
        <p:sp>
          <p:nvSpPr>
            <p:cNvPr id="344"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346" name="平行四边形 345"/>
          <p:cNvSpPr/>
          <p:nvPr/>
        </p:nvSpPr>
        <p:spPr>
          <a:xfrm>
            <a:off x="4341238" y="2487043"/>
            <a:ext cx="3605729" cy="4370957"/>
          </a:xfrm>
          <a:prstGeom prst="parallelogram">
            <a:avLst/>
          </a:prstGeom>
          <a:gradFill rotWithShape="1">
            <a:gsLst>
              <a:gs pos="0">
                <a:srgbClr val="B9B8F1">
                  <a:alpha val="74000"/>
                </a:srgbClr>
              </a:gs>
              <a:gs pos="94000">
                <a:srgbClr val="B9B8F1">
                  <a:alpha val="0"/>
                </a:srgbClr>
              </a:gs>
            </a:gsLst>
            <a:lin ang="16560000" scaled="1"/>
          </a:gradFill>
          <a:ln w="0"/>
        </p:spPr>
        <p:txBody>
          <a:bodyPr anchor="ctr"/>
          <a:lstStyle/>
          <a:p>
            <a:pPr algn="ctr"/>
            <a:endParaRPr/>
          </a:p>
        </p:txBody>
      </p:sp>
      <p:sp>
        <p:nvSpPr>
          <p:cNvPr id="347" name="平行四边形 346"/>
          <p:cNvSpPr/>
          <p:nvPr/>
        </p:nvSpPr>
        <p:spPr>
          <a:xfrm>
            <a:off x="7854187" y="2487043"/>
            <a:ext cx="3605729" cy="4370957"/>
          </a:xfrm>
          <a:prstGeom prst="parallelogram">
            <a:avLst/>
          </a:prstGeom>
          <a:gradFill rotWithShape="1">
            <a:gsLst>
              <a:gs pos="0">
                <a:srgbClr val="B9B8F1">
                  <a:alpha val="74000"/>
                </a:srgbClr>
              </a:gs>
              <a:gs pos="94000">
                <a:srgbClr val="B9B8F1">
                  <a:alpha val="0"/>
                </a:srgbClr>
              </a:gs>
            </a:gsLst>
            <a:lin ang="16560000" scaled="1"/>
          </a:gradFill>
          <a:ln w="0"/>
        </p:spPr>
        <p:txBody>
          <a:bodyPr anchor="ctr"/>
          <a:lstStyle/>
          <a:p>
            <a:pPr algn="ctr"/>
            <a:endParaRPr/>
          </a:p>
        </p:txBody>
      </p:sp>
      <p:sp>
        <p:nvSpPr>
          <p:cNvPr id="345" name="平行四边形 344"/>
          <p:cNvSpPr/>
          <p:nvPr/>
        </p:nvSpPr>
        <p:spPr>
          <a:xfrm>
            <a:off x="859790" y="2487295"/>
            <a:ext cx="3605530" cy="4370705"/>
          </a:xfrm>
          <a:prstGeom prst="parallelogram">
            <a:avLst/>
          </a:prstGeom>
          <a:gradFill rotWithShape="1">
            <a:gsLst>
              <a:gs pos="0">
                <a:srgbClr val="B9B8F1">
                  <a:alpha val="74000"/>
                </a:srgbClr>
              </a:gs>
              <a:gs pos="94000">
                <a:srgbClr val="B9B8F1">
                  <a:alpha val="0"/>
                </a:srgbClr>
              </a:gs>
            </a:gsLst>
            <a:lin ang="16560000" scaled="1"/>
          </a:gradFill>
          <a:ln w="0"/>
        </p:spPr>
        <p:txBody>
          <a:bodyPr anchor="ctr"/>
          <a:lstStyle/>
          <a:p>
            <a:pPr algn="ctr"/>
            <a:endParaRPr/>
          </a:p>
        </p:txBody>
      </p:sp>
      <p:sp>
        <p:nvSpPr>
          <p:cNvPr id="348" name="平行四边形 347"/>
          <p:cNvSpPr/>
          <p:nvPr/>
        </p:nvSpPr>
        <p:spPr>
          <a:xfrm>
            <a:off x="969010" y="2818765"/>
            <a:ext cx="3495675" cy="2774315"/>
          </a:xfrm>
          <a:prstGeom prst="parallelogram">
            <a:avLst/>
          </a:prstGeom>
          <a:noFill/>
          <a:ln w="0"/>
        </p:spPr>
        <p:txBody>
          <a:bodyPr anchor="ctr"/>
          <a:lstStyle/>
          <a:p>
            <a:pPr algn="ctr">
              <a:lnSpc>
                <a:spcPct val="130000"/>
              </a:lnSpc>
            </a:pPr>
            <a:r>
              <a:rPr lang="zh-CN" sz="2400" b="1" dirty="0">
                <a:latin typeface="微软雅黑" panose="020B0503020204020204" pitchFamily="34" charset="-122"/>
                <a:ea typeface="微软雅黑" panose="020B0503020204020204" pitchFamily="34" charset="-122"/>
                <a:cs typeface="+mn-cs"/>
              </a:rPr>
              <a:t>前端：</a:t>
            </a:r>
          </a:p>
          <a:p>
            <a:pPr algn="ctr">
              <a:lnSpc>
                <a:spcPct val="130000"/>
              </a:lnSpc>
            </a:pPr>
            <a:r>
              <a:rPr lang="zh-CN" sz="2400" dirty="0">
                <a:latin typeface="微软雅黑" panose="020B0503020204020204" pitchFamily="34" charset="-122"/>
                <a:ea typeface="微软雅黑" panose="020B0503020204020204" pitchFamily="34" charset="-122"/>
                <a:cs typeface="+mn-cs"/>
              </a:rPr>
              <a:t>登录注册界面</a:t>
            </a:r>
          </a:p>
          <a:p>
            <a:pPr algn="ctr">
              <a:lnSpc>
                <a:spcPct val="130000"/>
              </a:lnSpc>
            </a:pPr>
            <a:r>
              <a:rPr lang="zh-CN" sz="2400" dirty="0">
                <a:latin typeface="微软雅黑" panose="020B0503020204020204" pitchFamily="34" charset="-122"/>
                <a:ea typeface="微软雅黑" panose="020B0503020204020204" pitchFamily="34" charset="-122"/>
                <a:cs typeface="+mn-cs"/>
              </a:rPr>
              <a:t>数据表辅助实现</a:t>
            </a:r>
          </a:p>
        </p:txBody>
      </p:sp>
      <p:sp>
        <p:nvSpPr>
          <p:cNvPr id="349" name="平行四边形 348"/>
          <p:cNvSpPr/>
          <p:nvPr/>
        </p:nvSpPr>
        <p:spPr>
          <a:xfrm>
            <a:off x="7808918" y="2839591"/>
            <a:ext cx="3723640" cy="2774315"/>
          </a:xfrm>
          <a:prstGeom prst="parallelogram">
            <a:avLst/>
          </a:prstGeom>
          <a:noFill/>
          <a:ln w="0"/>
        </p:spPr>
        <p:txBody>
          <a:bodyPr anchor="ctr"/>
          <a:lstStyle/>
          <a:p>
            <a:pPr algn="ctr">
              <a:lnSpc>
                <a:spcPct val="130000"/>
              </a:lnSpc>
            </a:pPr>
            <a:r>
              <a:rPr lang="en-US" sz="2400" b="1" dirty="0">
                <a:latin typeface="宋体" panose="02010600030101010101" pitchFamily="2" charset="-122"/>
                <a:ea typeface="宋体" panose="02010600030101010101" pitchFamily="2" charset="-122"/>
                <a:cs typeface="+mn-cs"/>
              </a:rPr>
              <a:t>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后端</a:t>
            </a:r>
            <a:r>
              <a:rPr lang="zh-CN" sz="2400" b="1" dirty="0">
                <a:latin typeface="微软雅黑" panose="020B0503020204020204" pitchFamily="34" charset="-122"/>
                <a:ea typeface="微软雅黑" panose="020B0503020204020204" pitchFamily="34" charset="-122"/>
                <a:cs typeface="微软雅黑" panose="020B0503020204020204" pitchFamily="34" charset="-122"/>
              </a:rPr>
              <a:t>：</a:t>
            </a:r>
          </a:p>
          <a:p>
            <a:pPr algn="ctr">
              <a:lnSpc>
                <a:spcPct val="130000"/>
              </a:lnSpc>
            </a:pP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sz="2400" dirty="0">
                <a:latin typeface="微软雅黑" panose="020B0503020204020204" pitchFamily="34" charset="-122"/>
                <a:ea typeface="微软雅黑" panose="020B0503020204020204" pitchFamily="34" charset="-122"/>
                <a:cs typeface="微软雅黑" panose="020B0503020204020204" pitchFamily="34" charset="-122"/>
              </a:rPr>
              <a:t>大模型开源下载</a:t>
            </a:r>
          </a:p>
          <a:p>
            <a:pPr algn="ctr">
              <a:lnSpc>
                <a:spcPct val="130000"/>
              </a:lnSpc>
            </a:pPr>
            <a:r>
              <a:rPr lang="zh-CN" sz="2400" dirty="0">
                <a:latin typeface="微软雅黑" panose="020B0503020204020204" pitchFamily="34" charset="-122"/>
                <a:ea typeface="微软雅黑" panose="020B0503020204020204" pitchFamily="34" charset="-122"/>
                <a:cs typeface="微软雅黑" panose="020B0503020204020204" pitchFamily="34" charset="-122"/>
              </a:rPr>
              <a:t>大模型功能微调</a:t>
            </a:r>
          </a:p>
        </p:txBody>
      </p:sp>
      <p:sp>
        <p:nvSpPr>
          <p:cNvPr id="350" name="平行四边形 349"/>
          <p:cNvSpPr/>
          <p:nvPr/>
        </p:nvSpPr>
        <p:spPr>
          <a:xfrm>
            <a:off x="4375777" y="2839591"/>
            <a:ext cx="3605720" cy="2774608"/>
          </a:xfrm>
          <a:prstGeom prst="parallelogram">
            <a:avLst/>
          </a:prstGeom>
          <a:noFill/>
          <a:ln w="0"/>
        </p:spPr>
        <p:txBody>
          <a:bodyPr anchor="ctr"/>
          <a:lstStyle/>
          <a:p>
            <a:pPr algn="ctr">
              <a:lnSpc>
                <a:spcPct val="130000"/>
              </a:lnSpc>
            </a:pPr>
            <a:r>
              <a:rPr lang="en-US" sz="2400" b="1" dirty="0">
                <a:latin typeface="宋体" panose="02010600030101010101" pitchFamily="2" charset="-122"/>
                <a:ea typeface="宋体" panose="02010600030101010101" pitchFamily="2" charset="-122"/>
                <a:cs typeface="+mn-cs"/>
              </a:rPr>
              <a:t> </a:t>
            </a:r>
            <a:r>
              <a:rPr lang="zh-CN" sz="2400" b="1" dirty="0">
                <a:latin typeface="微软雅黑" panose="020B0503020204020204" pitchFamily="34" charset="-122"/>
                <a:ea typeface="微软雅黑" panose="020B0503020204020204" pitchFamily="34" charset="-122"/>
                <a:cs typeface="微软雅黑" panose="020B0503020204020204" pitchFamily="34" charset="-122"/>
              </a:rPr>
              <a:t>前端：</a:t>
            </a:r>
          </a:p>
          <a:p>
            <a:pPr algn="ctr">
              <a:lnSpc>
                <a:spcPct val="130000"/>
              </a:lnSpc>
            </a:pP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sz="2400" dirty="0">
                <a:latin typeface="微软雅黑" panose="020B0503020204020204" pitchFamily="34" charset="-122"/>
                <a:ea typeface="微软雅黑" panose="020B0503020204020204" pitchFamily="34" charset="-122"/>
                <a:cs typeface="微软雅黑" panose="020B0503020204020204" pitchFamily="34" charset="-122"/>
              </a:rPr>
              <a:t>用户功能界面</a:t>
            </a:r>
          </a:p>
          <a:p>
            <a:pPr algn="ctr">
              <a:lnSpc>
                <a:spcPct val="130000"/>
              </a:lnSpc>
            </a:pPr>
            <a:r>
              <a:rPr lang="zh-CN" sz="2400" dirty="0">
                <a:latin typeface="微软雅黑" panose="020B0503020204020204" pitchFamily="34" charset="-122"/>
                <a:ea typeface="微软雅黑" panose="020B0503020204020204" pitchFamily="34" charset="-122"/>
                <a:cs typeface="微软雅黑" panose="020B0503020204020204" pitchFamily="34" charset="-122"/>
              </a:rPr>
              <a:t>大模型界面微调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48"/>
                                        </p:tgtEl>
                                        <p:attrNameLst>
                                          <p:attrName>style.visibility</p:attrName>
                                        </p:attrNameLst>
                                      </p:cBhvr>
                                      <p:to>
                                        <p:strVal val="visible"/>
                                      </p:to>
                                    </p:set>
                                    <p:animEffect transition="in" filter="wipe(down)">
                                      <p:cBhvr>
                                        <p:cTn id="7" dur="500"/>
                                        <p:tgtEl>
                                          <p:spTgt spid="34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45"/>
                                        </p:tgtEl>
                                        <p:attrNameLst>
                                          <p:attrName>style.visibility</p:attrName>
                                        </p:attrNameLst>
                                      </p:cBhvr>
                                      <p:to>
                                        <p:strVal val="visible"/>
                                      </p:to>
                                    </p:set>
                                    <p:animEffect transition="in" filter="wipe(down)">
                                      <p:cBhvr>
                                        <p:cTn id="10" dur="500"/>
                                        <p:tgtEl>
                                          <p:spTgt spid="34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9"/>
                                        </p:tgtEl>
                                        <p:attrNameLst>
                                          <p:attrName>style.visibility</p:attrName>
                                        </p:attrNameLst>
                                      </p:cBhvr>
                                      <p:to>
                                        <p:strVal val="visible"/>
                                      </p:to>
                                    </p:set>
                                    <p:animEffect transition="in" filter="wipe(down)">
                                      <p:cBhvr>
                                        <p:cTn id="13" dur="500"/>
                                        <p:tgtEl>
                                          <p:spTgt spid="34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46"/>
                                        </p:tgtEl>
                                        <p:attrNameLst>
                                          <p:attrName>style.visibility</p:attrName>
                                        </p:attrNameLst>
                                      </p:cBhvr>
                                      <p:to>
                                        <p:strVal val="visible"/>
                                      </p:to>
                                    </p:set>
                                    <p:animEffect transition="in" filter="wipe(down)">
                                      <p:cBhvr>
                                        <p:cTn id="16" dur="500"/>
                                        <p:tgtEl>
                                          <p:spTgt spid="34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47"/>
                                        </p:tgtEl>
                                        <p:attrNameLst>
                                          <p:attrName>style.visibility</p:attrName>
                                        </p:attrNameLst>
                                      </p:cBhvr>
                                      <p:to>
                                        <p:strVal val="visible"/>
                                      </p:to>
                                    </p:set>
                                    <p:animEffect transition="in" filter="wipe(down)">
                                      <p:cBhvr>
                                        <p:cTn id="19" dur="500"/>
                                        <p:tgtEl>
                                          <p:spTgt spid="347"/>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50"/>
                                        </p:tgtEl>
                                        <p:attrNameLst>
                                          <p:attrName>style.visibility</p:attrName>
                                        </p:attrNameLst>
                                      </p:cBhvr>
                                      <p:to>
                                        <p:strVal val="visible"/>
                                      </p:to>
                                    </p:set>
                                    <p:animEffect transition="in" filter="wipe(down)">
                                      <p:cBhvr>
                                        <p:cTn id="22" dur="500"/>
                                        <p:tgtEl>
                                          <p:spTgt spid="3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1" fill="hold" grpId="1" nodeType="clickEffect">
                                  <p:stCondLst>
                                    <p:cond delay="0"/>
                                  </p:stCondLst>
                                  <p:childTnLst>
                                    <p:animEffect transition="out" filter="wipe(up)">
                                      <p:cBhvr>
                                        <p:cTn id="26" dur="500"/>
                                        <p:tgtEl>
                                          <p:spTgt spid="348"/>
                                        </p:tgtEl>
                                      </p:cBhvr>
                                    </p:animEffect>
                                    <p:set>
                                      <p:cBhvr>
                                        <p:cTn id="27" dur="1" fill="hold">
                                          <p:stCondLst>
                                            <p:cond delay="499"/>
                                          </p:stCondLst>
                                        </p:cTn>
                                        <p:tgtEl>
                                          <p:spTgt spid="34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1" fill="hold" grpId="1" nodeType="clickEffect">
                                  <p:stCondLst>
                                    <p:cond delay="0"/>
                                  </p:stCondLst>
                                  <p:childTnLst>
                                    <p:animEffect transition="out" filter="wipe(up)">
                                      <p:cBhvr>
                                        <p:cTn id="31" dur="500"/>
                                        <p:tgtEl>
                                          <p:spTgt spid="350"/>
                                        </p:tgtEl>
                                      </p:cBhvr>
                                    </p:animEffect>
                                    <p:set>
                                      <p:cBhvr>
                                        <p:cTn id="32" dur="1" fill="hold">
                                          <p:stCondLst>
                                            <p:cond delay="499"/>
                                          </p:stCondLst>
                                        </p:cTn>
                                        <p:tgtEl>
                                          <p:spTgt spid="35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1" fill="hold" grpId="1" nodeType="clickEffect">
                                  <p:stCondLst>
                                    <p:cond delay="0"/>
                                  </p:stCondLst>
                                  <p:childTnLst>
                                    <p:animEffect transition="out" filter="wipe(up)">
                                      <p:cBhvr>
                                        <p:cTn id="36" dur="500"/>
                                        <p:tgtEl>
                                          <p:spTgt spid="349"/>
                                        </p:tgtEl>
                                      </p:cBhvr>
                                    </p:animEffect>
                                    <p:set>
                                      <p:cBhvr>
                                        <p:cTn id="37" dur="1" fill="hold">
                                          <p:stCondLst>
                                            <p:cond delay="499"/>
                                          </p:stCondLst>
                                        </p:cTn>
                                        <p:tgtEl>
                                          <p:spTgt spid="3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 grpId="0" animBg="1"/>
      <p:bldP spid="347" grpId="0" animBg="1"/>
      <p:bldP spid="345" grpId="0" animBg="1"/>
      <p:bldP spid="348" grpId="0" animBg="1"/>
      <p:bldP spid="348" grpId="1" animBg="1"/>
      <p:bldP spid="349" grpId="0" animBg="1"/>
      <p:bldP spid="349" grpId="1" animBg="1"/>
      <p:bldP spid="350" grpId="0" animBg="1"/>
      <p:bldP spid="350"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B9B8F1">
                <a:alpha val="30000"/>
              </a:srgbClr>
            </a:gs>
            <a:gs pos="33000">
              <a:srgbClr val="B9B8F1">
                <a:alpha val="0"/>
              </a:srgbClr>
            </a:gs>
          </a:gsLst>
          <a:lin ang="16200000" scaled="1"/>
        </a:gradFill>
        <a:effectLst/>
      </p:bgPr>
    </p:bg>
    <p:spTree>
      <p:nvGrpSpPr>
        <p:cNvPr id="1" name=""/>
        <p:cNvGrpSpPr/>
        <p:nvPr/>
      </p:nvGrpSpPr>
      <p:grpSpPr>
        <a:xfrm>
          <a:off x="0" y="0"/>
          <a:ext cx="0" cy="0"/>
          <a:chOff x="0" y="0"/>
          <a:chExt cx="0" cy="0"/>
        </a:xfrm>
      </p:grpSpPr>
      <p:grpSp>
        <p:nvGrpSpPr>
          <p:cNvPr id="341" name="图形"/>
          <p:cNvGrpSpPr/>
          <p:nvPr/>
        </p:nvGrpSpPr>
        <p:grpSpPr>
          <a:xfrm>
            <a:off x="-477520" y="-918210"/>
            <a:ext cx="4231640" cy="2447925"/>
            <a:chOff x="-752" y="-1446"/>
            <a:chExt cx="6664" cy="3855"/>
          </a:xfrm>
        </p:grpSpPr>
        <p:sp>
          <p:nvSpPr>
            <p:cNvPr id="34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B9B8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sp>
          <p:nvSpPr>
            <p:cNvPr id="343" name="图形"/>
            <p:cNvSpPr txBox="1"/>
            <p:nvPr/>
          </p:nvSpPr>
          <p:spPr>
            <a:xfrm>
              <a:off x="1354" y="744"/>
              <a:ext cx="4558" cy="918"/>
            </a:xfrm>
            <a:prstGeom prst="rect">
              <a:avLst/>
            </a:prstGeom>
            <a:noFill/>
          </p:spPr>
          <p:txBody>
            <a:bodyPr wrap="square" lIns="0" tIns="0" rIns="0" bIns="0" rtlCol="0">
              <a:noAutofit/>
            </a:bodyPr>
            <a:lstStyle/>
            <a:p>
              <a:pPr algn="dist"/>
              <a:r>
                <a:rPr lang="zh-CN" sz="3600" b="1" dirty="0">
                  <a:solidFill>
                    <a:schemeClr val="tx1">
                      <a:lumMod val="75000"/>
                      <a:lumOff val="25000"/>
                      <a:alpha val="100000"/>
                    </a:schemeClr>
                  </a:solidFill>
                  <a:latin typeface="微软雅黑" panose="020B0503020204020204" pitchFamily="34" charset="-122"/>
                  <a:ea typeface="微软雅黑" panose="020B0503020204020204" pitchFamily="34" charset="-122"/>
                  <a:cs typeface="思源黑体 Normal"/>
                  <a:sym typeface="Arial" panose="020B0604020202020204"/>
                </a:rPr>
                <a:t>团队成员</a:t>
              </a:r>
            </a:p>
          </p:txBody>
        </p:sp>
        <p:sp>
          <p:nvSpPr>
            <p:cNvPr id="344" name="图形"/>
            <p:cNvSpPr/>
            <p:nvPr/>
          </p:nvSpPr>
          <p:spPr>
            <a:xfrm rot="13020000" flipH="1" flipV="1">
              <a:off x="-476" y="-993"/>
              <a:ext cx="1800" cy="2950"/>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346" name="平行四边形 345"/>
          <p:cNvSpPr/>
          <p:nvPr/>
        </p:nvSpPr>
        <p:spPr>
          <a:xfrm>
            <a:off x="4341238" y="2487043"/>
            <a:ext cx="3605729" cy="4370957"/>
          </a:xfrm>
          <a:prstGeom prst="parallelogram">
            <a:avLst/>
          </a:prstGeom>
          <a:gradFill rotWithShape="1">
            <a:gsLst>
              <a:gs pos="0">
                <a:srgbClr val="B9B8F1">
                  <a:alpha val="74000"/>
                </a:srgbClr>
              </a:gs>
              <a:gs pos="94000">
                <a:srgbClr val="B9B8F1">
                  <a:alpha val="0"/>
                </a:srgbClr>
              </a:gs>
            </a:gsLst>
            <a:lin ang="16560000" scaled="1"/>
          </a:gradFill>
          <a:ln w="0"/>
        </p:spPr>
        <p:txBody>
          <a:bodyPr anchor="ctr"/>
          <a:lstStyle/>
          <a:p>
            <a:pPr algn="ctr"/>
            <a:endParaRPr/>
          </a:p>
        </p:txBody>
      </p:sp>
      <p:sp>
        <p:nvSpPr>
          <p:cNvPr id="347" name="平行四边形 346"/>
          <p:cNvSpPr/>
          <p:nvPr/>
        </p:nvSpPr>
        <p:spPr>
          <a:xfrm>
            <a:off x="7854187" y="2487043"/>
            <a:ext cx="3605729" cy="4370957"/>
          </a:xfrm>
          <a:prstGeom prst="parallelogram">
            <a:avLst/>
          </a:prstGeom>
          <a:gradFill rotWithShape="1">
            <a:gsLst>
              <a:gs pos="0">
                <a:srgbClr val="B9B8F1">
                  <a:alpha val="74000"/>
                </a:srgbClr>
              </a:gs>
              <a:gs pos="94000">
                <a:srgbClr val="B9B8F1">
                  <a:alpha val="0"/>
                </a:srgbClr>
              </a:gs>
            </a:gsLst>
            <a:lin ang="16560000" scaled="1"/>
          </a:gradFill>
          <a:ln w="0"/>
        </p:spPr>
        <p:txBody>
          <a:bodyPr anchor="ctr"/>
          <a:lstStyle/>
          <a:p>
            <a:pPr algn="ctr"/>
            <a:endParaRPr/>
          </a:p>
        </p:txBody>
      </p:sp>
      <p:sp>
        <p:nvSpPr>
          <p:cNvPr id="345" name="平行四边形 344"/>
          <p:cNvSpPr/>
          <p:nvPr/>
        </p:nvSpPr>
        <p:spPr>
          <a:xfrm>
            <a:off x="859790" y="2487295"/>
            <a:ext cx="3605530" cy="4370705"/>
          </a:xfrm>
          <a:prstGeom prst="parallelogram">
            <a:avLst/>
          </a:prstGeom>
          <a:gradFill rotWithShape="1">
            <a:gsLst>
              <a:gs pos="0">
                <a:srgbClr val="B9B8F1">
                  <a:alpha val="74000"/>
                </a:srgbClr>
              </a:gs>
              <a:gs pos="94000">
                <a:srgbClr val="B9B8F1">
                  <a:alpha val="0"/>
                </a:srgbClr>
              </a:gs>
            </a:gsLst>
            <a:lin ang="16560000" scaled="1"/>
          </a:gradFill>
          <a:ln w="0"/>
        </p:spPr>
        <p:txBody>
          <a:bodyPr anchor="ctr"/>
          <a:lstStyle/>
          <a:p>
            <a:pPr algn="ctr"/>
            <a:endParaRPr/>
          </a:p>
        </p:txBody>
      </p:sp>
      <p:sp>
        <p:nvSpPr>
          <p:cNvPr id="348" name="平行四边形 347"/>
          <p:cNvSpPr/>
          <p:nvPr/>
        </p:nvSpPr>
        <p:spPr>
          <a:xfrm>
            <a:off x="969010" y="2818765"/>
            <a:ext cx="3495675" cy="2774315"/>
          </a:xfrm>
          <a:prstGeom prst="parallelogram">
            <a:avLst/>
          </a:prstGeom>
          <a:noFill/>
          <a:ln w="0"/>
        </p:spPr>
        <p:txBody>
          <a:bodyPr anchor="ctr"/>
          <a:lstStyle/>
          <a:p>
            <a:pPr algn="ctr">
              <a:lnSpc>
                <a:spcPct val="130000"/>
              </a:lnSpc>
            </a:pPr>
            <a:r>
              <a:rPr lang="zh-CN" sz="2400" b="1" dirty="0">
                <a:latin typeface="微软雅黑" panose="020B0503020204020204" pitchFamily="34" charset="-122"/>
                <a:ea typeface="微软雅黑" panose="020B0503020204020204" pitchFamily="34" charset="-122"/>
                <a:cs typeface="+mn-cs"/>
              </a:rPr>
              <a:t>模型：</a:t>
            </a:r>
          </a:p>
          <a:p>
            <a:pPr algn="ctr">
              <a:lnSpc>
                <a:spcPct val="130000"/>
              </a:lnSpc>
            </a:pPr>
            <a:r>
              <a:rPr lang="zh-CN" sz="2400" dirty="0">
                <a:latin typeface="微软雅黑" panose="020B0503020204020204" pitchFamily="34" charset="-122"/>
                <a:ea typeface="微软雅黑" panose="020B0503020204020204" pitchFamily="34" charset="-122"/>
                <a:cs typeface="+mn-cs"/>
              </a:rPr>
              <a:t>登录注册界面</a:t>
            </a:r>
          </a:p>
          <a:p>
            <a:pPr algn="ctr">
              <a:lnSpc>
                <a:spcPct val="130000"/>
              </a:lnSpc>
            </a:pPr>
            <a:r>
              <a:rPr lang="zh-CN" sz="2400" dirty="0">
                <a:latin typeface="微软雅黑" panose="020B0503020204020204" pitchFamily="34" charset="-122"/>
                <a:ea typeface="微软雅黑" panose="020B0503020204020204" pitchFamily="34" charset="-122"/>
                <a:cs typeface="+mn-cs"/>
              </a:rPr>
              <a:t>数据表辅助实现</a:t>
            </a:r>
          </a:p>
        </p:txBody>
      </p:sp>
      <p:sp>
        <p:nvSpPr>
          <p:cNvPr id="349" name="平行四边形 348"/>
          <p:cNvSpPr/>
          <p:nvPr/>
        </p:nvSpPr>
        <p:spPr>
          <a:xfrm>
            <a:off x="7808918" y="2839591"/>
            <a:ext cx="3723640" cy="2774315"/>
          </a:xfrm>
          <a:prstGeom prst="parallelogram">
            <a:avLst/>
          </a:prstGeom>
          <a:noFill/>
          <a:ln w="0"/>
        </p:spPr>
        <p:txBody>
          <a:bodyPr anchor="ctr"/>
          <a:lstStyle/>
          <a:p>
            <a:pPr algn="ctr">
              <a:lnSpc>
                <a:spcPct val="130000"/>
              </a:lnSpc>
            </a:pPr>
            <a:r>
              <a:rPr lang="en-US" sz="2400" b="1" dirty="0">
                <a:latin typeface="宋体" panose="02010600030101010101" pitchFamily="2" charset="-122"/>
                <a:ea typeface="宋体" panose="02010600030101010101" pitchFamily="2" charset="-122"/>
                <a:cs typeface="+mn-cs"/>
              </a:rPr>
              <a:t>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模型</a:t>
            </a:r>
            <a:r>
              <a:rPr lang="zh-CN" sz="2400" b="1" dirty="0">
                <a:latin typeface="微软雅黑" panose="020B0503020204020204" pitchFamily="34" charset="-122"/>
                <a:ea typeface="微软雅黑" panose="020B0503020204020204" pitchFamily="34" charset="-122"/>
                <a:cs typeface="微软雅黑" panose="020B0503020204020204" pitchFamily="34" charset="-122"/>
              </a:rPr>
              <a:t>：</a:t>
            </a:r>
          </a:p>
          <a:p>
            <a:pPr algn="ctr">
              <a:lnSpc>
                <a:spcPct val="130000"/>
              </a:lnSpc>
            </a:pP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sz="2400" dirty="0">
                <a:latin typeface="微软雅黑" panose="020B0503020204020204" pitchFamily="34" charset="-122"/>
                <a:ea typeface="微软雅黑" panose="020B0503020204020204" pitchFamily="34" charset="-122"/>
                <a:cs typeface="微软雅黑" panose="020B0503020204020204" pitchFamily="34" charset="-122"/>
              </a:rPr>
              <a:t>大模型开源下载</a:t>
            </a:r>
          </a:p>
          <a:p>
            <a:pPr algn="ctr">
              <a:lnSpc>
                <a:spcPct val="130000"/>
              </a:lnSpc>
            </a:pPr>
            <a:r>
              <a:rPr lang="zh-CN" sz="2400" dirty="0">
                <a:latin typeface="微软雅黑" panose="020B0503020204020204" pitchFamily="34" charset="-122"/>
                <a:ea typeface="微软雅黑" panose="020B0503020204020204" pitchFamily="34" charset="-122"/>
                <a:cs typeface="微软雅黑" panose="020B0503020204020204" pitchFamily="34" charset="-122"/>
              </a:rPr>
              <a:t>大模型功能微调</a:t>
            </a:r>
          </a:p>
        </p:txBody>
      </p:sp>
      <p:sp>
        <p:nvSpPr>
          <p:cNvPr id="350" name="平行四边形 349"/>
          <p:cNvSpPr/>
          <p:nvPr/>
        </p:nvSpPr>
        <p:spPr>
          <a:xfrm>
            <a:off x="4375777" y="2839591"/>
            <a:ext cx="3605720" cy="2774608"/>
          </a:xfrm>
          <a:prstGeom prst="parallelogram">
            <a:avLst/>
          </a:prstGeom>
          <a:noFill/>
          <a:ln w="0"/>
        </p:spPr>
        <p:txBody>
          <a:bodyPr anchor="ctr"/>
          <a:lstStyle/>
          <a:p>
            <a:pPr algn="ctr">
              <a:lnSpc>
                <a:spcPct val="130000"/>
              </a:lnSpc>
            </a:pPr>
            <a:r>
              <a:rPr lang="en-US" sz="2400" b="1" dirty="0">
                <a:latin typeface="宋体" panose="02010600030101010101" pitchFamily="2" charset="-122"/>
                <a:ea typeface="宋体" panose="02010600030101010101" pitchFamily="2" charset="-122"/>
                <a:cs typeface="+mn-cs"/>
              </a:rPr>
              <a:t>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模型</a:t>
            </a:r>
            <a:r>
              <a:rPr lang="zh-CN" sz="2400" b="1" dirty="0">
                <a:latin typeface="微软雅黑" panose="020B0503020204020204" pitchFamily="34" charset="-122"/>
                <a:ea typeface="微软雅黑" panose="020B0503020204020204" pitchFamily="34" charset="-122"/>
                <a:cs typeface="微软雅黑" panose="020B0503020204020204" pitchFamily="34" charset="-122"/>
              </a:rPr>
              <a:t>：</a:t>
            </a:r>
          </a:p>
          <a:p>
            <a:pPr algn="ctr">
              <a:lnSpc>
                <a:spcPct val="130000"/>
              </a:lnSpc>
            </a:pP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sz="2400" dirty="0">
                <a:latin typeface="微软雅黑" panose="020B0503020204020204" pitchFamily="34" charset="-122"/>
                <a:ea typeface="微软雅黑" panose="020B0503020204020204" pitchFamily="34" charset="-122"/>
                <a:cs typeface="微软雅黑" panose="020B0503020204020204" pitchFamily="34" charset="-122"/>
              </a:rPr>
              <a:t>用户功能界面</a:t>
            </a:r>
          </a:p>
          <a:p>
            <a:pPr algn="ctr">
              <a:lnSpc>
                <a:spcPct val="130000"/>
              </a:lnSpc>
            </a:pPr>
            <a:r>
              <a:rPr lang="zh-CN" sz="2400" dirty="0">
                <a:latin typeface="微软雅黑" panose="020B0503020204020204" pitchFamily="34" charset="-122"/>
                <a:ea typeface="微软雅黑" panose="020B0503020204020204" pitchFamily="34" charset="-122"/>
                <a:cs typeface="微软雅黑" panose="020B0503020204020204" pitchFamily="34" charset="-122"/>
              </a:rPr>
              <a:t>大模型界面微调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48"/>
                                        </p:tgtEl>
                                        <p:attrNameLst>
                                          <p:attrName>style.visibility</p:attrName>
                                        </p:attrNameLst>
                                      </p:cBhvr>
                                      <p:to>
                                        <p:strVal val="visible"/>
                                      </p:to>
                                    </p:set>
                                    <p:animEffect transition="in" filter="wipe(down)">
                                      <p:cBhvr>
                                        <p:cTn id="7" dur="500"/>
                                        <p:tgtEl>
                                          <p:spTgt spid="34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45"/>
                                        </p:tgtEl>
                                        <p:attrNameLst>
                                          <p:attrName>style.visibility</p:attrName>
                                        </p:attrNameLst>
                                      </p:cBhvr>
                                      <p:to>
                                        <p:strVal val="visible"/>
                                      </p:to>
                                    </p:set>
                                    <p:animEffect transition="in" filter="wipe(down)">
                                      <p:cBhvr>
                                        <p:cTn id="10" dur="500"/>
                                        <p:tgtEl>
                                          <p:spTgt spid="34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9"/>
                                        </p:tgtEl>
                                        <p:attrNameLst>
                                          <p:attrName>style.visibility</p:attrName>
                                        </p:attrNameLst>
                                      </p:cBhvr>
                                      <p:to>
                                        <p:strVal val="visible"/>
                                      </p:to>
                                    </p:set>
                                    <p:animEffect transition="in" filter="wipe(down)">
                                      <p:cBhvr>
                                        <p:cTn id="13" dur="500"/>
                                        <p:tgtEl>
                                          <p:spTgt spid="34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46"/>
                                        </p:tgtEl>
                                        <p:attrNameLst>
                                          <p:attrName>style.visibility</p:attrName>
                                        </p:attrNameLst>
                                      </p:cBhvr>
                                      <p:to>
                                        <p:strVal val="visible"/>
                                      </p:to>
                                    </p:set>
                                    <p:animEffect transition="in" filter="wipe(down)">
                                      <p:cBhvr>
                                        <p:cTn id="16" dur="500"/>
                                        <p:tgtEl>
                                          <p:spTgt spid="34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47"/>
                                        </p:tgtEl>
                                        <p:attrNameLst>
                                          <p:attrName>style.visibility</p:attrName>
                                        </p:attrNameLst>
                                      </p:cBhvr>
                                      <p:to>
                                        <p:strVal val="visible"/>
                                      </p:to>
                                    </p:set>
                                    <p:animEffect transition="in" filter="wipe(down)">
                                      <p:cBhvr>
                                        <p:cTn id="19" dur="500"/>
                                        <p:tgtEl>
                                          <p:spTgt spid="347"/>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50"/>
                                        </p:tgtEl>
                                        <p:attrNameLst>
                                          <p:attrName>style.visibility</p:attrName>
                                        </p:attrNameLst>
                                      </p:cBhvr>
                                      <p:to>
                                        <p:strVal val="visible"/>
                                      </p:to>
                                    </p:set>
                                    <p:animEffect transition="in" filter="wipe(down)">
                                      <p:cBhvr>
                                        <p:cTn id="22" dur="500"/>
                                        <p:tgtEl>
                                          <p:spTgt spid="3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1" fill="hold" grpId="1" nodeType="clickEffect">
                                  <p:stCondLst>
                                    <p:cond delay="0"/>
                                  </p:stCondLst>
                                  <p:childTnLst>
                                    <p:animEffect transition="out" filter="wipe(up)">
                                      <p:cBhvr>
                                        <p:cTn id="26" dur="500"/>
                                        <p:tgtEl>
                                          <p:spTgt spid="348"/>
                                        </p:tgtEl>
                                      </p:cBhvr>
                                    </p:animEffect>
                                    <p:set>
                                      <p:cBhvr>
                                        <p:cTn id="27" dur="1" fill="hold">
                                          <p:stCondLst>
                                            <p:cond delay="499"/>
                                          </p:stCondLst>
                                        </p:cTn>
                                        <p:tgtEl>
                                          <p:spTgt spid="34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1" fill="hold" grpId="1" nodeType="clickEffect">
                                  <p:stCondLst>
                                    <p:cond delay="0"/>
                                  </p:stCondLst>
                                  <p:childTnLst>
                                    <p:animEffect transition="out" filter="wipe(up)">
                                      <p:cBhvr>
                                        <p:cTn id="31" dur="500"/>
                                        <p:tgtEl>
                                          <p:spTgt spid="350"/>
                                        </p:tgtEl>
                                      </p:cBhvr>
                                    </p:animEffect>
                                    <p:set>
                                      <p:cBhvr>
                                        <p:cTn id="32" dur="1" fill="hold">
                                          <p:stCondLst>
                                            <p:cond delay="499"/>
                                          </p:stCondLst>
                                        </p:cTn>
                                        <p:tgtEl>
                                          <p:spTgt spid="35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1" fill="hold" grpId="1" nodeType="clickEffect">
                                  <p:stCondLst>
                                    <p:cond delay="0"/>
                                  </p:stCondLst>
                                  <p:childTnLst>
                                    <p:animEffect transition="out" filter="wipe(up)">
                                      <p:cBhvr>
                                        <p:cTn id="36" dur="500"/>
                                        <p:tgtEl>
                                          <p:spTgt spid="349"/>
                                        </p:tgtEl>
                                      </p:cBhvr>
                                    </p:animEffect>
                                    <p:set>
                                      <p:cBhvr>
                                        <p:cTn id="37" dur="1" fill="hold">
                                          <p:stCondLst>
                                            <p:cond delay="499"/>
                                          </p:stCondLst>
                                        </p:cTn>
                                        <p:tgtEl>
                                          <p:spTgt spid="3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 grpId="0" bldLvl="0" animBg="1"/>
      <p:bldP spid="347" grpId="0" bldLvl="0" animBg="1"/>
      <p:bldP spid="345" grpId="0" bldLvl="0" animBg="1"/>
      <p:bldP spid="348" grpId="0" animBg="1"/>
      <p:bldP spid="348" grpId="1" animBg="1"/>
      <p:bldP spid="349" grpId="0" animBg="1"/>
      <p:bldP spid="349" grpId="1" animBg="1"/>
      <p:bldP spid="350" grpId="0" animBg="1"/>
      <p:bldP spid="350"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rgbClr val="B9B8F1">
                <a:alpha val="30000"/>
              </a:srgbClr>
            </a:gs>
            <a:gs pos="100000">
              <a:srgbClr val="B9B8F1">
                <a:alpha val="0"/>
              </a:srgbClr>
            </a:gs>
          </a:gsLst>
          <a:lin ang="2700000" scaled="0"/>
        </a:gradFill>
        <a:effectLst/>
      </p:bgPr>
    </p:bg>
    <p:spTree>
      <p:nvGrpSpPr>
        <p:cNvPr id="1" name=""/>
        <p:cNvGrpSpPr/>
        <p:nvPr/>
      </p:nvGrpSpPr>
      <p:grpSpPr>
        <a:xfrm>
          <a:off x="0" y="0"/>
          <a:ext cx="0" cy="0"/>
          <a:chOff x="0" y="0"/>
          <a:chExt cx="0" cy="0"/>
        </a:xfrm>
      </p:grpSpPr>
      <p:grpSp>
        <p:nvGrpSpPr>
          <p:cNvPr id="319" name="图形"/>
          <p:cNvGrpSpPr/>
          <p:nvPr/>
        </p:nvGrpSpPr>
        <p:grpSpPr>
          <a:xfrm>
            <a:off x="-477520" y="-918210"/>
            <a:ext cx="13608685" cy="8778875"/>
            <a:chOff x="-752" y="-1446"/>
            <a:chExt cx="21431" cy="13825"/>
          </a:xfrm>
        </p:grpSpPr>
        <p:sp>
          <p:nvSpPr>
            <p:cNvPr id="320" name="图形"/>
            <p:cNvSpPr/>
            <p:nvPr/>
          </p:nvSpPr>
          <p:spPr>
            <a:xfrm>
              <a:off x="6615" y="3293"/>
              <a:ext cx="14065" cy="9087"/>
            </a:xfrm>
            <a:custGeom>
              <a:avLst/>
              <a:gdLst>
                <a:gd name="connisteX0" fmla="*/ 9347106 w 9897757"/>
                <a:gd name="connsiteY0" fmla="*/ 834042 h 6394217"/>
                <a:gd name="connisteX1" fmla="*/ 7890416 w 9897757"/>
                <a:gd name="connsiteY1" fmla="*/ 218092 h 6394217"/>
                <a:gd name="connisteX2" fmla="*/ 6573426 w 9897757"/>
                <a:gd name="connsiteY2" fmla="*/ 2052607 h 6394217"/>
                <a:gd name="connisteX3" fmla="*/ 4206146 w 9897757"/>
                <a:gd name="connsiteY3" fmla="*/ 3159412 h 6394217"/>
                <a:gd name="connisteX4" fmla="*/ 970821 w 9897757"/>
                <a:gd name="connsiteY4" fmla="*/ 4391947 h 6394217"/>
                <a:gd name="connisteX5" fmla="*/ 284386 w 9897757"/>
                <a:gd name="connsiteY5" fmla="*/ 5848637 h 6394217"/>
                <a:gd name="connisteX6" fmla="*/ 4192176 w 9897757"/>
                <a:gd name="connsiteY6" fmla="*/ 6002942 h 6394217"/>
                <a:gd name="connisteX7" fmla="*/ 9375046 w 9897757"/>
                <a:gd name="connsiteY7" fmla="*/ 5905152 h 6394217"/>
                <a:gd name="connisteX8" fmla="*/ 9347106 w 9897757"/>
                <a:gd name="connsiteY8" fmla="*/ 834042 h 6394217"/>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l" t="t" r="r" b="b"/>
              <a:pathLst>
                <a:path w="9897758" h="6394217">
                  <a:moveTo>
                    <a:pt x="9347107" y="834043"/>
                  </a:moveTo>
                  <a:cubicBezTo>
                    <a:pt x="9049927" y="-303242"/>
                    <a:pt x="8445407" y="-25747"/>
                    <a:pt x="7890417" y="218093"/>
                  </a:cubicBezTo>
                  <a:cubicBezTo>
                    <a:pt x="7335427" y="461933"/>
                    <a:pt x="7310027" y="1464598"/>
                    <a:pt x="6573427" y="2052608"/>
                  </a:cubicBezTo>
                  <a:cubicBezTo>
                    <a:pt x="5836827" y="2640618"/>
                    <a:pt x="5326922" y="2691418"/>
                    <a:pt x="4206147" y="3159413"/>
                  </a:cubicBezTo>
                  <a:cubicBezTo>
                    <a:pt x="3085372" y="3627408"/>
                    <a:pt x="1755047" y="3854103"/>
                    <a:pt x="970822" y="4391948"/>
                  </a:cubicBezTo>
                  <a:cubicBezTo>
                    <a:pt x="186597" y="4929793"/>
                    <a:pt x="-360138" y="5526693"/>
                    <a:pt x="284387" y="5848638"/>
                  </a:cubicBezTo>
                  <a:cubicBezTo>
                    <a:pt x="928912" y="6170583"/>
                    <a:pt x="2374172" y="5991513"/>
                    <a:pt x="4192177" y="6002943"/>
                  </a:cubicBezTo>
                  <a:cubicBezTo>
                    <a:pt x="6010182" y="6014373"/>
                    <a:pt x="8343807" y="6938933"/>
                    <a:pt x="9375047" y="5905153"/>
                  </a:cubicBezTo>
                  <a:cubicBezTo>
                    <a:pt x="10406287" y="4871373"/>
                    <a:pt x="9644287" y="1971328"/>
                    <a:pt x="9347107" y="834043"/>
                  </a:cubicBezTo>
                  <a:close/>
                </a:path>
              </a:pathLst>
            </a:custGeom>
            <a:gradFill>
              <a:gsLst>
                <a:gs pos="0">
                  <a:srgbClr val="B9B8F1">
                    <a:alpha val="30000"/>
                  </a:srgbClr>
                </a:gs>
                <a:gs pos="100000">
                  <a:srgbClr val="B9B8F1">
                    <a:alpha val="0"/>
                  </a:srgb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321" name="图形" descr="5b601be008d16"/>
            <p:cNvPicPr>
              <a:picLocks noChangeAspect="1"/>
            </p:cNvPicPr>
            <p:nvPr/>
          </p:nvPicPr>
          <p:blipFill>
            <a:blip r:embed="rId3"/>
            <a:stretch>
              <a:fillRect/>
            </a:stretch>
          </p:blipFill>
          <p:spPr>
            <a:xfrm>
              <a:off x="10060" y="5500"/>
              <a:ext cx="8588" cy="5013"/>
            </a:xfrm>
            <a:prstGeom prst="rect">
              <a:avLst/>
            </a:prstGeom>
          </p:spPr>
        </p:pic>
        <p:sp>
          <p:nvSpPr>
            <p:cNvPr id="322" name="图形"/>
            <p:cNvSpPr/>
            <p:nvPr/>
          </p:nvSpPr>
          <p:spPr>
            <a:xfrm rot="13020000" flipH="1" flipV="1">
              <a:off x="-752" y="-1446"/>
              <a:ext cx="2352" cy="3855"/>
            </a:xfrm>
            <a:custGeom>
              <a:avLst/>
              <a:gdLst>
                <a:gd name="connsiteX0" fmla="*/ 0 w 2675"/>
                <a:gd name="connsiteY0" fmla="*/ 2084 h 4234"/>
                <a:gd name="connsiteX1" fmla="*/ 2162 w 2675"/>
                <a:gd name="connsiteY1" fmla="*/ 100 h 4234"/>
                <a:gd name="connsiteX2" fmla="*/ 2130 w 2675"/>
                <a:gd name="connsiteY2" fmla="*/ 2179 h 4234"/>
                <a:gd name="connsiteX3" fmla="*/ 2162 w 2675"/>
                <a:gd name="connsiteY3" fmla="*/ 4066 h 4234"/>
                <a:gd name="connsiteX4" fmla="*/ 0 w 2675"/>
                <a:gd name="connsiteY4" fmla="*/ 2084 h 4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 h="4234">
                  <a:moveTo>
                    <a:pt x="0" y="2084"/>
                  </a:moveTo>
                  <a:cubicBezTo>
                    <a:pt x="0" y="988"/>
                    <a:pt x="1069" y="-383"/>
                    <a:pt x="2162" y="100"/>
                  </a:cubicBezTo>
                  <a:cubicBezTo>
                    <a:pt x="3172" y="547"/>
                    <a:pt x="2434" y="1279"/>
                    <a:pt x="2130" y="2179"/>
                  </a:cubicBezTo>
                  <a:cubicBezTo>
                    <a:pt x="1962" y="2677"/>
                    <a:pt x="3208" y="3326"/>
                    <a:pt x="2162" y="4066"/>
                  </a:cubicBezTo>
                  <a:cubicBezTo>
                    <a:pt x="1187" y="4755"/>
                    <a:pt x="0" y="3178"/>
                    <a:pt x="0" y="2084"/>
                  </a:cubicBezTo>
                  <a:close/>
                </a:path>
              </a:pathLst>
            </a:custGeom>
            <a:solidFill>
              <a:srgbClr val="566C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grpSp>
      <p:sp>
        <p:nvSpPr>
          <p:cNvPr id="339" name="文本框 18"/>
          <p:cNvSpPr txBox="1"/>
          <p:nvPr/>
        </p:nvSpPr>
        <p:spPr>
          <a:xfrm>
            <a:off x="675193" y="3937847"/>
            <a:ext cx="5321300" cy="1291590"/>
          </a:xfrm>
          <a:prstGeom prst="rect">
            <a:avLst/>
          </a:prstGeom>
          <a:noFill/>
        </p:spPr>
        <p:txBody>
          <a:bodyPr wrap="square" rtlCol="0">
            <a:spAutoFit/>
          </a:bodyPr>
          <a:lstStyle/>
          <a:p>
            <a:r>
              <a:rPr lang="zh-CN" sz="2600">
                <a:latin typeface="宋体" panose="02010600030101010101" pitchFamily="2" charset="-122"/>
                <a:ea typeface="宋体" panose="02010600030101010101" pitchFamily="2" charset="-122"/>
                <a:cs typeface="+mn-cs"/>
              </a:rPr>
              <a:t>小组成员：</a:t>
            </a:r>
            <a:r>
              <a:rPr lang="zh-CN" sz="2600">
                <a:latin typeface="宋体" panose="02010600030101010101" pitchFamily="2" charset="-122"/>
                <a:ea typeface="宋体" panose="02010600030101010101" pitchFamily="2" charset="-122"/>
                <a:sym typeface="+mn-ea"/>
              </a:rPr>
              <a:t>金俊贤、辛文康、张逸天、冯乐珩、苗涵、许方璐</a:t>
            </a:r>
            <a:endParaRPr lang="en-US" sz="2600">
              <a:latin typeface="宋体" panose="02010600030101010101" pitchFamily="2" charset="-122"/>
              <a:ea typeface="宋体" panose="02010600030101010101" pitchFamily="2" charset="-122"/>
              <a:cs typeface="+mn-cs"/>
            </a:endParaRPr>
          </a:p>
          <a:p>
            <a:r>
              <a:rPr lang="zh-CN" sz="2600">
                <a:latin typeface="宋体" panose="02010600030101010101" pitchFamily="2" charset="-122"/>
                <a:ea typeface="宋体" panose="02010600030101010101" pitchFamily="2" charset="-122"/>
                <a:cs typeface="+mn-cs"/>
              </a:rPr>
              <a:t>指导老师：杨强</a:t>
            </a:r>
            <a:r>
              <a:rPr lang="en-US" sz="2400"/>
              <a:t> </a:t>
            </a:r>
          </a:p>
        </p:txBody>
      </p:sp>
      <p:sp>
        <p:nvSpPr>
          <p:cNvPr id="6" name="图形"/>
          <p:cNvSpPr/>
          <p:nvPr/>
        </p:nvSpPr>
        <p:spPr>
          <a:xfrm>
            <a:off x="606426" y="1689735"/>
            <a:ext cx="1516380" cy="1516380"/>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r>
              <a:rPr lang="zh-CN" altLang="en-US" sz="8800" b="1" dirty="0">
                <a:latin typeface="Arial" panose="020B0604020202020204"/>
                <a:ea typeface="微软雅黑" panose="020B0503020204020204" pitchFamily="34" charset="-122"/>
                <a:cs typeface="思源黑体 Normal" panose="020B0400000000000000" charset="-122"/>
                <a:sym typeface="Arial" panose="020B0604020202020204"/>
              </a:rPr>
              <a:t>感</a:t>
            </a:r>
          </a:p>
        </p:txBody>
      </p:sp>
      <p:sp>
        <p:nvSpPr>
          <p:cNvPr id="2" name="图形"/>
          <p:cNvSpPr/>
          <p:nvPr/>
        </p:nvSpPr>
        <p:spPr>
          <a:xfrm>
            <a:off x="2235835" y="1689735"/>
            <a:ext cx="1516380" cy="1516380"/>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r>
              <a:rPr lang="zh-CN" altLang="en-US" sz="8800" b="1">
                <a:latin typeface="Arial" panose="020B0604020202020204"/>
                <a:ea typeface="微软雅黑" panose="020B0503020204020204" pitchFamily="34" charset="-122"/>
                <a:cs typeface="思源黑体 Normal" panose="020B0400000000000000" charset="-122"/>
                <a:sym typeface="Arial" panose="020B0604020202020204"/>
              </a:rPr>
              <a:t>谢</a:t>
            </a:r>
          </a:p>
        </p:txBody>
      </p:sp>
      <p:sp>
        <p:nvSpPr>
          <p:cNvPr id="4" name="图形"/>
          <p:cNvSpPr/>
          <p:nvPr/>
        </p:nvSpPr>
        <p:spPr>
          <a:xfrm>
            <a:off x="3865245" y="1689735"/>
            <a:ext cx="1516380" cy="1516380"/>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r>
              <a:rPr lang="zh-CN" altLang="en-US" sz="8800" b="1">
                <a:latin typeface="Arial" panose="020B0604020202020204"/>
                <a:ea typeface="微软雅黑" panose="020B0503020204020204" pitchFamily="34" charset="-122"/>
                <a:cs typeface="思源黑体 Normal" panose="020B0400000000000000" charset="-122"/>
                <a:sym typeface="Arial" panose="020B0604020202020204"/>
              </a:rPr>
              <a:t>观</a:t>
            </a:r>
          </a:p>
        </p:txBody>
      </p:sp>
      <p:sp>
        <p:nvSpPr>
          <p:cNvPr id="3" name="图形"/>
          <p:cNvSpPr/>
          <p:nvPr/>
        </p:nvSpPr>
        <p:spPr>
          <a:xfrm>
            <a:off x="5494655" y="1732915"/>
            <a:ext cx="1516380" cy="1516380"/>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r>
              <a:rPr lang="zh-CN" altLang="en-US" sz="8800" b="1">
                <a:latin typeface="Arial" panose="020B0604020202020204"/>
                <a:ea typeface="微软雅黑" panose="020B0503020204020204" pitchFamily="34" charset="-122"/>
                <a:cs typeface="思源黑体 Normal" panose="020B0400000000000000" charset="-122"/>
                <a:sym typeface="Arial" panose="020B0604020202020204"/>
              </a:rPr>
              <a:t>看</a:t>
            </a:r>
          </a:p>
        </p:txBody>
      </p:sp>
      <p:sp>
        <p:nvSpPr>
          <p:cNvPr id="5" name="图形"/>
          <p:cNvSpPr/>
          <p:nvPr/>
        </p:nvSpPr>
        <p:spPr>
          <a:xfrm>
            <a:off x="7124065" y="1732915"/>
            <a:ext cx="1516380" cy="1516380"/>
          </a:xfrm>
          <a:prstGeom prst="ellipse">
            <a:avLst/>
          </a:prstGeom>
          <a:solidFill>
            <a:srgbClr val="F7B75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00000"/>
              </a:lnSpc>
            </a:pPr>
            <a:r>
              <a:rPr lang="en-US" altLang="zh-CN" sz="8800" b="1">
                <a:latin typeface="Arial" panose="020B0604020202020204"/>
                <a:ea typeface="微软雅黑" panose="020B0503020204020204" pitchFamily="34" charset="-122"/>
                <a:cs typeface="思源黑体 Normal" panose="020B0400000000000000" charset="-122"/>
                <a:sym typeface="Arial" panose="020B0604020202020204"/>
              </a:rPr>
              <a:t>  </a:t>
            </a:r>
            <a:r>
              <a:rPr lang="zh-CN" altLang="en-US" sz="8800" b="1">
                <a:latin typeface="Arial" panose="020B0604020202020204"/>
                <a:ea typeface="微软雅黑" panose="020B0503020204020204" pitchFamily="34" charset="-122"/>
                <a:cs typeface="思源黑体 Normal" panose="020B0400000000000000" charset="-122"/>
                <a:sym typeface="Arial" panose="020B0604020202020204"/>
              </a:rPr>
              <a:t>！</a:t>
            </a:r>
          </a:p>
        </p:txBody>
      </p:sp>
      <p:grpSp>
        <p:nvGrpSpPr>
          <p:cNvPr id="7" name="图形"/>
          <p:cNvGrpSpPr/>
          <p:nvPr/>
        </p:nvGrpSpPr>
        <p:grpSpPr>
          <a:xfrm>
            <a:off x="606426" y="6099810"/>
            <a:ext cx="1716405" cy="396240"/>
            <a:chOff x="955" y="9606"/>
            <a:chExt cx="2703" cy="624"/>
          </a:xfrm>
        </p:grpSpPr>
        <p:grpSp>
          <p:nvGrpSpPr>
            <p:cNvPr id="8" name="组合 10"/>
            <p:cNvGrpSpPr/>
            <p:nvPr/>
          </p:nvGrpSpPr>
          <p:grpSpPr>
            <a:xfrm>
              <a:off x="955" y="9607"/>
              <a:ext cx="623" cy="623"/>
              <a:chOff x="911" y="9739"/>
              <a:chExt cx="512" cy="512"/>
            </a:xfrm>
          </p:grpSpPr>
          <p:sp>
            <p:nvSpPr>
              <p:cNvPr id="15" name="图形"/>
              <p:cNvSpPr/>
              <p:nvPr/>
            </p:nvSpPr>
            <p:spPr>
              <a:xfrm>
                <a:off x="911" y="9739"/>
                <a:ext cx="513" cy="513"/>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16" name="图形" descr="3b333634333230383bb5e7c4d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0" y="9828"/>
                <a:ext cx="335" cy="335"/>
              </a:xfrm>
              <a:prstGeom prst="rect">
                <a:avLst/>
              </a:prstGeom>
            </p:spPr>
          </p:pic>
        </p:grpSp>
        <p:grpSp>
          <p:nvGrpSpPr>
            <p:cNvPr id="9" name="组合 15"/>
            <p:cNvGrpSpPr/>
            <p:nvPr/>
          </p:nvGrpSpPr>
          <p:grpSpPr>
            <a:xfrm>
              <a:off x="1994" y="9606"/>
              <a:ext cx="624" cy="624"/>
              <a:chOff x="1994" y="9606"/>
              <a:chExt cx="624" cy="624"/>
            </a:xfrm>
          </p:grpSpPr>
          <p:sp>
            <p:nvSpPr>
              <p:cNvPr id="13" name="图形"/>
              <p:cNvSpPr/>
              <p:nvPr/>
            </p:nvSpPr>
            <p:spPr>
              <a:xfrm>
                <a:off x="1994" y="9606"/>
                <a:ext cx="624" cy="624"/>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14" name="图形" descr="3b343132373739303bcbd1cbf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51" y="9763"/>
                <a:ext cx="311" cy="311"/>
              </a:xfrm>
              <a:prstGeom prst="rect">
                <a:avLst/>
              </a:prstGeom>
            </p:spPr>
          </p:pic>
        </p:grpSp>
        <p:grpSp>
          <p:nvGrpSpPr>
            <p:cNvPr id="10" name="组合 20"/>
            <p:cNvGrpSpPr/>
            <p:nvPr/>
          </p:nvGrpSpPr>
          <p:grpSpPr>
            <a:xfrm>
              <a:off x="3034" y="9606"/>
              <a:ext cx="624" cy="624"/>
              <a:chOff x="3034" y="9606"/>
              <a:chExt cx="624" cy="624"/>
            </a:xfrm>
          </p:grpSpPr>
          <p:sp>
            <p:nvSpPr>
              <p:cNvPr id="11" name="图形"/>
              <p:cNvSpPr/>
              <p:nvPr/>
            </p:nvSpPr>
            <p:spPr>
              <a:xfrm>
                <a:off x="3034" y="9606"/>
                <a:ext cx="624" cy="624"/>
              </a:xfrm>
              <a:prstGeom prst="ellipse">
                <a:avLst/>
              </a:prstGeom>
              <a:solidFill>
                <a:srgbClr val="566CD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a:ea typeface="微软雅黑" panose="020B0503020204020204" pitchFamily="34" charset="-122"/>
                  <a:cs typeface="思源黑体 Normal" panose="020B0400000000000000" charset="-122"/>
                  <a:sym typeface="Arial" panose="020B0604020202020204"/>
                </a:endParaRPr>
              </a:p>
            </p:txBody>
          </p:sp>
          <p:pic>
            <p:nvPicPr>
              <p:cNvPr id="12" name="图形" descr="3b333635363535343bcdf8c2e7"/>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77" y="9749"/>
                <a:ext cx="338" cy="338"/>
              </a:xfrm>
              <a:prstGeom prst="rect">
                <a:avLst/>
              </a:prstGeom>
            </p:spPr>
          </p:pic>
        </p:grpSp>
      </p:grpSp>
      <p:grpSp>
        <p:nvGrpSpPr>
          <p:cNvPr id="29" name="组合 28"/>
          <p:cNvGrpSpPr/>
          <p:nvPr/>
        </p:nvGrpSpPr>
        <p:grpSpPr>
          <a:xfrm>
            <a:off x="9503410" y="508000"/>
            <a:ext cx="2338705" cy="1039495"/>
            <a:chOff x="14966" y="800"/>
            <a:chExt cx="3683" cy="1637"/>
          </a:xfrm>
        </p:grpSpPr>
        <p:pic>
          <p:nvPicPr>
            <p:cNvPr id="30" name="图片 29"/>
            <p:cNvPicPr>
              <a:picLocks noChangeAspect="1"/>
            </p:cNvPicPr>
            <p:nvPr/>
          </p:nvPicPr>
          <p:blipFill>
            <a:blip r:embed="rId10"/>
            <a:stretch>
              <a:fillRect/>
            </a:stretch>
          </p:blipFill>
          <p:spPr>
            <a:xfrm>
              <a:off x="14966" y="800"/>
              <a:ext cx="1381" cy="1381"/>
            </a:xfrm>
            <a:prstGeom prst="rect">
              <a:avLst/>
            </a:prstGeom>
          </p:spPr>
        </p:pic>
        <p:sp>
          <p:nvSpPr>
            <p:cNvPr id="31" name="文本框 30"/>
            <p:cNvSpPr txBox="1"/>
            <p:nvPr/>
          </p:nvSpPr>
          <p:spPr>
            <a:xfrm>
              <a:off x="16347" y="953"/>
              <a:ext cx="2302" cy="1484"/>
            </a:xfrm>
            <a:prstGeom prst="rect">
              <a:avLst/>
            </a:prstGeom>
            <a:noFill/>
          </p:spPr>
          <p:txBody>
            <a:bodyPr wrap="square" rtlCol="0">
              <a:noAutofit/>
            </a:bodyPr>
            <a:lstStyle/>
            <a:p>
              <a:r>
                <a:rPr lang="zh-CN" altLang="en-US" sz="4000" b="1">
                  <a:gradFill>
                    <a:gsLst>
                      <a:gs pos="50000">
                        <a:srgbClr val="3474CB"/>
                      </a:gs>
                      <a:gs pos="0">
                        <a:srgbClr val="03BEC1"/>
                      </a:gs>
                      <a:gs pos="100000">
                        <a:srgbClr val="8E52DF"/>
                      </a:gs>
                    </a:gsLst>
                    <a:lin ang="5400000" scaled="1"/>
                  </a:gradFill>
                  <a:effectLst>
                    <a:outerShdw blurRad="38100" dist="25400" dir="5400000" algn="ctr" rotWithShape="0">
                      <a:srgbClr val="6E747A">
                        <a:alpha val="43000"/>
                      </a:srgbClr>
                    </a:outerShdw>
                  </a:effectLst>
                </a:rPr>
                <a:t>文枢</a:t>
              </a:r>
            </a:p>
          </p:txBody>
        </p:sp>
      </p:grpSp>
    </p:spTree>
  </p:cSld>
  <p:clrMapOvr>
    <a:masterClrMapping/>
  </p:clrMapOvr>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9"/>
                                        </p:tgtEl>
                                        <p:attrNameLst>
                                          <p:attrName>style.visibility</p:attrName>
                                        </p:attrNameLst>
                                      </p:cBhvr>
                                      <p:to>
                                        <p:strVal val="visible"/>
                                      </p:to>
                                    </p:set>
                                    <p:animEffect transition="in" filter="fade">
                                      <p:cBhvr>
                                        <p:cTn id="7" dur="500"/>
                                        <p:tgtEl>
                                          <p:spTgt spid="319"/>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par>
                                <p:cTn id="14" presetID="47"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par>
                          <p:cTn id="34" fill="hold">
                            <p:stCondLst>
                              <p:cond delay="1500"/>
                            </p:stCondLst>
                            <p:childTnLst>
                              <p:par>
                                <p:cTn id="35" presetID="47" presetClass="entr" presetSubtype="0" fill="hold" grpId="0" nodeType="afterEffect">
                                  <p:stCondLst>
                                    <p:cond delay="0"/>
                                  </p:stCondLst>
                                  <p:childTnLst>
                                    <p:set>
                                      <p:cBhvr>
                                        <p:cTn id="36" dur="1" fill="hold">
                                          <p:stCondLst>
                                            <p:cond delay="0"/>
                                          </p:stCondLst>
                                        </p:cTn>
                                        <p:tgtEl>
                                          <p:spTgt spid="339"/>
                                        </p:tgtEl>
                                        <p:attrNameLst>
                                          <p:attrName>style.visibility</p:attrName>
                                        </p:attrNameLst>
                                      </p:cBhvr>
                                      <p:to>
                                        <p:strVal val="visible"/>
                                      </p:to>
                                    </p:set>
                                    <p:animEffect transition="in" filter="fade">
                                      <p:cBhvr>
                                        <p:cTn id="37" dur="1000"/>
                                        <p:tgtEl>
                                          <p:spTgt spid="339"/>
                                        </p:tgtEl>
                                      </p:cBhvr>
                                    </p:animEffect>
                                    <p:anim calcmode="lin" valueType="num">
                                      <p:cBhvr>
                                        <p:cTn id="38" dur="1000" fill="hold"/>
                                        <p:tgtEl>
                                          <p:spTgt spid="339"/>
                                        </p:tgtEl>
                                        <p:attrNameLst>
                                          <p:attrName>ppt_x</p:attrName>
                                        </p:attrNameLst>
                                      </p:cBhvr>
                                      <p:tavLst>
                                        <p:tav tm="0">
                                          <p:val>
                                            <p:strVal val="#ppt_x"/>
                                          </p:val>
                                        </p:tav>
                                        <p:tav tm="100000">
                                          <p:val>
                                            <p:strVal val="#ppt_x"/>
                                          </p:val>
                                        </p:tav>
                                      </p:tavLst>
                                    </p:anim>
                                    <p:anim calcmode="lin" valueType="num">
                                      <p:cBhvr>
                                        <p:cTn id="39" dur="1000" fill="hold"/>
                                        <p:tgtEl>
                                          <p:spTgt spid="339"/>
                                        </p:tgtEl>
                                        <p:attrNameLst>
                                          <p:attrName>ppt_y</p:attrName>
                                        </p:attrNameLst>
                                      </p:cBhvr>
                                      <p:tavLst>
                                        <p:tav tm="0">
                                          <p:val>
                                            <p:strVal val="#ppt_y-.1"/>
                                          </p:val>
                                        </p:tav>
                                        <p:tav tm="100000">
                                          <p:val>
                                            <p:strVal val="#ppt_y"/>
                                          </p:val>
                                        </p:tav>
                                      </p:tavLst>
                                    </p:anim>
                                  </p:childTnLst>
                                </p:cTn>
                              </p:par>
                              <p:par>
                                <p:cTn id="40" presetID="10" presetClass="entr" presetSubtype="0"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bldLst>
      <p:bldP spid="339" grpId="0"/>
      <p:bldP spid="6" grpId="0" animBg="1"/>
      <p:bldP spid="2" grpId="0" animBg="1"/>
      <p:bldP spid="4" grpId="0" animBg="1"/>
      <p:bldP spid="3" grpId="0" animBg="1"/>
      <p:bldP spid="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GI4NjI5OTBmMDM1ODFlMDkzNDFlZTFiMWNhZWU5ZTMifQ=="/>
  <p:tag name="RESOURCE_RECORD_KEY" val="{&quot;13&quot;:[4364903,436491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72.9734645669291,&quot;left&quot;:194.55,&quot;top&quot;:37.03826771653543,&quot;width&quot;:823.8153442382812}"/>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77.7,&quot;left&quot;:59.5,&quot;top&quot;:372.35,&quot;width&quot;:843.7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177.7,&quot;left&quot;:59.5,&quot;top&quot;:372.35,&quot;width&quot;:843.7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177.7,&quot;left&quot;:59.5,&quot;top&quot;:372.35,&quot;width&quot;:843.7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177.7,&quot;left&quot;:59.5,&quot;top&quot;:372.35,&quot;width&quot;:843.7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177.7,&quot;left&quot;:59.5,&quot;top&quot;:372.35,&quot;width&quot;:843.7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177.7,&quot;left&quot;:59.5,&quot;top&quot;:372.35,&quot;width&quot;:843.7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177.7,&quot;left&quot;:59.5,&quot;top&quot;:372.35,&quot;width&quot;:843.7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34.9,&quot;left&quot;:65.95,&quot;top&quot;:128.9,&quot;width&quot;:825.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34.9,&quot;left&quot;:65.95,&quot;top&quot;:128.9,&quot;width&quot;:825.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34.9,&quot;left&quot;:65.95,&quot;top&quot;:128.9,&quot;width&quot;:825.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34.9,&quot;left&quot;:65.95,&quot;top&quot;:128.9,&quot;width&quot;:825.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34.9,&quot;left&quot;:65.95,&quot;top&quot;:128.9,&quot;width&quot;:825.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34.9,&quot;left&quot;:65.95,&quot;top&quot;:128.9,&quot;width&quot;:825.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34.9,&quot;left&quot;:65.95,&quot;top&quot;:128.9,&quot;width&quot;:825.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77.6,&quot;left&quot;:65.95007874015747,&quot;top&quot;:128.9,&quot;width&quot;:825.4999212598425}"/>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50.7625748502993,&quot;left&quot;:443.95,&quot;top&quot;:211.65,&quot;width&quot;:489.77222725215034}"/>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59.1504595146327,&quot;left&quot;:443.8696062992126,&quot;top&quot;:110.08102362204724,&quot;width&quot;:498.4770019908811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59.1504595146327,&quot;left&quot;:443.8696062992126,&quot;top&quot;:110.08102362204724,&quot;width&quot;:498.4770019908811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59.1504595146327,&quot;left&quot;:443.8696062992126,&quot;top&quot;:110.08102362204724,&quot;width&quot;:498.4770019908811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59.1504595146327,&quot;left&quot;:443.8696062992126,&quot;top&quot;:110.08102362204724,&quot;width&quot;:498.4770019908811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59.1504595146327,&quot;left&quot;:443.8696062992126,&quot;top&quot;:110.08102362204724,&quot;width&quot;:498.4770019908811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39.4,&quot;left&quot;:81.35,&quot;top&quot;:126.95,&quot;width&quot;:794.050157480315}"/>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405.8,&quot;left&quot;:82.45,&quot;top&quot;:126.95,&quot;width&quot;:793.25}"/>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54.95,&quot;left&quot;:298.62496062992125,&quot;top&quot;:120.6,&quot;width&quot;:646.9250393700788}"/>
</p:tagLst>
</file>

<file path=ppt/theme/theme1.xml><?xml version="1.0" encoding="utf-8"?>
<a:theme xmlns:a="http://schemas.openxmlformats.org/drawingml/2006/main" name="第一PPT，www.1ppt.com">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思源黑体 Normal"/>
        <a:ea typeface="思源黑体 Normal"/>
        <a:cs typeface=""/>
      </a:majorFont>
      <a:minorFont>
        <a:latin typeface="思源黑体 Normal"/>
        <a:ea typeface="思源黑体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Normal"/>
        <a:ea typeface=""/>
        <a:cs typeface=""/>
        <a:font script="Jpan" typeface="ＭＳ Ｐゴシック"/>
        <a:font script="Hang" typeface="맑은 고딕"/>
        <a:font script="Hans" typeface="思源黑体 Normal"/>
        <a:font script="Hant" typeface="新細明體"/>
        <a:font script="Arab" typeface="思源黑体 Normal"/>
        <a:font script="Hebr" typeface="思源黑体 Norm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Norm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2867</Words>
  <Application>Microsoft Office PowerPoint</Application>
  <PresentationFormat>宽屏</PresentationFormat>
  <Paragraphs>290</Paragraphs>
  <Slides>33</Slides>
  <Notes>33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33</vt:i4>
      </vt:variant>
    </vt:vector>
  </HeadingPairs>
  <TitlesOfParts>
    <vt:vector size="41" baseType="lpstr">
      <vt:lpstr>-apple-system</vt:lpstr>
      <vt:lpstr>思源黑体 Normal</vt:lpstr>
      <vt:lpstr>宋体</vt:lpstr>
      <vt:lpstr>微软雅黑</vt:lpstr>
      <vt:lpstr>Arial</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俊贤 金</cp:lastModifiedBy>
  <cp:revision>77</cp:revision>
  <dcterms:created xsi:type="dcterms:W3CDTF">2024-09-12T07:16:00Z</dcterms:created>
  <dcterms:modified xsi:type="dcterms:W3CDTF">2025-09-18T08:23:58Z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308C5BEBAA3D44359CA9F7C5CE8F1312_13</vt:lpwstr>
  </property>
  <property fmtid="{D5CDD505-2E9C-101B-9397-08002B2CF9AE}" pid="3" name="KSOProductBuildVer">
    <vt:lpwstr>2052-12.1.0.21915</vt:lpwstr>
  </property>
</Properties>
</file>